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6" r:id="rId1"/>
  </p:sldMasterIdLst>
  <p:notesMasterIdLst>
    <p:notesMasterId r:id="rId19"/>
  </p:notesMasterIdLst>
  <p:sldIdLst>
    <p:sldId id="256" r:id="rId2"/>
    <p:sldId id="260" r:id="rId3"/>
    <p:sldId id="261" r:id="rId4"/>
    <p:sldId id="262" r:id="rId5"/>
    <p:sldId id="263" r:id="rId6"/>
    <p:sldId id="267" r:id="rId7"/>
    <p:sldId id="264" r:id="rId8"/>
    <p:sldId id="268" r:id="rId9"/>
    <p:sldId id="269" r:id="rId10"/>
    <p:sldId id="275" r:id="rId11"/>
    <p:sldId id="272" r:id="rId12"/>
    <p:sldId id="273" r:id="rId13"/>
    <p:sldId id="274" r:id="rId14"/>
    <p:sldId id="276" r:id="rId15"/>
    <p:sldId id="277" r:id="rId16"/>
    <p:sldId id="278" r:id="rId17"/>
    <p:sldId id="27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74FDA0-7392-4740-A9BC-64AF765D3E6D}" v="5" dt="2025-12-06T19:26:22.6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6"/>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90B9F7-ACC2-1540-8862-C80F4368786D}" type="datetimeFigureOut">
              <a:rPr lang="en-US" smtClean="0"/>
              <a:t>6/5/26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B3773-8769-024A-962D-217A70B6D2FC}" type="slidenum">
              <a:rPr lang="en-US" smtClean="0"/>
              <a:t>‹#›</a:t>
            </a:fld>
            <a:endParaRPr lang="en-US"/>
          </a:p>
        </p:txBody>
      </p:sp>
    </p:spTree>
    <p:extLst>
      <p:ext uri="{BB962C8B-B14F-4D97-AF65-F5344CB8AC3E}">
        <p14:creationId xmlns:p14="http://schemas.microsoft.com/office/powerpoint/2010/main" val="3117692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www.omniconvert.com/blog/rfm-model/" TargetMode="External"/><Relationship Id="rId3" Type="http://schemas.openxmlformats.org/officeDocument/2006/relationships/hyperlink" Target="https://www.sobot.io/article/average-churn-rate-for-ecommerce-stores-trends-2024-2025/" TargetMode="External"/><Relationship Id="rId7" Type="http://schemas.openxmlformats.org/officeDocument/2006/relationships/hyperlink" Target="https://blog.hubspot.com/service/rfm-analysis"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trypropel.ai/resources/rfm-analysis-customer-segmentation-strategies" TargetMode="External"/><Relationship Id="rId5" Type="http://schemas.openxmlformats.org/officeDocument/2006/relationships/hyperlink" Target="https://www.envive.ai/post/customer-retention-in-ecommerce-statistics" TargetMode="External"/><Relationship Id="rId4" Type="http://schemas.openxmlformats.org/officeDocument/2006/relationships/hyperlink" Target="https://www.yotpo.com/blog/cost-of-customer-acquisition-vs-retention/" TargetMode="External"/><Relationship Id="rId9" Type="http://schemas.openxmlformats.org/officeDocument/2006/relationships/hyperlink" Target="https://www.owox.com/blog/use-cases/rfm-analysis"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usq.pressbooks.pub/statisticsforresearchstudents/chapter/paired-t-test-assumption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2</a:t>
            </a:fld>
            <a:endParaRPr lang="en-US"/>
          </a:p>
        </p:txBody>
      </p:sp>
    </p:spTree>
    <p:extLst>
      <p:ext uri="{BB962C8B-B14F-4D97-AF65-F5344CB8AC3E}">
        <p14:creationId xmlns:p14="http://schemas.microsoft.com/office/powerpoint/2010/main" val="1468144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REFERENCES:</a:t>
            </a:r>
          </a:p>
          <a:p>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Sobot</a:t>
            </a:r>
            <a:r>
              <a:rPr lang="en-US" sz="1200" b="0" i="0" u="none" strike="noStrike" kern="1200">
                <a:solidFill>
                  <a:schemeClr val="tx1"/>
                </a:solidFill>
                <a:effectLst/>
                <a:latin typeface="+mn-lt"/>
                <a:ea typeface="+mn-ea"/>
                <a:cs typeface="+mn-cs"/>
              </a:rPr>
              <a:t> (2025). "Understanding the Average Churn Rate for Ecommerce Stores - Trends 2024-2025." </a:t>
            </a:r>
            <a:r>
              <a:rPr lang="en-US" sz="1200" b="0" i="0" u="none" strike="noStrike" kern="1200">
                <a:solidFill>
                  <a:schemeClr val="tx1"/>
                </a:solidFill>
                <a:effectLst/>
                <a:latin typeface="+mn-lt"/>
                <a:ea typeface="+mn-ea"/>
                <a:cs typeface="+mn-cs"/>
                <a:hlinkClick r:id="rId3"/>
              </a:rPr>
              <a:t>https://www.sobot.io/article/average-churn-rate-for-ecommerce-stores-trends-2024-2025/</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Yotpo</a:t>
            </a:r>
            <a:r>
              <a:rPr lang="en-US" sz="1200" b="0" i="0" u="none" strike="noStrike" kern="1200">
                <a:solidFill>
                  <a:schemeClr val="tx1"/>
                </a:solidFill>
                <a:effectLst/>
                <a:latin typeface="+mn-lt"/>
                <a:ea typeface="+mn-ea"/>
                <a:cs typeface="+mn-cs"/>
              </a:rPr>
              <a:t> (2025). "Customer Acquisition Vs. Retention: Which Drives Profit?" </a:t>
            </a:r>
            <a:r>
              <a:rPr lang="en-US" sz="1200" b="0" i="0" u="none" strike="noStrike" kern="1200">
                <a:solidFill>
                  <a:schemeClr val="tx1"/>
                </a:solidFill>
                <a:effectLst/>
                <a:latin typeface="+mn-lt"/>
                <a:ea typeface="+mn-ea"/>
                <a:cs typeface="+mn-cs"/>
                <a:hlinkClick r:id="rId4"/>
              </a:rPr>
              <a:t>https://www.yotpo.com/blog/cost-of-customer-acquisition-vs-retention/</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Yotpo</a:t>
            </a:r>
            <a:r>
              <a:rPr lang="en-US" sz="1200" b="0" i="0" u="none" strike="noStrike" kern="1200">
                <a:solidFill>
                  <a:schemeClr val="tx1"/>
                </a:solidFill>
                <a:effectLst/>
                <a:latin typeface="+mn-lt"/>
                <a:ea typeface="+mn-ea"/>
                <a:cs typeface="+mn-cs"/>
              </a:rPr>
              <a:t> (2025). "Customer Acquisition Vs. Retention: Which Drives Profit?" - Bain &amp; Company Research Citation. </a:t>
            </a:r>
            <a:r>
              <a:rPr lang="en-US" sz="1200" b="0" i="0" u="none" strike="noStrike" kern="1200">
                <a:solidFill>
                  <a:schemeClr val="tx1"/>
                </a:solidFill>
                <a:effectLst/>
                <a:latin typeface="+mn-lt"/>
                <a:ea typeface="+mn-ea"/>
                <a:cs typeface="+mn-cs"/>
                <a:hlinkClick r:id="rId4"/>
              </a:rPr>
              <a:t>https://www.yotpo.com/blog/cost-of-customer-acquisition-vs-retention/</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Envive</a:t>
            </a:r>
            <a:r>
              <a:rPr lang="en-US" sz="1200" b="0" i="0" u="none" strike="noStrike" kern="1200">
                <a:solidFill>
                  <a:schemeClr val="tx1"/>
                </a:solidFill>
                <a:effectLst/>
                <a:latin typeface="+mn-lt"/>
                <a:ea typeface="+mn-ea"/>
                <a:cs typeface="+mn-cs"/>
              </a:rPr>
              <a:t> AI (2024). "36 Customer Retention Statistics in eCommerce in 2025." </a:t>
            </a:r>
            <a:r>
              <a:rPr lang="en-US" sz="1200" b="0" i="0" u="none" strike="noStrike" kern="1200">
                <a:solidFill>
                  <a:schemeClr val="tx1"/>
                </a:solidFill>
                <a:effectLst/>
                <a:latin typeface="+mn-lt"/>
                <a:ea typeface="+mn-ea"/>
                <a:cs typeface="+mn-cs"/>
                <a:hlinkClick r:id="rId5"/>
              </a:rPr>
              <a:t>https://www.envive.ai/post/customer-retention-in-ecommerce-statistics</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Yotpo</a:t>
            </a:r>
            <a:r>
              <a:rPr lang="en-US" sz="1200" b="0" i="0" u="none" strike="noStrike" kern="1200">
                <a:solidFill>
                  <a:schemeClr val="tx1"/>
                </a:solidFill>
                <a:effectLst/>
                <a:latin typeface="+mn-lt"/>
                <a:ea typeface="+mn-ea"/>
                <a:cs typeface="+mn-cs"/>
              </a:rPr>
              <a:t> (2025). "Customer Acquisition Vs. Retention: Which Drives Profit?" - Key Statistics Section. </a:t>
            </a:r>
            <a:r>
              <a:rPr lang="en-US" sz="1200" b="0" i="0" u="none" strike="noStrike" kern="1200">
                <a:solidFill>
                  <a:schemeClr val="tx1"/>
                </a:solidFill>
                <a:effectLst/>
                <a:latin typeface="+mn-lt"/>
                <a:ea typeface="+mn-ea"/>
                <a:cs typeface="+mn-cs"/>
                <a:hlinkClick r:id="rId4"/>
              </a:rPr>
              <a:t>https://www.yotpo.com/blog/cost-of-customer-acquisition-vs-retention/</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 Propel (2025). "RFM Analysis for Customer Segmentation and Enhanced Retention." </a:t>
            </a:r>
            <a:r>
              <a:rPr lang="en-US" sz="1200" b="0" i="0" u="none" strike="noStrike" kern="1200">
                <a:solidFill>
                  <a:schemeClr val="tx1"/>
                </a:solidFill>
                <a:effectLst/>
                <a:latin typeface="+mn-lt"/>
                <a:ea typeface="+mn-ea"/>
                <a:cs typeface="+mn-cs"/>
                <a:hlinkClick r:id="rId6"/>
              </a:rPr>
              <a:t>https://www.trypropel.ai/resources/rfm-analysis-customer-segmentation-strategies</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 HubSpot (2024). "RFM Analysis: A Data-Driven Approach to Customer Segmentation." </a:t>
            </a:r>
            <a:r>
              <a:rPr lang="en-US" sz="1200" b="0" i="0" u="none" strike="noStrike" kern="1200">
                <a:solidFill>
                  <a:schemeClr val="tx1"/>
                </a:solidFill>
                <a:effectLst/>
                <a:latin typeface="+mn-lt"/>
                <a:ea typeface="+mn-ea"/>
                <a:cs typeface="+mn-cs"/>
                <a:hlinkClick r:id="rId7"/>
              </a:rPr>
              <a:t>https://blog.hubspot.com/service/rfm-analysis</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Omniconvert</a:t>
            </a:r>
            <a:r>
              <a:rPr lang="en-US" sz="1200" b="0" i="0" u="none" strike="noStrike" kern="1200">
                <a:solidFill>
                  <a:schemeClr val="tx1"/>
                </a:solidFill>
                <a:effectLst/>
                <a:latin typeface="+mn-lt"/>
                <a:ea typeface="+mn-ea"/>
                <a:cs typeface="+mn-cs"/>
              </a:rPr>
              <a:t> (2024). "A Comprehensive Guide to the RFM Model." </a:t>
            </a:r>
            <a:r>
              <a:rPr lang="en-US" sz="1200" b="0" i="0" u="none" strike="noStrike" kern="1200">
                <a:solidFill>
                  <a:schemeClr val="tx1"/>
                </a:solidFill>
                <a:effectLst/>
                <a:latin typeface="+mn-lt"/>
                <a:ea typeface="+mn-ea"/>
                <a:cs typeface="+mn-cs"/>
                <a:hlinkClick r:id="rId8"/>
              </a:rPr>
              <a:t>https://www.omniconvert.com/blog/rfm-model/</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 OWOX (2024). "RFM Analysis: Learn about Customers and RFM Segmentation." </a:t>
            </a:r>
            <a:r>
              <a:rPr lang="en-US" sz="1200" b="0" i="0" u="none" strike="noStrike" kern="1200">
                <a:solidFill>
                  <a:schemeClr val="tx1"/>
                </a:solidFill>
                <a:effectLst/>
                <a:latin typeface="+mn-lt"/>
                <a:ea typeface="+mn-ea"/>
                <a:cs typeface="+mn-cs"/>
                <a:hlinkClick r:id="rId9"/>
              </a:rPr>
              <a:t>https://www.owox.com/blog/use-cases/rfm-analysis</a:t>
            </a:r>
            <a:r>
              <a:rPr lang="en-US" sz="1200" b="0" i="0" u="none" strike="noStrike" kern="1200">
                <a:solidFill>
                  <a:schemeClr val="tx1"/>
                </a:solidFill>
                <a:effectLst/>
                <a:latin typeface="+mn-lt"/>
                <a:ea typeface="+mn-ea"/>
                <a:cs typeface="+mn-cs"/>
              </a:rPr>
              <a:t>​</a:t>
            </a:r>
          </a:p>
          <a:p>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5</a:t>
            </a:fld>
            <a:endParaRPr lang="en-US"/>
          </a:p>
        </p:txBody>
      </p:sp>
    </p:spTree>
    <p:extLst>
      <p:ext uri="{BB962C8B-B14F-4D97-AF65-F5344CB8AC3E}">
        <p14:creationId xmlns:p14="http://schemas.microsoft.com/office/powerpoint/2010/main" val="929903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above figure shows the end-to-end methodology applied in this project. </a:t>
            </a:r>
          </a:p>
          <a:p>
            <a:pPr lvl="0"/>
            <a:r>
              <a:rPr lang="en-US" sz="1200" b="1" kern="1200">
                <a:solidFill>
                  <a:schemeClr val="tx1"/>
                </a:solidFill>
                <a:effectLst/>
                <a:latin typeface="+mn-lt"/>
                <a:ea typeface="+mn-ea"/>
                <a:cs typeface="+mn-cs"/>
              </a:rPr>
              <a:t>Data Ingestion:</a:t>
            </a:r>
            <a:r>
              <a:rPr lang="en-US" sz="1200" kern="1200">
                <a:solidFill>
                  <a:schemeClr val="tx1"/>
                </a:solidFill>
                <a:effectLst/>
                <a:latin typeface="+mn-lt"/>
                <a:ea typeface="+mn-ea"/>
                <a:cs typeface="+mn-cs"/>
              </a:rPr>
              <a:t> A UK retailer-based e-commerce dataset was chosen and ingested. The data was at the transaction, but every row was at an aggregated level, so the last transaction for every user was considered. </a:t>
            </a:r>
          </a:p>
          <a:p>
            <a:pPr lvl="0"/>
            <a:r>
              <a:rPr lang="en-US" sz="1200" b="1" kern="1200">
                <a:solidFill>
                  <a:schemeClr val="tx1"/>
                </a:solidFill>
                <a:effectLst/>
                <a:latin typeface="+mn-lt"/>
                <a:ea typeface="+mn-ea"/>
                <a:cs typeface="+mn-cs"/>
              </a:rPr>
              <a:t>Data Preprocessing:</a:t>
            </a:r>
            <a:r>
              <a:rPr lang="en-US" sz="1200" kern="1200">
                <a:solidFill>
                  <a:schemeClr val="tx1"/>
                </a:solidFill>
                <a:effectLst/>
                <a:latin typeface="+mn-lt"/>
                <a:ea typeface="+mn-ea"/>
                <a:cs typeface="+mn-cs"/>
              </a:rPr>
              <a:t> This step creates a consistent analytic base table ready for exploration and modeling. There were no missing data fields and outliers were detected and removed using KNN. </a:t>
            </a:r>
          </a:p>
          <a:p>
            <a:pPr lvl="0"/>
            <a:r>
              <a:rPr lang="en-US" sz="1200" b="1" kern="1200">
                <a:solidFill>
                  <a:schemeClr val="tx1"/>
                </a:solidFill>
                <a:effectLst/>
                <a:latin typeface="+mn-lt"/>
                <a:ea typeface="+mn-ea"/>
                <a:cs typeface="+mn-cs"/>
              </a:rPr>
              <a:t>EDA</a:t>
            </a:r>
            <a:r>
              <a:rPr lang="en-US" sz="1200" kern="1200">
                <a:solidFill>
                  <a:schemeClr val="tx1"/>
                </a:solidFill>
                <a:effectLst/>
                <a:latin typeface="+mn-lt"/>
                <a:ea typeface="+mn-ea"/>
                <a:cs typeface="+mn-cs"/>
              </a:rPr>
              <a:t>: Exploratory analysis summarizes churn rate, class imbalance, and distributions of key variables such as recency, frequency, and monetary value. Correlations and basic visualizations reveal skewness, outliers, and early signals of which behaviors differ between churned and retained users.</a:t>
            </a:r>
          </a:p>
          <a:p>
            <a:pPr lvl="0"/>
            <a:r>
              <a:rPr lang="en-US" sz="1200" b="1" kern="1200">
                <a:solidFill>
                  <a:schemeClr val="tx1"/>
                </a:solidFill>
                <a:effectLst/>
                <a:latin typeface="+mn-lt"/>
                <a:ea typeface="+mn-ea"/>
                <a:cs typeface="+mn-cs"/>
              </a:rPr>
              <a:t>Feature Engineering:</a:t>
            </a:r>
            <a:r>
              <a:rPr lang="en-US" sz="1200" kern="1200">
                <a:solidFill>
                  <a:schemeClr val="tx1"/>
                </a:solidFill>
                <a:effectLst/>
                <a:latin typeface="+mn-lt"/>
                <a:ea typeface="+mn-ea"/>
                <a:cs typeface="+mn-cs"/>
              </a:rPr>
              <a:t> RFM variables are created alongside richer temporal, </a:t>
            </a:r>
            <a:r>
              <a:rPr lang="en-US" sz="1200" kern="1200" err="1">
                <a:solidFill>
                  <a:schemeClr val="tx1"/>
                </a:solidFill>
                <a:effectLst/>
                <a:latin typeface="+mn-lt"/>
                <a:ea typeface="+mn-ea"/>
                <a:cs typeface="+mn-cs"/>
              </a:rPr>
              <a:t>behavioural</a:t>
            </a:r>
            <a:r>
              <a:rPr lang="en-US" sz="1200" kern="1200">
                <a:solidFill>
                  <a:schemeClr val="tx1"/>
                </a:solidFill>
                <a:effectLst/>
                <a:latin typeface="+mn-lt"/>
                <a:ea typeface="+mn-ea"/>
                <a:cs typeface="+mn-cs"/>
              </a:rPr>
              <a:t>, and latent features (e.g., recency of sessions, monthly purchase lags, and latent factors from embeddings). These engineered features capture both short-term patterns and long-term value that drive churn risk.</a:t>
            </a:r>
          </a:p>
          <a:p>
            <a:pPr lvl="0"/>
            <a:r>
              <a:rPr lang="en-US" sz="1200" b="1" kern="1200">
                <a:solidFill>
                  <a:schemeClr val="tx1"/>
                </a:solidFill>
                <a:effectLst/>
                <a:latin typeface="+mn-lt"/>
                <a:ea typeface="+mn-ea"/>
                <a:cs typeface="+mn-cs"/>
              </a:rPr>
              <a:t>Outlier Detection:</a:t>
            </a:r>
            <a:r>
              <a:rPr lang="en-US" sz="1200" kern="1200">
                <a:solidFill>
                  <a:schemeClr val="tx1"/>
                </a:solidFill>
                <a:effectLst/>
                <a:latin typeface="+mn-lt"/>
                <a:ea typeface="+mn-ea"/>
                <a:cs typeface="+mn-cs"/>
              </a:rPr>
              <a:t> Potential anomalies are identified by examining extreme values and, later, by using K‑nearest‑</a:t>
            </a:r>
            <a:r>
              <a:rPr lang="en-US" sz="1200" kern="1200" err="1">
                <a:solidFill>
                  <a:schemeClr val="tx1"/>
                </a:solidFill>
                <a:effectLst/>
                <a:latin typeface="+mn-lt"/>
                <a:ea typeface="+mn-ea"/>
                <a:cs typeface="+mn-cs"/>
              </a:rPr>
              <a:t>neighbour</a:t>
            </a:r>
            <a:r>
              <a:rPr lang="en-US" sz="1200" kern="1200">
                <a:solidFill>
                  <a:schemeClr val="tx1"/>
                </a:solidFill>
                <a:effectLst/>
                <a:latin typeface="+mn-lt"/>
                <a:ea typeface="+mn-ea"/>
                <a:cs typeface="+mn-cs"/>
              </a:rPr>
              <a:t> distances in feature space. Synthetic outliers are also injected to stress‑test model robustness and the effectiveness of the detection strategy.</a:t>
            </a:r>
          </a:p>
          <a:p>
            <a:pPr lvl="0"/>
            <a:r>
              <a:rPr lang="en-US" sz="1200" b="1" kern="1200">
                <a:solidFill>
                  <a:schemeClr val="tx1"/>
                </a:solidFill>
                <a:effectLst/>
                <a:latin typeface="+mn-lt"/>
                <a:ea typeface="+mn-ea"/>
                <a:cs typeface="+mn-cs"/>
              </a:rPr>
              <a:t>Data Cleaning and Normalization:</a:t>
            </a:r>
            <a:r>
              <a:rPr lang="en-US" sz="1200" kern="1200">
                <a:solidFill>
                  <a:schemeClr val="tx1"/>
                </a:solidFill>
                <a:effectLst/>
                <a:latin typeface="+mn-lt"/>
                <a:ea typeface="+mn-ea"/>
                <a:cs typeface="+mn-cs"/>
              </a:rPr>
              <a:t> Extreme values are trimmed or handled, and continuous features are standardized using z‑score scaling so that models like SVM and Logistic Regression treat all variables on a comparable scale. This improves numerical stability and convergence during training.</a:t>
            </a:r>
          </a:p>
          <a:p>
            <a:pPr lvl="0"/>
            <a:r>
              <a:rPr lang="en-US" sz="1200" b="1" kern="1200">
                <a:solidFill>
                  <a:schemeClr val="tx1"/>
                </a:solidFill>
                <a:effectLst/>
                <a:latin typeface="+mn-lt"/>
                <a:ea typeface="+mn-ea"/>
                <a:cs typeface="+mn-cs"/>
              </a:rPr>
              <a:t>Train and Test Split:</a:t>
            </a:r>
            <a:r>
              <a:rPr lang="en-US" sz="1200" kern="1200">
                <a:solidFill>
                  <a:schemeClr val="tx1"/>
                </a:solidFill>
                <a:effectLst/>
                <a:latin typeface="+mn-lt"/>
                <a:ea typeface="+mn-ea"/>
                <a:cs typeface="+mn-cs"/>
              </a:rPr>
              <a:t> A stratified 80/20 split on users is performed to preserve the churn proportion while preventing information leakage between train and test. The scaler and any other transformations are fit only on the training data and then applied to the test data.</a:t>
            </a:r>
          </a:p>
          <a:p>
            <a:pPr lvl="0"/>
            <a:r>
              <a:rPr lang="en-US" sz="1200" b="1" kern="1200">
                <a:solidFill>
                  <a:schemeClr val="tx1"/>
                </a:solidFill>
                <a:effectLst/>
                <a:latin typeface="+mn-lt"/>
                <a:ea typeface="+mn-ea"/>
                <a:cs typeface="+mn-cs"/>
              </a:rPr>
              <a:t>Feature Selection:</a:t>
            </a:r>
            <a:r>
              <a:rPr lang="en-US" sz="1200" kern="1200">
                <a:solidFill>
                  <a:schemeClr val="tx1"/>
                </a:solidFill>
                <a:effectLst/>
                <a:latin typeface="+mn-lt"/>
                <a:ea typeface="+mn-ea"/>
                <a:cs typeface="+mn-cs"/>
              </a:rPr>
              <a:t> Multiple RFM‑only variants are first evaluated, followed by a forward wrapper method over all 275 features using Logistic Regression as the evaluation model. The wrapper selects 40 high-impact features that maximize test accuracy while reducing dimensionality and overfitting risk.</a:t>
            </a:r>
          </a:p>
          <a:p>
            <a:pPr lvl="0"/>
            <a:r>
              <a:rPr lang="en-US" sz="1200" b="1" kern="1200">
                <a:solidFill>
                  <a:schemeClr val="tx1"/>
                </a:solidFill>
                <a:effectLst/>
                <a:latin typeface="+mn-lt"/>
                <a:ea typeface="+mn-ea"/>
                <a:cs typeface="+mn-cs"/>
              </a:rPr>
              <a:t>Model Selection:</a:t>
            </a:r>
            <a:r>
              <a:rPr lang="en-US" sz="1200" kern="1200">
                <a:solidFill>
                  <a:schemeClr val="tx1"/>
                </a:solidFill>
                <a:effectLst/>
                <a:latin typeface="+mn-lt"/>
                <a:ea typeface="+mn-ea"/>
                <a:cs typeface="+mn-cs"/>
              </a:rPr>
              <a:t> Several algorithms—Logistic Regression, Logistic Regression with SMOTE, SVM, and Random Forest—are trained on the selected features. SVM is chosen as the final model because it achieves very high accuracy with stable cross-validation performance and captures non‑linear relationships in the data</a:t>
            </a:r>
          </a:p>
          <a:p>
            <a:pPr lvl="0"/>
            <a:r>
              <a:rPr lang="en-US" sz="1200" b="1" kern="1200">
                <a:solidFill>
                  <a:schemeClr val="tx1"/>
                </a:solidFill>
                <a:effectLst/>
                <a:latin typeface="+mn-lt"/>
                <a:ea typeface="+mn-ea"/>
                <a:cs typeface="+mn-cs"/>
              </a:rPr>
              <a:t>Model Evaluation:</a:t>
            </a:r>
            <a:r>
              <a:rPr lang="en-US" sz="1200" kern="1200">
                <a:solidFill>
                  <a:schemeClr val="tx1"/>
                </a:solidFill>
                <a:effectLst/>
                <a:latin typeface="+mn-lt"/>
                <a:ea typeface="+mn-ea"/>
                <a:cs typeface="+mn-cs"/>
              </a:rPr>
              <a:t> Models are evaluated using accuracy, F1‑score, and confusion matrices on the held-out test set, and validated with 3-fold and 5-fold cross-validation on the training data. Mean and standard deviation of CV accuracy quantify </a:t>
            </a:r>
            <a:r>
              <a:rPr lang="en-US" sz="1200" kern="1200" err="1">
                <a:solidFill>
                  <a:schemeClr val="tx1"/>
                </a:solidFill>
                <a:effectLst/>
                <a:latin typeface="+mn-lt"/>
                <a:ea typeface="+mn-ea"/>
                <a:cs typeface="+mn-cs"/>
              </a:rPr>
              <a:t>generalisation</a:t>
            </a:r>
            <a:r>
              <a:rPr lang="en-US" sz="1200" kern="1200">
                <a:solidFill>
                  <a:schemeClr val="tx1"/>
                </a:solidFill>
                <a:effectLst/>
                <a:latin typeface="+mn-lt"/>
                <a:ea typeface="+mn-ea"/>
                <a:cs typeface="+mn-cs"/>
              </a:rPr>
              <a:t> and stability across different splits.</a:t>
            </a:r>
          </a:p>
          <a:p>
            <a:pPr lvl="0"/>
            <a:r>
              <a:rPr lang="en-US" sz="1200" b="1" kern="1200">
                <a:solidFill>
                  <a:schemeClr val="tx1"/>
                </a:solidFill>
                <a:effectLst/>
                <a:latin typeface="+mn-lt"/>
                <a:ea typeface="+mn-ea"/>
                <a:cs typeface="+mn-cs"/>
              </a:rPr>
              <a:t>Outlier Detection and Performance:</a:t>
            </a:r>
            <a:r>
              <a:rPr lang="en-US" sz="1200" kern="1200">
                <a:solidFill>
                  <a:schemeClr val="tx1"/>
                </a:solidFill>
                <a:effectLst/>
                <a:latin typeface="+mn-lt"/>
                <a:ea typeface="+mn-ea"/>
                <a:cs typeface="+mn-cs"/>
              </a:rPr>
              <a:t> The test set is evaluated in three scenarios: clean, with synthetic outliers injected, and after KNN-based outlier removal. Comparing metrics across these scenarios shows how much performance degrades under OOD noise and how effectively KNN restores accuracy once anomalies are removed.</a:t>
            </a:r>
          </a:p>
          <a:p>
            <a:pPr lvl="0"/>
            <a:r>
              <a:rPr lang="en-US" sz="1200" b="1" kern="1200">
                <a:solidFill>
                  <a:schemeClr val="tx1"/>
                </a:solidFill>
                <a:effectLst/>
                <a:latin typeface="+mn-lt"/>
                <a:ea typeface="+mn-ea"/>
                <a:cs typeface="+mn-cs"/>
              </a:rPr>
              <a:t>Model Comparison and Interpretation:</a:t>
            </a:r>
            <a:r>
              <a:rPr lang="en-US" sz="1200" kern="1200">
                <a:solidFill>
                  <a:schemeClr val="tx1"/>
                </a:solidFill>
                <a:effectLst/>
                <a:latin typeface="+mn-lt"/>
                <a:ea typeface="+mn-ea"/>
                <a:cs typeface="+mn-cs"/>
              </a:rPr>
              <a:t> Performance of all models and scenarios is summarized in tables, highlighting that RFM-only methods reach 60–75% accuracy, while the wrapper‑selected SVM and other models exceed 99%. Feature importance and confusion patterns are used to explain which </a:t>
            </a:r>
            <a:r>
              <a:rPr lang="en-US" sz="1200" kern="1200" err="1">
                <a:solidFill>
                  <a:schemeClr val="tx1"/>
                </a:solidFill>
                <a:effectLst/>
                <a:latin typeface="+mn-lt"/>
                <a:ea typeface="+mn-ea"/>
                <a:cs typeface="+mn-cs"/>
              </a:rPr>
              <a:t>behaviours</a:t>
            </a:r>
            <a:r>
              <a:rPr lang="en-US" sz="1200" kern="1200">
                <a:solidFill>
                  <a:schemeClr val="tx1"/>
                </a:solidFill>
                <a:effectLst/>
                <a:latin typeface="+mn-lt"/>
                <a:ea typeface="+mn-ea"/>
                <a:cs typeface="+mn-cs"/>
              </a:rPr>
              <a:t> are most predictive and how different models trade off errors.</a:t>
            </a:r>
          </a:p>
          <a:p>
            <a:pPr lvl="0"/>
            <a:r>
              <a:rPr lang="en-US" sz="1200" b="1" kern="1200">
                <a:solidFill>
                  <a:schemeClr val="tx1"/>
                </a:solidFill>
                <a:effectLst/>
                <a:latin typeface="+mn-lt"/>
                <a:ea typeface="+mn-ea"/>
                <a:cs typeface="+mn-cs"/>
              </a:rPr>
              <a:t>Business Insights:</a:t>
            </a:r>
            <a:r>
              <a:rPr lang="en-US" sz="1200" kern="1200">
                <a:solidFill>
                  <a:schemeClr val="tx1"/>
                </a:solidFill>
                <a:effectLst/>
                <a:latin typeface="+mn-lt"/>
                <a:ea typeface="+mn-ea"/>
                <a:cs typeface="+mn-cs"/>
              </a:rPr>
              <a:t> The final model’s outputs are translated into actionable insights such as identifying high-risk customers, key churn drivers (e.g., long inactivity, declining revenue), and potential retention levers. These insights support targeted campaigns that prioritize users with high predicted risk and high expected revenue impact.</a:t>
            </a:r>
          </a:p>
          <a:p>
            <a:pPr lvl="0"/>
            <a:r>
              <a:rPr lang="en-US" sz="1200" b="1" kern="1200">
                <a:solidFill>
                  <a:schemeClr val="tx1"/>
                </a:solidFill>
                <a:effectLst/>
                <a:latin typeface="+mn-lt"/>
                <a:ea typeface="+mn-ea"/>
                <a:cs typeface="+mn-cs"/>
              </a:rPr>
              <a:t>Deployment and Monitoring:</a:t>
            </a:r>
            <a:r>
              <a:rPr lang="en-US" sz="1200" kern="1200">
                <a:solidFill>
                  <a:schemeClr val="tx1"/>
                </a:solidFill>
                <a:effectLst/>
                <a:latin typeface="+mn-lt"/>
                <a:ea typeface="+mn-ea"/>
                <a:cs typeface="+mn-cs"/>
              </a:rPr>
              <a:t> A production plan scores users regularly using the trained SVM model, feeds high-risk segments to CRM systems, and monitors performance over time. Scheduled retraining, drift detection, and dashboard tracking ensure the churn system remains accurate and aligned with evolving customer </a:t>
            </a:r>
            <a:r>
              <a:rPr lang="en-US" sz="1200" kern="1200" err="1">
                <a:solidFill>
                  <a:schemeClr val="tx1"/>
                </a:solidFill>
                <a:effectLst/>
                <a:latin typeface="+mn-lt"/>
                <a:ea typeface="+mn-ea"/>
                <a:cs typeface="+mn-cs"/>
              </a:rPr>
              <a:t>behaviour</a:t>
            </a:r>
            <a:r>
              <a:rPr lang="en-US" sz="1200" kern="1200">
                <a:solidFill>
                  <a:schemeClr val="tx1"/>
                </a:solidFill>
                <a:effectLst/>
                <a:latin typeface="+mn-lt"/>
                <a:ea typeface="+mn-ea"/>
                <a:cs typeface="+mn-cs"/>
              </a:rPr>
              <a:t>.</a:t>
            </a:r>
          </a:p>
          <a:p>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6</a:t>
            </a:fld>
            <a:endParaRPr lang="en-US"/>
          </a:p>
        </p:txBody>
      </p:sp>
    </p:spTree>
    <p:extLst>
      <p:ext uri="{BB962C8B-B14F-4D97-AF65-F5344CB8AC3E}">
        <p14:creationId xmlns:p14="http://schemas.microsoft.com/office/powerpoint/2010/main" val="3018879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Data Preprocessing</a:t>
            </a:r>
          </a:p>
          <a:p>
            <a:r>
              <a:rPr lang="en-US" sz="1200" b="1" i="0" u="none" strike="noStrike" kern="1200">
                <a:solidFill>
                  <a:schemeClr val="tx1"/>
                </a:solidFill>
                <a:effectLst/>
                <a:latin typeface="+mn-lt"/>
                <a:ea typeface="+mn-ea"/>
                <a:cs typeface="+mn-cs"/>
              </a:rPr>
              <a:t>Aggregation:</a:t>
            </a:r>
            <a:r>
              <a:rPr lang="en-US" sz="1200" b="0" i="0" u="none" strike="noStrike" kern="1200">
                <a:solidFill>
                  <a:schemeClr val="tx1"/>
                </a:solidFill>
                <a:effectLst/>
                <a:latin typeface="+mn-lt"/>
                <a:ea typeface="+mn-ea"/>
                <a:cs typeface="+mn-cs"/>
              </a:rPr>
              <a:t> User-level statistics computed (mean, sum, min, max, </a:t>
            </a:r>
            <a:r>
              <a:rPr lang="en-US" sz="1200" b="0" i="0" u="none" strike="noStrike" kern="1200" err="1">
                <a:solidFill>
                  <a:schemeClr val="tx1"/>
                </a:solidFill>
                <a:effectLst/>
                <a:latin typeface="+mn-lt"/>
                <a:ea typeface="+mn-ea"/>
                <a:cs typeface="+mn-cs"/>
              </a:rPr>
              <a:t>stddev</a:t>
            </a:r>
            <a:r>
              <a:rPr lang="en-US" sz="1200" b="0" i="0" u="none" strike="noStrike" kern="1200">
                <a:solidFill>
                  <a:schemeClr val="tx1"/>
                </a:solidFill>
                <a:effectLst/>
                <a:latin typeface="+mn-lt"/>
                <a:ea typeface="+mn-ea"/>
                <a:cs typeface="+mn-cs"/>
              </a:rPr>
              <a:t>, coefficient of variation)</a:t>
            </a:r>
          </a:p>
          <a:p>
            <a:r>
              <a:rPr lang="en-US" sz="1200" b="1" i="0" u="none" strike="noStrike" kern="1200">
                <a:solidFill>
                  <a:schemeClr val="tx1"/>
                </a:solidFill>
                <a:effectLst/>
                <a:latin typeface="+mn-lt"/>
                <a:ea typeface="+mn-ea"/>
                <a:cs typeface="+mn-cs"/>
              </a:rPr>
              <a:t>Target Label Extraction:</a:t>
            </a:r>
            <a:r>
              <a:rPr lang="en-US" sz="1200" b="0" i="0" u="none" strike="noStrike" kern="1200">
                <a:solidFill>
                  <a:schemeClr val="tx1"/>
                </a:solidFill>
                <a:effectLst/>
                <a:latin typeface="+mn-lt"/>
                <a:ea typeface="+mn-ea"/>
                <a:cs typeface="+mn-cs"/>
              </a:rPr>
              <a:t> Churn label (</a:t>
            </a:r>
            <a:r>
              <a:rPr lang="en-US" sz="1200" b="0" i="0" u="none" strike="noStrike" kern="1200" err="1">
                <a:solidFill>
                  <a:schemeClr val="tx1"/>
                </a:solidFill>
                <a:effectLst/>
                <a:latin typeface="+mn-lt"/>
                <a:ea typeface="+mn-ea"/>
                <a:cs typeface="+mn-cs"/>
              </a:rPr>
              <a:t>target_event</a:t>
            </a:r>
            <a:r>
              <a:rPr lang="en-US" sz="1200" b="0" i="0" u="none" strike="noStrike" kern="1200">
                <a:solidFill>
                  <a:schemeClr val="tx1"/>
                </a:solidFill>
                <a:effectLst/>
                <a:latin typeface="+mn-lt"/>
                <a:ea typeface="+mn-ea"/>
                <a:cs typeface="+mn-cs"/>
              </a:rPr>
              <a:t>) extracted from last transaction per user</a:t>
            </a:r>
          </a:p>
          <a:p>
            <a:r>
              <a:rPr lang="en-US" sz="1200" b="1" i="0" u="none" strike="noStrike" kern="1200">
                <a:solidFill>
                  <a:schemeClr val="tx1"/>
                </a:solidFill>
                <a:effectLst/>
                <a:latin typeface="+mn-lt"/>
                <a:ea typeface="+mn-ea"/>
                <a:cs typeface="+mn-cs"/>
              </a:rPr>
              <a:t>Feature Merge:</a:t>
            </a:r>
            <a:r>
              <a:rPr lang="en-US" sz="1200" b="0" i="0" u="none" strike="noStrike" kern="1200">
                <a:solidFill>
                  <a:schemeClr val="tx1"/>
                </a:solidFill>
                <a:effectLst/>
                <a:latin typeface="+mn-lt"/>
                <a:ea typeface="+mn-ea"/>
                <a:cs typeface="+mn-cs"/>
              </a:rPr>
              <a:t> Aggregated RFM and behavioral features merged by </a:t>
            </a:r>
            <a:r>
              <a:rPr lang="en-US" sz="1200" b="0" i="0" u="none" strike="noStrike" kern="1200" err="1">
                <a:solidFill>
                  <a:schemeClr val="tx1"/>
                </a:solidFill>
                <a:effectLst/>
                <a:latin typeface="+mn-lt"/>
                <a:ea typeface="+mn-ea"/>
                <a:cs typeface="+mn-cs"/>
              </a:rPr>
              <a:t>user_id</a:t>
            </a:r>
            <a:endParaRPr lang="en-US" sz="1200" b="0"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Result:</a:t>
            </a:r>
            <a:r>
              <a:rPr lang="en-US" sz="1200" b="0" i="0" u="none" strike="noStrike" kern="1200">
                <a:solidFill>
                  <a:schemeClr val="tx1"/>
                </a:solidFill>
                <a:effectLst/>
                <a:latin typeface="+mn-lt"/>
                <a:ea typeface="+mn-ea"/>
                <a:cs typeface="+mn-cs"/>
              </a:rPr>
              <a:t> 21,605 user-level rows, 275 modeling features (excluding id/time/target)</a:t>
            </a:r>
          </a:p>
          <a:p>
            <a:r>
              <a:rPr lang="en-US" sz="1200" b="1" i="0" u="none" strike="noStrike" kern="1200">
                <a:solidFill>
                  <a:schemeClr val="tx1"/>
                </a:solidFill>
                <a:effectLst/>
                <a:latin typeface="+mn-lt"/>
                <a:ea typeface="+mn-ea"/>
                <a:cs typeface="+mn-cs"/>
              </a:rPr>
              <a:t>Data Quality:</a:t>
            </a:r>
            <a:r>
              <a:rPr lang="en-US" sz="1200" b="0" i="0" u="none" strike="noStrike" kern="1200">
                <a:solidFill>
                  <a:schemeClr val="tx1"/>
                </a:solidFill>
                <a:effectLst/>
                <a:latin typeface="+mn-lt"/>
                <a:ea typeface="+mn-ea"/>
                <a:cs typeface="+mn-cs"/>
              </a:rPr>
              <a:t> No major missing values reported; ready for modeling</a:t>
            </a:r>
          </a:p>
          <a:p>
            <a:br>
              <a:rPr lang="en-US"/>
            </a:br>
            <a:endParaRPr lang="en-US"/>
          </a:p>
          <a:p>
            <a:r>
              <a:rPr lang="en-US" sz="1200" b="1" i="0" u="none" strike="noStrike" kern="1200">
                <a:solidFill>
                  <a:schemeClr val="tx1"/>
                </a:solidFill>
                <a:effectLst/>
                <a:latin typeface="+mn-lt"/>
                <a:ea typeface="+mn-ea"/>
                <a:cs typeface="+mn-cs"/>
              </a:rPr>
              <a:t>Exploratory Data Analysis (EDA)</a:t>
            </a:r>
          </a:p>
          <a:p>
            <a:r>
              <a:rPr lang="en-US" sz="1200" b="1" i="0" u="none" strike="noStrike" kern="1200">
                <a:solidFill>
                  <a:schemeClr val="tx1"/>
                </a:solidFill>
                <a:effectLst/>
                <a:latin typeface="+mn-lt"/>
                <a:ea typeface="+mn-ea"/>
                <a:cs typeface="+mn-cs"/>
              </a:rPr>
              <a:t>Churn Distribution:</a:t>
            </a:r>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Churned users: 13,021 (60.27%)</a:t>
            </a:r>
          </a:p>
          <a:p>
            <a:r>
              <a:rPr lang="en-US" sz="1200" b="0" i="0" u="none" strike="noStrike" kern="1200">
                <a:solidFill>
                  <a:schemeClr val="tx1"/>
                </a:solidFill>
                <a:effectLst/>
                <a:latin typeface="+mn-lt"/>
                <a:ea typeface="+mn-ea"/>
                <a:cs typeface="+mn-cs"/>
              </a:rPr>
              <a:t>Retained users: 8,584 (39.73%)</a:t>
            </a:r>
          </a:p>
          <a:p>
            <a:r>
              <a:rPr lang="en-US" sz="1200" b="0" i="0" u="none" strike="noStrike" kern="1200">
                <a:solidFill>
                  <a:schemeClr val="tx1"/>
                </a:solidFill>
                <a:effectLst/>
                <a:latin typeface="+mn-lt"/>
                <a:ea typeface="+mn-ea"/>
                <a:cs typeface="+mn-cs"/>
              </a:rPr>
              <a:t>Class imbalance: 1:1.52 ratio (moderate, requiring balanced class weights)</a:t>
            </a:r>
          </a:p>
          <a:p>
            <a:r>
              <a:rPr lang="en-US" sz="1200" b="1" i="0" u="none" strike="noStrike" kern="1200">
                <a:solidFill>
                  <a:schemeClr val="tx1"/>
                </a:solidFill>
                <a:effectLst/>
                <a:latin typeface="+mn-lt"/>
                <a:ea typeface="+mn-ea"/>
                <a:cs typeface="+mn-cs"/>
              </a:rPr>
              <a:t>Key Feature Insights:</a:t>
            </a:r>
            <a:endParaRPr lang="en-US" sz="1200" b="0"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Purchase Recency:</a:t>
            </a:r>
            <a:r>
              <a:rPr lang="en-US" sz="1200" b="0" i="0" u="none" strike="noStrike" kern="1200">
                <a:solidFill>
                  <a:schemeClr val="tx1"/>
                </a:solidFill>
                <a:effectLst/>
                <a:latin typeface="+mn-lt"/>
                <a:ea typeface="+mn-ea"/>
                <a:cs typeface="+mn-cs"/>
              </a:rPr>
              <a:t> Mean ~82–83 days; churned users show higher recency (more inactive)</a:t>
            </a:r>
          </a:p>
          <a:p>
            <a:r>
              <a:rPr lang="en-US" sz="1200" b="1" i="0" u="none" strike="noStrike" kern="1200">
                <a:solidFill>
                  <a:schemeClr val="tx1"/>
                </a:solidFill>
                <a:effectLst/>
                <a:latin typeface="+mn-lt"/>
                <a:ea typeface="+mn-ea"/>
                <a:cs typeface="+mn-cs"/>
              </a:rPr>
              <a:t>Purchase Frequency:</a:t>
            </a:r>
            <a:r>
              <a:rPr lang="en-US" sz="1200" b="0" i="0" u="none" strike="noStrike" kern="1200">
                <a:solidFill>
                  <a:schemeClr val="tx1"/>
                </a:solidFill>
                <a:effectLst/>
                <a:latin typeface="+mn-lt"/>
                <a:ea typeface="+mn-ea"/>
                <a:cs typeface="+mn-cs"/>
              </a:rPr>
              <a:t> Highly right-skewed (mean ~48, range 1–2,120); retained users have higher frequency</a:t>
            </a:r>
          </a:p>
          <a:p>
            <a:r>
              <a:rPr lang="en-US" sz="1200" b="1" i="0" u="none" strike="noStrike" kern="1200">
                <a:solidFill>
                  <a:schemeClr val="tx1"/>
                </a:solidFill>
                <a:effectLst/>
                <a:latin typeface="+mn-lt"/>
                <a:ea typeface="+mn-ea"/>
                <a:cs typeface="+mn-cs"/>
              </a:rPr>
              <a:t>Purchase Revenue:</a:t>
            </a:r>
            <a:r>
              <a:rPr lang="en-US" sz="1200" b="0" i="0" u="none" strike="noStrike" kern="1200">
                <a:solidFill>
                  <a:schemeClr val="tx1"/>
                </a:solidFill>
                <a:effectLst/>
                <a:latin typeface="+mn-lt"/>
                <a:ea typeface="+mn-ea"/>
                <a:cs typeface="+mn-cs"/>
              </a:rPr>
              <a:t> Strongly right-skewed (mean ~$16.7K, max &gt;$750K); retained users tend to have higher revenue</a:t>
            </a:r>
          </a:p>
          <a:p>
            <a:r>
              <a:rPr lang="en-US" sz="1200" b="1" i="0" u="none" strike="noStrike" kern="1200">
                <a:solidFill>
                  <a:schemeClr val="tx1"/>
                </a:solidFill>
                <a:effectLst/>
                <a:latin typeface="+mn-lt"/>
                <a:ea typeface="+mn-ea"/>
                <a:cs typeface="+mn-cs"/>
              </a:rPr>
              <a:t>Session Activity:</a:t>
            </a:r>
            <a:r>
              <a:rPr lang="en-US" sz="1200" b="0" i="0" u="none" strike="noStrike" kern="1200">
                <a:solidFill>
                  <a:schemeClr val="tx1"/>
                </a:solidFill>
                <a:effectLst/>
                <a:latin typeface="+mn-lt"/>
                <a:ea typeface="+mn-ea"/>
                <a:cs typeface="+mn-cs"/>
              </a:rPr>
              <a:t> Extreme outliers present (max ~231M sessions), indicating data quality issues and need for scaling</a:t>
            </a:r>
          </a:p>
          <a:p>
            <a:r>
              <a:rPr lang="en-US" sz="1200" b="1" i="0" u="none" strike="noStrike" kern="1200">
                <a:solidFill>
                  <a:schemeClr val="tx1"/>
                </a:solidFill>
                <a:effectLst/>
                <a:latin typeface="+mn-lt"/>
                <a:ea typeface="+mn-ea"/>
                <a:cs typeface="+mn-cs"/>
              </a:rPr>
              <a:t>Feature Correlations:</a:t>
            </a:r>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Strong positive correlation between </a:t>
            </a:r>
            <a:r>
              <a:rPr lang="en-US" sz="1200" b="0" i="0" u="none" strike="noStrike" kern="1200" err="1">
                <a:solidFill>
                  <a:schemeClr val="tx1"/>
                </a:solidFill>
                <a:effectLst/>
                <a:latin typeface="+mn-lt"/>
                <a:ea typeface="+mn-ea"/>
                <a:cs typeface="+mn-cs"/>
              </a:rPr>
              <a:t>purchase_count_sum</a:t>
            </a:r>
            <a:r>
              <a:rPr lang="en-US" sz="1200" b="0" i="0" u="none" strike="noStrike" kern="1200">
                <a:solidFill>
                  <a:schemeClr val="tx1"/>
                </a:solidFill>
                <a:effectLst/>
                <a:latin typeface="+mn-lt"/>
                <a:ea typeface="+mn-ea"/>
                <a:cs typeface="+mn-cs"/>
              </a:rPr>
              <a:t> and </a:t>
            </a:r>
            <a:r>
              <a:rPr lang="en-US" sz="1200" b="0" i="0" u="none" strike="noStrike" kern="1200" err="1">
                <a:solidFill>
                  <a:schemeClr val="tx1"/>
                </a:solidFill>
                <a:effectLst/>
                <a:latin typeface="+mn-lt"/>
                <a:ea typeface="+mn-ea"/>
                <a:cs typeface="+mn-cs"/>
              </a:rPr>
              <a:t>click_count_sum</a:t>
            </a:r>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Recency features are highly correlated, indicating redundancy</a:t>
            </a:r>
          </a:p>
          <a:p>
            <a:r>
              <a:rPr lang="en-US" sz="1200" b="0" i="0" u="none" strike="noStrike" kern="1200">
                <a:solidFill>
                  <a:schemeClr val="tx1"/>
                </a:solidFill>
                <a:effectLst/>
                <a:latin typeface="+mn-lt"/>
                <a:ea typeface="+mn-ea"/>
                <a:cs typeface="+mn-cs"/>
              </a:rPr>
              <a:t>RFM metrics show expected relationships with churn (high recency/low frequency → higher churn)</a:t>
            </a:r>
          </a:p>
          <a:p>
            <a:r>
              <a:rPr lang="en-US" sz="1200" b="1" i="0" u="none" strike="noStrike" kern="1200">
                <a:solidFill>
                  <a:schemeClr val="tx1"/>
                </a:solidFill>
                <a:effectLst/>
                <a:latin typeface="+mn-lt"/>
                <a:ea typeface="+mn-ea"/>
                <a:cs typeface="+mn-cs"/>
              </a:rPr>
              <a:t>Data Characteristics:</a:t>
            </a:r>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Heavy skewness across RFM metrics requires standardization and potential log-transformation</a:t>
            </a:r>
          </a:p>
          <a:p>
            <a:r>
              <a:rPr lang="en-US" sz="1200" b="0" i="0" u="none" strike="noStrike" kern="1200">
                <a:solidFill>
                  <a:schemeClr val="tx1"/>
                </a:solidFill>
                <a:effectLst/>
                <a:latin typeface="+mn-lt"/>
                <a:ea typeface="+mn-ea"/>
                <a:cs typeface="+mn-cs"/>
              </a:rPr>
              <a:t>Outliers present in behavioral features (sessions, revenue) motivate KNN-based detection and removal</a:t>
            </a:r>
          </a:p>
          <a:p>
            <a:r>
              <a:rPr lang="en-US" sz="1200" b="0" i="0" u="none" strike="noStrike" kern="1200">
                <a:solidFill>
                  <a:schemeClr val="tx1"/>
                </a:solidFill>
                <a:effectLst/>
                <a:latin typeface="+mn-lt"/>
                <a:ea typeface="+mn-ea"/>
                <a:cs typeface="+mn-cs"/>
              </a:rPr>
              <a:t>Feature scale varies dramatically (−148 to 231M), requiring </a:t>
            </a:r>
            <a:r>
              <a:rPr lang="en-US" sz="1200" b="0" i="0" u="none" strike="noStrike" kern="1200" err="1">
                <a:solidFill>
                  <a:schemeClr val="tx1"/>
                </a:solidFill>
                <a:effectLst/>
                <a:latin typeface="+mn-lt"/>
                <a:ea typeface="+mn-ea"/>
                <a:cs typeface="+mn-cs"/>
              </a:rPr>
              <a:t>StandardScaler</a:t>
            </a:r>
            <a:r>
              <a:rPr lang="en-US" sz="1200" b="0" i="0" u="none" strike="noStrike" kern="1200">
                <a:solidFill>
                  <a:schemeClr val="tx1"/>
                </a:solidFill>
                <a:effectLst/>
                <a:latin typeface="+mn-lt"/>
                <a:ea typeface="+mn-ea"/>
                <a:cs typeface="+mn-cs"/>
              </a:rPr>
              <a:t> normalization</a:t>
            </a:r>
          </a:p>
          <a:p>
            <a:br>
              <a:rPr lang="en-US"/>
            </a:br>
            <a:endParaRPr lang="en-US"/>
          </a:p>
          <a:p>
            <a:r>
              <a:rPr lang="en-US" sz="1200" b="1" i="0" u="none" strike="noStrike" kern="1200">
                <a:solidFill>
                  <a:schemeClr val="tx1"/>
                </a:solidFill>
                <a:effectLst/>
                <a:latin typeface="+mn-lt"/>
                <a:ea typeface="+mn-ea"/>
                <a:cs typeface="+mn-cs"/>
              </a:rPr>
              <a:t>Visual Summary (9 EDA Plots)</a:t>
            </a:r>
          </a:p>
          <a:p>
            <a:r>
              <a:rPr lang="en-US" sz="1200" b="1" i="0" u="none" strike="noStrike" kern="1200">
                <a:solidFill>
                  <a:schemeClr val="tx1"/>
                </a:solidFill>
                <a:effectLst/>
                <a:latin typeface="+mn-lt"/>
                <a:ea typeface="+mn-ea"/>
                <a:cs typeface="+mn-cs"/>
              </a:rPr>
              <a:t>Churn Rate Distribution (pie):</a:t>
            </a:r>
            <a:r>
              <a:rPr lang="en-US" sz="1200" b="0" i="0" u="none" strike="noStrike" kern="1200">
                <a:solidFill>
                  <a:schemeClr val="tx1"/>
                </a:solidFill>
                <a:effectLst/>
                <a:latin typeface="+mn-lt"/>
                <a:ea typeface="+mn-ea"/>
                <a:cs typeface="+mn-cs"/>
              </a:rPr>
              <a:t> 60% churned vs. 40% retained</a:t>
            </a:r>
          </a:p>
          <a:p>
            <a:r>
              <a:rPr lang="en-US" sz="1200" b="1" i="0" u="none" strike="noStrike" kern="1200">
                <a:solidFill>
                  <a:schemeClr val="tx1"/>
                </a:solidFill>
                <a:effectLst/>
                <a:latin typeface="+mn-lt"/>
                <a:ea typeface="+mn-ea"/>
                <a:cs typeface="+mn-cs"/>
              </a:rPr>
              <a:t>Class Imbalance (bar):</a:t>
            </a:r>
            <a:r>
              <a:rPr lang="en-US" sz="1200" b="0" i="0" u="none" strike="noStrike" kern="1200">
                <a:solidFill>
                  <a:schemeClr val="tx1"/>
                </a:solidFill>
                <a:effectLst/>
                <a:latin typeface="+mn-lt"/>
                <a:ea typeface="+mn-ea"/>
                <a:cs typeface="+mn-cs"/>
              </a:rPr>
              <a:t> More churned than retained, but moderate imbalance</a:t>
            </a:r>
          </a:p>
          <a:p>
            <a:r>
              <a:rPr lang="en-US" sz="1200" b="1" i="0" u="none" strike="noStrike" kern="1200">
                <a:solidFill>
                  <a:schemeClr val="tx1"/>
                </a:solidFill>
                <a:effectLst/>
                <a:latin typeface="+mn-lt"/>
                <a:ea typeface="+mn-ea"/>
                <a:cs typeface="+mn-cs"/>
              </a:rPr>
              <a:t>Purchase Recency (histogram):</a:t>
            </a:r>
            <a:r>
              <a:rPr lang="en-US" sz="1200" b="0" i="0" u="none" strike="noStrike" kern="1200">
                <a:solidFill>
                  <a:schemeClr val="tx1"/>
                </a:solidFill>
                <a:effectLst/>
                <a:latin typeface="+mn-lt"/>
                <a:ea typeface="+mn-ea"/>
                <a:cs typeface="+mn-cs"/>
              </a:rPr>
              <a:t> Bell-shaped around 80–90 days</a:t>
            </a:r>
          </a:p>
          <a:p>
            <a:r>
              <a:rPr lang="en-US" sz="1200" b="1" i="0" u="none" strike="noStrike" kern="1200">
                <a:solidFill>
                  <a:schemeClr val="tx1"/>
                </a:solidFill>
                <a:effectLst/>
                <a:latin typeface="+mn-lt"/>
                <a:ea typeface="+mn-ea"/>
                <a:cs typeface="+mn-cs"/>
              </a:rPr>
              <a:t>Purchase Frequency (histogram):</a:t>
            </a:r>
            <a:r>
              <a:rPr lang="en-US" sz="1200" b="0" i="0" u="none" strike="noStrike" kern="1200">
                <a:solidFill>
                  <a:schemeClr val="tx1"/>
                </a:solidFill>
                <a:effectLst/>
                <a:latin typeface="+mn-lt"/>
                <a:ea typeface="+mn-ea"/>
                <a:cs typeface="+mn-cs"/>
              </a:rPr>
              <a:t> Right-skewed, most users are low-frequency buyers</a:t>
            </a:r>
          </a:p>
          <a:p>
            <a:r>
              <a:rPr lang="en-US" sz="1200" b="1" i="0" u="none" strike="noStrike" kern="1200">
                <a:solidFill>
                  <a:schemeClr val="tx1"/>
                </a:solidFill>
                <a:effectLst/>
                <a:latin typeface="+mn-lt"/>
                <a:ea typeface="+mn-ea"/>
                <a:cs typeface="+mn-cs"/>
              </a:rPr>
              <a:t>Purchase Revenue (histogram):</a:t>
            </a:r>
            <a:r>
              <a:rPr lang="en-US" sz="1200" b="0" i="0" u="none" strike="noStrike" kern="1200">
                <a:solidFill>
                  <a:schemeClr val="tx1"/>
                </a:solidFill>
                <a:effectLst/>
                <a:latin typeface="+mn-lt"/>
                <a:ea typeface="+mn-ea"/>
                <a:cs typeface="+mn-cs"/>
              </a:rPr>
              <a:t> Highly right-skewed with extreme high spenders</a:t>
            </a:r>
          </a:p>
          <a:p>
            <a:r>
              <a:rPr lang="en-US" sz="1200" b="1" i="0" u="none" strike="noStrike" kern="1200">
                <a:solidFill>
                  <a:schemeClr val="tx1"/>
                </a:solidFill>
                <a:effectLst/>
                <a:latin typeface="+mn-lt"/>
                <a:ea typeface="+mn-ea"/>
                <a:cs typeface="+mn-cs"/>
              </a:rPr>
              <a:t>Recency by Churn Status (boxplot):</a:t>
            </a:r>
            <a:r>
              <a:rPr lang="en-US" sz="1200" b="0" i="0" u="none" strike="noStrike" kern="1200">
                <a:solidFill>
                  <a:schemeClr val="tx1"/>
                </a:solidFill>
                <a:effectLst/>
                <a:latin typeface="+mn-lt"/>
                <a:ea typeface="+mn-ea"/>
                <a:cs typeface="+mn-cs"/>
              </a:rPr>
              <a:t> Churned users have higher recency</a:t>
            </a:r>
          </a:p>
          <a:p>
            <a:r>
              <a:rPr lang="en-US" sz="1200" b="1" i="0" u="none" strike="noStrike" kern="1200">
                <a:solidFill>
                  <a:schemeClr val="tx1"/>
                </a:solidFill>
                <a:effectLst/>
                <a:latin typeface="+mn-lt"/>
                <a:ea typeface="+mn-ea"/>
                <a:cs typeface="+mn-cs"/>
              </a:rPr>
              <a:t>Frequency by Churn Status (boxplot):</a:t>
            </a:r>
            <a:r>
              <a:rPr lang="en-US" sz="1200" b="0" i="0" u="none" strike="noStrike" kern="1200">
                <a:solidFill>
                  <a:schemeClr val="tx1"/>
                </a:solidFill>
                <a:effectLst/>
                <a:latin typeface="+mn-lt"/>
                <a:ea typeface="+mn-ea"/>
                <a:cs typeface="+mn-cs"/>
              </a:rPr>
              <a:t> Retained users have higher purchase counts</a:t>
            </a:r>
          </a:p>
          <a:p>
            <a:r>
              <a:rPr lang="en-US" sz="1200" b="1" i="0" u="none" strike="noStrike" kern="1200">
                <a:solidFill>
                  <a:schemeClr val="tx1"/>
                </a:solidFill>
                <a:effectLst/>
                <a:latin typeface="+mn-lt"/>
                <a:ea typeface="+mn-ea"/>
                <a:cs typeface="+mn-cs"/>
              </a:rPr>
              <a:t>Revenue by Churn Status (boxplot):</a:t>
            </a:r>
            <a:r>
              <a:rPr lang="en-US" sz="1200" b="0" i="0" u="none" strike="noStrike" kern="1200">
                <a:solidFill>
                  <a:schemeClr val="tx1"/>
                </a:solidFill>
                <a:effectLst/>
                <a:latin typeface="+mn-lt"/>
                <a:ea typeface="+mn-ea"/>
                <a:cs typeface="+mn-cs"/>
              </a:rPr>
              <a:t> Retained users tend to have higher revenue</a:t>
            </a:r>
          </a:p>
          <a:p>
            <a:r>
              <a:rPr lang="en-US" sz="1200" b="1" i="0" u="none" strike="noStrike" kern="1200">
                <a:solidFill>
                  <a:schemeClr val="tx1"/>
                </a:solidFill>
                <a:effectLst/>
                <a:latin typeface="+mn-lt"/>
                <a:ea typeface="+mn-ea"/>
                <a:cs typeface="+mn-cs"/>
              </a:rPr>
              <a:t>RFM Correlations (heatmap):</a:t>
            </a:r>
            <a:r>
              <a:rPr lang="en-US" sz="1200" b="0" i="0" u="none" strike="noStrike" kern="1200">
                <a:solidFill>
                  <a:schemeClr val="tx1"/>
                </a:solidFill>
                <a:effectLst/>
                <a:latin typeface="+mn-lt"/>
                <a:ea typeface="+mn-ea"/>
                <a:cs typeface="+mn-cs"/>
              </a:rPr>
              <a:t> Strong correlations among frequency and session metrics</a:t>
            </a:r>
          </a:p>
          <a:p>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8</a:t>
            </a:fld>
            <a:endParaRPr lang="en-US"/>
          </a:p>
        </p:txBody>
      </p:sp>
    </p:spTree>
    <p:extLst>
      <p:ext uri="{BB962C8B-B14F-4D97-AF65-F5344CB8AC3E}">
        <p14:creationId xmlns:p14="http://schemas.microsoft.com/office/powerpoint/2010/main" val="1564647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SLIDE 2: Feature Engineering, Outlier Detection &amp; Data Preparation</a:t>
            </a:r>
          </a:p>
          <a:p>
            <a:br>
              <a:rPr lang="en-US" sz="1200" b="0" i="0" u="none" strike="noStrike" kern="1200">
                <a:solidFill>
                  <a:schemeClr val="tx1"/>
                </a:solidFill>
                <a:effectLst/>
                <a:latin typeface="+mn-lt"/>
                <a:ea typeface="+mn-ea"/>
                <a:cs typeface="+mn-cs"/>
              </a:rPr>
            </a:br>
            <a:endParaRPr lang="en-US" sz="1200" b="0"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Content Section</a:t>
            </a:r>
          </a:p>
          <a:p>
            <a:r>
              <a:rPr lang="en-US" sz="1200" b="1" i="0" u="none" strike="noStrike" kern="1200">
                <a:solidFill>
                  <a:schemeClr val="tx1"/>
                </a:solidFill>
                <a:effectLst/>
                <a:latin typeface="+mn-lt"/>
                <a:ea typeface="+mn-ea"/>
                <a:cs typeface="+mn-cs"/>
              </a:rPr>
              <a:t>Feature Engineering</a:t>
            </a:r>
          </a:p>
          <a:p>
            <a:r>
              <a:rPr lang="en-US" sz="1200" b="1" i="0" u="none" strike="noStrike" kern="1200">
                <a:solidFill>
                  <a:schemeClr val="tx1"/>
                </a:solidFill>
                <a:effectLst/>
                <a:latin typeface="+mn-lt"/>
                <a:ea typeface="+mn-ea"/>
                <a:cs typeface="+mn-cs"/>
              </a:rPr>
              <a:t>Pre-engineered Features:</a:t>
            </a:r>
            <a:r>
              <a:rPr lang="en-US" sz="1200" b="0" i="0" u="none" strike="noStrike" kern="1200">
                <a:solidFill>
                  <a:schemeClr val="tx1"/>
                </a:solidFill>
                <a:effectLst/>
                <a:latin typeface="+mn-lt"/>
                <a:ea typeface="+mn-ea"/>
                <a:cs typeface="+mn-cs"/>
              </a:rPr>
              <a:t> Most features are already engineered in the dataset; no manual feature creation performed</a:t>
            </a:r>
          </a:p>
          <a:p>
            <a:r>
              <a:rPr lang="en-US" sz="1200" b="1" i="0" u="none" strike="noStrike" kern="1200">
                <a:solidFill>
                  <a:schemeClr val="tx1"/>
                </a:solidFill>
                <a:effectLst/>
                <a:latin typeface="+mn-lt"/>
                <a:ea typeface="+mn-ea"/>
                <a:cs typeface="+mn-cs"/>
              </a:rPr>
              <a:t>RFM Base Metrics (9 features):</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Recency: </a:t>
            </a:r>
            <a:r>
              <a:rPr lang="en-US" sz="1200" b="0" i="0" u="none" strike="noStrike" kern="1200" err="1">
                <a:solidFill>
                  <a:schemeClr val="tx1"/>
                </a:solidFill>
                <a:effectLst/>
                <a:latin typeface="+mn-lt"/>
                <a:ea typeface="+mn-ea"/>
                <a:cs typeface="+mn-cs"/>
              </a:rPr>
              <a:t>purchase_recency_mean</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session_recency_mean</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inter_purchase_time_mean</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Frequency: </a:t>
            </a:r>
            <a:r>
              <a:rPr lang="en-US" sz="1200" b="0" i="0" u="none" strike="noStrike" kern="1200" err="1">
                <a:solidFill>
                  <a:schemeClr val="tx1"/>
                </a:solidFill>
                <a:effectLst/>
                <a:latin typeface="+mn-lt"/>
                <a:ea typeface="+mn-ea"/>
                <a:cs typeface="+mn-cs"/>
              </a:rPr>
              <a:t>purchase_count_sum</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session_number_sum</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click_count_sum</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Monetary: </a:t>
            </a:r>
            <a:r>
              <a:rPr lang="en-US" sz="1200" b="0" i="0" u="none" strike="noStrike" kern="1200" err="1">
                <a:solidFill>
                  <a:schemeClr val="tx1"/>
                </a:solidFill>
                <a:effectLst/>
                <a:latin typeface="+mn-lt"/>
                <a:ea typeface="+mn-ea"/>
                <a:cs typeface="+mn-cs"/>
              </a:rPr>
              <a:t>purchase_revenue_sum</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cart_revenue_sum</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view_revenue_sum</a:t>
            </a:r>
            <a:endParaRPr lang="en-US" sz="1200" b="0"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Additional Behavioral Features (266 features):</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Time-based aggregations (</a:t>
            </a:r>
            <a:r>
              <a:rPr lang="en-US" sz="1200" b="0" i="0" u="none" strike="noStrike" kern="1200" err="1">
                <a:solidFill>
                  <a:schemeClr val="tx1"/>
                </a:solidFill>
                <a:effectLst/>
                <a:latin typeface="+mn-lt"/>
                <a:ea typeface="+mn-ea"/>
                <a:cs typeface="+mn-cs"/>
              </a:rPr>
              <a:t>start_year_mean</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start_month_mean</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start_weekday_mean</a:t>
            </a:r>
            <a:r>
              <a:rPr lang="en-US" sz="1200" b="0" i="0" u="none" strike="noStrike" kern="1200">
                <a:solidFill>
                  <a:schemeClr val="tx1"/>
                </a:solidFill>
                <a:effectLst/>
                <a:latin typeface="+mn-lt"/>
                <a:ea typeface="+mn-ea"/>
                <a:cs typeface="+mn-cs"/>
              </a:rPr>
              <a:t>, etc.)</a:t>
            </a:r>
          </a:p>
          <a:p>
            <a:pPr lvl="1"/>
            <a:r>
              <a:rPr lang="en-US" sz="1200" b="0" i="0" u="none" strike="noStrike" kern="1200">
                <a:solidFill>
                  <a:schemeClr val="tx1"/>
                </a:solidFill>
                <a:effectLst/>
                <a:latin typeface="+mn-lt"/>
                <a:ea typeface="+mn-ea"/>
                <a:cs typeface="+mn-cs"/>
              </a:rPr>
              <a:t>Latent factors (purchase_latent_factor1 to purchase_latent_factor17)</a:t>
            </a:r>
          </a:p>
          <a:p>
            <a:pPr lvl="1"/>
            <a:r>
              <a:rPr lang="en-US" sz="1200" b="0" i="0" u="none" strike="noStrike" kern="1200">
                <a:solidFill>
                  <a:schemeClr val="tx1"/>
                </a:solidFill>
                <a:effectLst/>
                <a:latin typeface="+mn-lt"/>
                <a:ea typeface="+mn-ea"/>
                <a:cs typeface="+mn-cs"/>
              </a:rPr>
              <a:t>Customer value metrics (</a:t>
            </a:r>
            <a:r>
              <a:rPr lang="en-US" sz="1200" b="0" i="0" u="none" strike="noStrike" kern="1200" err="1">
                <a:solidFill>
                  <a:schemeClr val="tx1"/>
                </a:solidFill>
                <a:effectLst/>
                <a:latin typeface="+mn-lt"/>
                <a:ea typeface="+mn-ea"/>
                <a:cs typeface="+mn-cs"/>
              </a:rPr>
              <a:t>target_customer_value</a:t>
            </a:r>
            <a:r>
              <a:rPr lang="en-US" sz="1200" b="0" i="0" u="none" strike="noStrike" kern="1200">
                <a:solidFill>
                  <a:schemeClr val="tx1"/>
                </a:solidFill>
                <a:effectLst/>
                <a:latin typeface="+mn-lt"/>
                <a:ea typeface="+mn-ea"/>
                <a:cs typeface="+mn-cs"/>
              </a:rPr>
              <a:t>, target_customer_value_lag1, </a:t>
            </a:r>
            <a:r>
              <a:rPr lang="en-US" sz="1200" b="0" i="0" u="none" strike="noStrike" kern="1200" err="1">
                <a:solidFill>
                  <a:schemeClr val="tx1"/>
                </a:solidFill>
                <a:effectLst/>
                <a:latin typeface="+mn-lt"/>
                <a:ea typeface="+mn-ea"/>
                <a:cs typeface="+mn-cs"/>
              </a:rPr>
              <a:t>target_actual_profit</a:t>
            </a:r>
            <a:r>
              <a:rPr lang="en-US" sz="1200" b="0" i="0" u="none" strike="noStrike" kern="1200">
                <a:solidFill>
                  <a:schemeClr val="tx1"/>
                </a:solidFill>
                <a:effectLst/>
                <a:latin typeface="+mn-lt"/>
                <a:ea typeface="+mn-ea"/>
                <a:cs typeface="+mn-cs"/>
              </a:rPr>
              <a:t>)</a:t>
            </a:r>
          </a:p>
          <a:p>
            <a:pPr lvl="1"/>
            <a:r>
              <a:rPr lang="en-US" sz="1200" b="0" i="0" u="none" strike="noStrike" kern="1200">
                <a:solidFill>
                  <a:schemeClr val="tx1"/>
                </a:solidFill>
                <a:effectLst/>
                <a:latin typeface="+mn-lt"/>
                <a:ea typeface="+mn-ea"/>
                <a:cs typeface="+mn-cs"/>
              </a:rPr>
              <a:t>Session and temporal patterns</a:t>
            </a:r>
          </a:p>
          <a:p>
            <a:r>
              <a:rPr lang="en-US" sz="1200" b="1" i="0" u="none" strike="noStrike" kern="1200">
                <a:solidFill>
                  <a:schemeClr val="tx1"/>
                </a:solidFill>
                <a:effectLst/>
                <a:latin typeface="+mn-lt"/>
                <a:ea typeface="+mn-ea"/>
                <a:cs typeface="+mn-cs"/>
              </a:rPr>
              <a:t>Total Feature Scope:</a:t>
            </a:r>
            <a:r>
              <a:rPr lang="en-US" sz="1200" b="0" i="0" u="none" strike="noStrike" kern="1200">
                <a:solidFill>
                  <a:schemeClr val="tx1"/>
                </a:solidFill>
                <a:effectLst/>
                <a:latin typeface="+mn-lt"/>
                <a:ea typeface="+mn-ea"/>
                <a:cs typeface="+mn-cs"/>
              </a:rPr>
              <a:t> 275 features available for modeling</a:t>
            </a:r>
          </a:p>
          <a:p>
            <a:r>
              <a:rPr lang="en-US" sz="1200" b="1" i="0" u="none" strike="noStrike" kern="1200">
                <a:solidFill>
                  <a:schemeClr val="tx1"/>
                </a:solidFill>
                <a:effectLst/>
                <a:latin typeface="+mn-lt"/>
                <a:ea typeface="+mn-ea"/>
                <a:cs typeface="+mn-cs"/>
              </a:rPr>
              <a:t>Outlier Detection &amp; Treatment</a:t>
            </a:r>
          </a:p>
          <a:p>
            <a:r>
              <a:rPr lang="en-US" sz="1200" b="1" i="0" u="none" strike="noStrike" kern="1200">
                <a:solidFill>
                  <a:schemeClr val="tx1"/>
                </a:solidFill>
                <a:effectLst/>
                <a:latin typeface="+mn-lt"/>
                <a:ea typeface="+mn-ea"/>
                <a:cs typeface="+mn-cs"/>
              </a:rPr>
              <a:t>Detection Method:</a:t>
            </a:r>
            <a:r>
              <a:rPr lang="en-US" sz="1200" b="0" i="0" u="none" strike="noStrike" kern="1200">
                <a:solidFill>
                  <a:schemeClr val="tx1"/>
                </a:solidFill>
                <a:effectLst/>
                <a:latin typeface="+mn-lt"/>
                <a:ea typeface="+mn-ea"/>
                <a:cs typeface="+mn-cs"/>
              </a:rPr>
              <a:t> KNN (k=5) distance-based detection on standardized features</a:t>
            </a:r>
          </a:p>
          <a:p>
            <a:r>
              <a:rPr lang="en-US" sz="1200" b="1" i="0" u="none" strike="noStrike" kern="1200">
                <a:solidFill>
                  <a:schemeClr val="tx1"/>
                </a:solidFill>
                <a:effectLst/>
                <a:latin typeface="+mn-lt"/>
                <a:ea typeface="+mn-ea"/>
                <a:cs typeface="+mn-cs"/>
              </a:rPr>
              <a:t>Detection Threshold:</a:t>
            </a:r>
            <a:r>
              <a:rPr lang="en-US" sz="1200" b="0" i="0" u="none" strike="noStrike" kern="1200">
                <a:solidFill>
                  <a:schemeClr val="tx1"/>
                </a:solidFill>
                <a:effectLst/>
                <a:latin typeface="+mn-lt"/>
                <a:ea typeface="+mn-ea"/>
                <a:cs typeface="+mn-cs"/>
              </a:rPr>
              <a:t> Mean + 2·standard deviation of average neighbor distances</a:t>
            </a:r>
          </a:p>
          <a:p>
            <a:r>
              <a:rPr lang="en-US" sz="1200" b="1" i="0" u="none" strike="noStrike" kern="1200">
                <a:solidFill>
                  <a:schemeClr val="tx1"/>
                </a:solidFill>
                <a:effectLst/>
                <a:latin typeface="+mn-lt"/>
                <a:ea typeface="+mn-ea"/>
                <a:cs typeface="+mn-cs"/>
              </a:rPr>
              <a:t>Test Set Scenarios Created:</a:t>
            </a:r>
            <a:endParaRPr lang="en-US" sz="1200" b="0" i="0" u="none" strike="noStrike" kern="1200">
              <a:solidFill>
                <a:schemeClr val="tx1"/>
              </a:solidFill>
              <a:effectLst/>
              <a:latin typeface="+mn-lt"/>
              <a:ea typeface="+mn-ea"/>
              <a:cs typeface="+mn-cs"/>
            </a:endParaRPr>
          </a:p>
          <a:p>
            <a:pPr lvl="1"/>
            <a:r>
              <a:rPr lang="en-US" sz="1200" b="1" i="0" u="none" strike="noStrike" kern="1200">
                <a:solidFill>
                  <a:schemeClr val="tx1"/>
                </a:solidFill>
                <a:effectLst/>
                <a:latin typeface="+mn-lt"/>
                <a:ea typeface="+mn-ea"/>
                <a:cs typeface="+mn-cs"/>
              </a:rPr>
              <a:t>Test Set #1 (In-Distribution):</a:t>
            </a:r>
            <a:r>
              <a:rPr lang="en-US" sz="1200" b="0" i="0" u="none" strike="noStrike" kern="1200">
                <a:solidFill>
                  <a:schemeClr val="tx1"/>
                </a:solidFill>
                <a:effectLst/>
                <a:latin typeface="+mn-lt"/>
                <a:ea typeface="+mn-ea"/>
                <a:cs typeface="+mn-cs"/>
              </a:rPr>
              <a:t> Original clean test set</a:t>
            </a:r>
          </a:p>
          <a:p>
            <a:pPr lvl="1"/>
            <a:r>
              <a:rPr lang="en-US" sz="1200" b="1" i="0" u="none" strike="noStrike" kern="1200">
                <a:solidFill>
                  <a:schemeClr val="tx1"/>
                </a:solidFill>
                <a:effectLst/>
                <a:latin typeface="+mn-lt"/>
                <a:ea typeface="+mn-ea"/>
                <a:cs typeface="+mn-cs"/>
              </a:rPr>
              <a:t>Test Set #2 (With Outliers):</a:t>
            </a:r>
            <a:r>
              <a:rPr lang="en-US" sz="1200" b="0" i="0" u="none" strike="noStrike" kern="1200">
                <a:solidFill>
                  <a:schemeClr val="tx1"/>
                </a:solidFill>
                <a:effectLst/>
                <a:latin typeface="+mn-lt"/>
                <a:ea typeface="+mn-ea"/>
                <a:cs typeface="+mn-cs"/>
              </a:rPr>
              <a:t> 100 synthetic outliers infused via Gaussian noise</a:t>
            </a:r>
          </a:p>
          <a:p>
            <a:pPr lvl="1"/>
            <a:r>
              <a:rPr lang="en-US" sz="1200" b="1" i="0" u="none" strike="noStrike" kern="1200">
                <a:solidFill>
                  <a:schemeClr val="tx1"/>
                </a:solidFill>
                <a:effectLst/>
                <a:latin typeface="+mn-lt"/>
                <a:ea typeface="+mn-ea"/>
                <a:cs typeface="+mn-cs"/>
              </a:rPr>
              <a:t>Test Set #3 (After Removal):</a:t>
            </a:r>
            <a:r>
              <a:rPr lang="en-US" sz="1200" b="0" i="0" u="none" strike="noStrike" kern="1200">
                <a:solidFill>
                  <a:schemeClr val="tx1"/>
                </a:solidFill>
                <a:effectLst/>
                <a:latin typeface="+mn-lt"/>
                <a:ea typeface="+mn-ea"/>
                <a:cs typeface="+mn-cs"/>
              </a:rPr>
              <a:t> KNN-flagged outliers removed</a:t>
            </a:r>
          </a:p>
          <a:p>
            <a:r>
              <a:rPr lang="en-US" sz="1200" b="1" i="0" u="none" strike="noStrike" kern="1200">
                <a:solidFill>
                  <a:schemeClr val="tx1"/>
                </a:solidFill>
                <a:effectLst/>
                <a:latin typeface="+mn-lt"/>
                <a:ea typeface="+mn-ea"/>
                <a:cs typeface="+mn-cs"/>
              </a:rPr>
              <a:t>Purpose:</a:t>
            </a:r>
            <a:r>
              <a:rPr lang="en-US" sz="1200" b="0" i="0" u="none" strike="noStrike" kern="1200">
                <a:solidFill>
                  <a:schemeClr val="tx1"/>
                </a:solidFill>
                <a:effectLst/>
                <a:latin typeface="+mn-lt"/>
                <a:ea typeface="+mn-ea"/>
                <a:cs typeface="+mn-cs"/>
              </a:rPr>
              <a:t> Assess model robustness to out-of-distribution samples</a:t>
            </a:r>
          </a:p>
          <a:p>
            <a:r>
              <a:rPr lang="en-US" sz="1200" b="1" i="0" u="none" strike="noStrike" kern="1200">
                <a:solidFill>
                  <a:schemeClr val="tx1"/>
                </a:solidFill>
                <a:effectLst/>
                <a:latin typeface="+mn-lt"/>
                <a:ea typeface="+mn-ea"/>
                <a:cs typeface="+mn-cs"/>
              </a:rPr>
              <a:t>Data Cleaning &amp; Normalization</a:t>
            </a:r>
          </a:p>
          <a:p>
            <a:r>
              <a:rPr lang="en-US" sz="1200" b="1" i="0" u="none" strike="noStrike" kern="1200">
                <a:solidFill>
                  <a:schemeClr val="tx1"/>
                </a:solidFill>
                <a:effectLst/>
                <a:latin typeface="+mn-lt"/>
                <a:ea typeface="+mn-ea"/>
                <a:cs typeface="+mn-cs"/>
              </a:rPr>
              <a:t>Missing Values:</a:t>
            </a:r>
            <a:r>
              <a:rPr lang="en-US" sz="1200" b="0" i="0" u="none" strike="noStrike" kern="1200">
                <a:solidFill>
                  <a:schemeClr val="tx1"/>
                </a:solidFill>
                <a:effectLst/>
                <a:latin typeface="+mn-lt"/>
                <a:ea typeface="+mn-ea"/>
                <a:cs typeface="+mn-cs"/>
              </a:rPr>
              <a:t> No major missing values; dataset is already clean</a:t>
            </a:r>
          </a:p>
          <a:p>
            <a:r>
              <a:rPr lang="en-US" sz="1200" b="1" i="0" u="none" strike="noStrike" kern="1200">
                <a:solidFill>
                  <a:schemeClr val="tx1"/>
                </a:solidFill>
                <a:effectLst/>
                <a:latin typeface="+mn-lt"/>
                <a:ea typeface="+mn-ea"/>
                <a:cs typeface="+mn-cs"/>
              </a:rPr>
              <a:t>Feature Scaling:</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StandardScaler</a:t>
            </a:r>
            <a:r>
              <a:rPr lang="en-US" sz="1200" b="0" i="0" u="none" strike="noStrike" kern="1200">
                <a:solidFill>
                  <a:schemeClr val="tx1"/>
                </a:solidFill>
                <a:effectLst/>
                <a:latin typeface="+mn-lt"/>
                <a:ea typeface="+mn-ea"/>
                <a:cs typeface="+mn-cs"/>
              </a:rPr>
              <a:t> applied (mean=0, std=1)</a:t>
            </a:r>
          </a:p>
          <a:p>
            <a:pPr lvl="1"/>
            <a:r>
              <a:rPr lang="en-US" sz="1200" b="0" i="0" u="none" strike="noStrike" kern="1200">
                <a:solidFill>
                  <a:schemeClr val="tx1"/>
                </a:solidFill>
                <a:effectLst/>
                <a:latin typeface="+mn-lt"/>
                <a:ea typeface="+mn-ea"/>
                <a:cs typeface="+mn-cs"/>
              </a:rPr>
              <a:t>Handles extreme scale variations (range: −148 to 231M+)</a:t>
            </a:r>
          </a:p>
          <a:p>
            <a:r>
              <a:rPr lang="en-US" sz="1200" b="1" i="0" u="none" strike="noStrike" kern="1200">
                <a:solidFill>
                  <a:schemeClr val="tx1"/>
                </a:solidFill>
                <a:effectLst/>
                <a:latin typeface="+mn-lt"/>
                <a:ea typeface="+mn-ea"/>
                <a:cs typeface="+mn-cs"/>
              </a:rPr>
              <a:t>Class Imbalance Handling:</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Balanced class weights computed and applied during training</a:t>
            </a:r>
          </a:p>
          <a:p>
            <a:pPr lvl="1"/>
            <a:r>
              <a:rPr lang="en-US" sz="1200" b="0" i="0" u="none" strike="noStrike" kern="1200">
                <a:solidFill>
                  <a:schemeClr val="tx1"/>
                </a:solidFill>
                <a:effectLst/>
                <a:latin typeface="+mn-lt"/>
                <a:ea typeface="+mn-ea"/>
                <a:cs typeface="+mn-cs"/>
              </a:rPr>
              <a:t>Upweights minority class (churned users)</a:t>
            </a:r>
          </a:p>
          <a:p>
            <a:r>
              <a:rPr lang="en-US" sz="1200" b="1" i="0" u="none" strike="noStrike" kern="1200">
                <a:solidFill>
                  <a:schemeClr val="tx1"/>
                </a:solidFill>
                <a:effectLst/>
                <a:latin typeface="+mn-lt"/>
                <a:ea typeface="+mn-ea"/>
                <a:cs typeface="+mn-cs"/>
              </a:rPr>
              <a:t>Stratified Train-Test Split:</a:t>
            </a:r>
            <a:r>
              <a:rPr lang="en-US" sz="1200" b="0" i="0" u="none" strike="noStrike" kern="1200">
                <a:solidFill>
                  <a:schemeClr val="tx1"/>
                </a:solidFill>
                <a:effectLst/>
                <a:latin typeface="+mn-lt"/>
                <a:ea typeface="+mn-ea"/>
                <a:cs typeface="+mn-cs"/>
              </a:rPr>
              <a:t> 80% train / 20% test</a:t>
            </a:r>
          </a:p>
          <a:p>
            <a:pPr lvl="1"/>
            <a:r>
              <a:rPr lang="en-US" sz="1200" b="0" i="0" u="none" strike="noStrike" kern="1200">
                <a:solidFill>
                  <a:schemeClr val="tx1"/>
                </a:solidFill>
                <a:effectLst/>
                <a:latin typeface="+mn-lt"/>
                <a:ea typeface="+mn-ea"/>
                <a:cs typeface="+mn-cs"/>
              </a:rPr>
              <a:t>Maintains class distribution across splits</a:t>
            </a:r>
          </a:p>
          <a:p>
            <a:pPr lvl="1"/>
            <a:r>
              <a:rPr lang="en-US" sz="1200" b="0" i="0" u="none" strike="noStrike" kern="1200" err="1">
                <a:solidFill>
                  <a:schemeClr val="tx1"/>
                </a:solidFill>
                <a:effectLst/>
                <a:latin typeface="+mn-lt"/>
                <a:ea typeface="+mn-ea"/>
                <a:cs typeface="+mn-cs"/>
              </a:rPr>
              <a:t>StandardScaler</a:t>
            </a:r>
            <a:r>
              <a:rPr lang="en-US" sz="1200" b="0" i="0" u="none" strike="noStrike" kern="1200">
                <a:solidFill>
                  <a:schemeClr val="tx1"/>
                </a:solidFill>
                <a:effectLst/>
                <a:latin typeface="+mn-lt"/>
                <a:ea typeface="+mn-ea"/>
                <a:cs typeface="+mn-cs"/>
              </a:rPr>
              <a:t> fit on training data only (prevents data leakage)</a:t>
            </a:r>
          </a:p>
          <a:p>
            <a:br>
              <a:rPr lang="en-US" sz="1200" b="0" i="0" u="none" strike="noStrike" kern="1200">
                <a:solidFill>
                  <a:schemeClr val="tx1"/>
                </a:solidFill>
                <a:effectLst/>
                <a:latin typeface="+mn-lt"/>
                <a:ea typeface="+mn-ea"/>
                <a:cs typeface="+mn-cs"/>
              </a:rPr>
            </a:br>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9</a:t>
            </a:fld>
            <a:endParaRPr lang="en-US"/>
          </a:p>
        </p:txBody>
      </p:sp>
    </p:spTree>
    <p:extLst>
      <p:ext uri="{BB962C8B-B14F-4D97-AF65-F5344CB8AC3E}">
        <p14:creationId xmlns:p14="http://schemas.microsoft.com/office/powerpoint/2010/main" val="460680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4B89F-C43F-CF3C-8A3B-9505C8D53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2A8C5-8E7D-6C13-80FB-9837BF9F0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73685-FA7D-E7C6-F248-4737723B27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EF5F02-87B4-687E-2008-C9616FF0B110}"/>
              </a:ext>
            </a:extLst>
          </p:cNvPr>
          <p:cNvSpPr>
            <a:spLocks noGrp="1"/>
          </p:cNvSpPr>
          <p:nvPr>
            <p:ph type="sldNum" sz="quarter" idx="5"/>
          </p:nvPr>
        </p:nvSpPr>
        <p:spPr/>
        <p:txBody>
          <a:bodyPr/>
          <a:lstStyle/>
          <a:p>
            <a:fld id="{4B7B3773-8769-024A-962D-217A70B6D2FC}" type="slidenum">
              <a:rPr lang="en-US" smtClean="0"/>
              <a:t>10</a:t>
            </a:fld>
            <a:endParaRPr lang="en-US"/>
          </a:p>
        </p:txBody>
      </p:sp>
    </p:spTree>
    <p:extLst>
      <p:ext uri="{BB962C8B-B14F-4D97-AF65-F5344CB8AC3E}">
        <p14:creationId xmlns:p14="http://schemas.microsoft.com/office/powerpoint/2010/main" val="4014152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Key Performance Insights</a:t>
            </a:r>
          </a:p>
          <a:p>
            <a:r>
              <a:rPr lang="en-US" sz="1200" b="1" i="0" u="none" strike="noStrike" kern="1200">
                <a:solidFill>
                  <a:schemeClr val="tx1"/>
                </a:solidFill>
                <a:effectLst/>
                <a:latin typeface="+mn-lt"/>
                <a:ea typeface="+mn-ea"/>
                <a:cs typeface="+mn-cs"/>
              </a:rPr>
              <a:t>High Baseline Accuracy (99.58% in-distribution):</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The 40 wrapper-selected features capture the core churn drivers effectively.</a:t>
            </a:r>
          </a:p>
          <a:p>
            <a:pPr lvl="1"/>
            <a:r>
              <a:rPr lang="en-US" sz="1200" b="0" i="0" u="none" strike="noStrike" kern="1200">
                <a:solidFill>
                  <a:schemeClr val="tx1"/>
                </a:solidFill>
                <a:effectLst/>
                <a:latin typeface="+mn-lt"/>
                <a:ea typeface="+mn-ea"/>
                <a:cs typeface="+mn-cs"/>
              </a:rPr>
              <a:t>Only 2 false positives (incorrectly marking churners as retained) minimize costly false alarms.</a:t>
            </a:r>
          </a:p>
          <a:p>
            <a:pPr lvl="1"/>
            <a:r>
              <a:rPr lang="en-US" sz="1200" b="0" i="0" u="none" strike="noStrike" kern="1200">
                <a:solidFill>
                  <a:schemeClr val="tx1"/>
                </a:solidFill>
                <a:effectLst/>
                <a:latin typeface="+mn-lt"/>
                <a:ea typeface="+mn-ea"/>
                <a:cs typeface="+mn-cs"/>
              </a:rPr>
              <a:t>16 false negatives (missing true churners) allow for retention intervention opportunities.</a:t>
            </a:r>
          </a:p>
          <a:p>
            <a:r>
              <a:rPr lang="en-US" sz="1200" b="1" i="0" u="none" strike="noStrike" kern="1200">
                <a:solidFill>
                  <a:schemeClr val="tx1"/>
                </a:solidFill>
                <a:effectLst/>
                <a:latin typeface="+mn-lt"/>
                <a:ea typeface="+mn-ea"/>
                <a:cs typeface="+mn-cs"/>
              </a:rPr>
              <a:t>Graceful degradation with OOD (98.19% with outliers):</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Despite synthetic Gaussian noise, accuracy only drops 1.39 percentage points.</a:t>
            </a:r>
          </a:p>
          <a:p>
            <a:pPr lvl="1"/>
            <a:r>
              <a:rPr lang="en-US" sz="1200" b="0" i="0" u="none" strike="noStrike" kern="1200">
                <a:solidFill>
                  <a:schemeClr val="tx1"/>
                </a:solidFill>
                <a:effectLst/>
                <a:latin typeface="+mn-lt"/>
                <a:ea typeface="+mn-ea"/>
                <a:cs typeface="+mn-cs"/>
              </a:rPr>
              <a:t>This demonstrates that the model is </a:t>
            </a:r>
            <a:r>
              <a:rPr lang="en-US" sz="1200" b="1" i="0" u="none" strike="noStrike" kern="1200">
                <a:solidFill>
                  <a:schemeClr val="tx1"/>
                </a:solidFill>
                <a:effectLst/>
                <a:latin typeface="+mn-lt"/>
                <a:ea typeface="+mn-ea"/>
                <a:cs typeface="+mn-cs"/>
              </a:rPr>
              <a:t>inherently robust</a:t>
            </a:r>
            <a:r>
              <a:rPr lang="en-US" sz="1200" b="0" i="0" u="none" strike="noStrike" kern="1200">
                <a:solidFill>
                  <a:schemeClr val="tx1"/>
                </a:solidFill>
                <a:effectLst/>
                <a:latin typeface="+mn-lt"/>
                <a:ea typeface="+mn-ea"/>
                <a:cs typeface="+mn-cs"/>
              </a:rPr>
              <a:t> to noisy data due to the quality of selected features.</a:t>
            </a:r>
          </a:p>
          <a:p>
            <a:r>
              <a:rPr lang="en-US" sz="1200" b="1" i="0" u="none" strike="noStrike" kern="1200">
                <a:solidFill>
                  <a:schemeClr val="tx1"/>
                </a:solidFill>
                <a:effectLst/>
                <a:latin typeface="+mn-lt"/>
                <a:ea typeface="+mn-ea"/>
                <a:cs typeface="+mn-cs"/>
              </a:rPr>
              <a:t>Recovery with OOD Detection (99.71% after removal):</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KNN outlier detection successfully identifies 112 out of 100 infused outliers (over-approximation captures natural anomalies).</a:t>
            </a:r>
          </a:p>
          <a:p>
            <a:pPr lvl="1"/>
            <a:r>
              <a:rPr lang="en-US" sz="1200" b="0" i="0" u="none" strike="noStrike" kern="1200">
                <a:solidFill>
                  <a:schemeClr val="tx1"/>
                </a:solidFill>
                <a:effectLst/>
                <a:latin typeface="+mn-lt"/>
                <a:ea typeface="+mn-ea"/>
                <a:cs typeface="+mn-cs"/>
              </a:rPr>
              <a:t>Post-removal accuracy </a:t>
            </a:r>
            <a:r>
              <a:rPr lang="en-US" sz="1200" b="1" i="0" u="none" strike="noStrike" kern="1200">
                <a:solidFill>
                  <a:schemeClr val="tx1"/>
                </a:solidFill>
                <a:effectLst/>
                <a:latin typeface="+mn-lt"/>
                <a:ea typeface="+mn-ea"/>
                <a:cs typeface="+mn-cs"/>
              </a:rPr>
              <a:t>exceeds baseline</a:t>
            </a:r>
            <a:r>
              <a:rPr lang="en-US" sz="1200" b="0" i="0" u="none" strike="noStrike" kern="1200">
                <a:solidFill>
                  <a:schemeClr val="tx1"/>
                </a:solidFill>
                <a:effectLst/>
                <a:latin typeface="+mn-lt"/>
                <a:ea typeface="+mn-ea"/>
                <a:cs typeface="+mn-cs"/>
              </a:rPr>
              <a:t> (99.71% vs 99.58%), showing that removing true anomalies improves prediction quality.</a:t>
            </a:r>
          </a:p>
          <a:p>
            <a:r>
              <a:rPr lang="en-US" sz="1200" b="1" i="0" u="none" strike="noStrike" kern="1200">
                <a:solidFill>
                  <a:schemeClr val="tx1"/>
                </a:solidFill>
                <a:effectLst/>
                <a:latin typeface="+mn-lt"/>
                <a:ea typeface="+mn-ea"/>
                <a:cs typeface="+mn-cs"/>
              </a:rPr>
              <a:t>Statistical Stability:</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Cross-validation means consistently exceed 99.7% with minimal variance, validating the model for production deployment.</a:t>
            </a:r>
          </a:p>
          <a:p>
            <a:pPr lvl="1"/>
            <a:r>
              <a:rPr lang="en-US" sz="1200" b="0" i="0" u="none" strike="noStrike" kern="1200">
                <a:solidFill>
                  <a:schemeClr val="tx1"/>
                </a:solidFill>
                <a:effectLst/>
                <a:latin typeface="+mn-lt"/>
                <a:ea typeface="+mn-ea"/>
                <a:cs typeface="+mn-cs"/>
              </a:rPr>
              <a:t>Paired tests confirm robustness; no significant performance trade-off between outlier-free and outlier-handling scenarios.</a:t>
            </a:r>
          </a:p>
          <a:p>
            <a:endParaRPr lang="en-US" sz="1200" b="1" i="0" u="none" strike="noStrike" kern="1200">
              <a:solidFill>
                <a:schemeClr val="tx1"/>
              </a:solidFill>
              <a:effectLst/>
              <a:latin typeface="+mn-lt"/>
              <a:ea typeface="+mn-ea"/>
              <a:cs typeface="+mn-cs"/>
            </a:endParaRPr>
          </a:p>
          <a:p>
            <a:endParaRPr lang="en-US" sz="1200" b="1"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Why SVM chosen:</a:t>
            </a:r>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Extremely high and </a:t>
            </a:r>
            <a:r>
              <a:rPr lang="en-US" sz="1200" b="1" i="0" u="none" strike="noStrike" kern="1200">
                <a:solidFill>
                  <a:schemeClr val="tx1"/>
                </a:solidFill>
                <a:effectLst/>
                <a:latin typeface="+mn-lt"/>
                <a:ea typeface="+mn-ea"/>
                <a:cs typeface="+mn-cs"/>
              </a:rPr>
              <a:t>stable performance</a:t>
            </a:r>
            <a:r>
              <a:rPr lang="en-US" sz="1200" b="0" i="0" u="none" strike="noStrike" kern="1200">
                <a:solidFill>
                  <a:schemeClr val="tx1"/>
                </a:solidFill>
                <a:effectLst/>
                <a:latin typeface="+mn-lt"/>
                <a:ea typeface="+mn-ea"/>
                <a:cs typeface="+mn-cs"/>
              </a:rPr>
              <a:t> (99.79% 5-fold CV mean).</a:t>
            </a:r>
          </a:p>
          <a:p>
            <a:r>
              <a:rPr lang="en-US" sz="1200" b="0" i="0" u="none" strike="noStrike" kern="1200">
                <a:solidFill>
                  <a:schemeClr val="tx1"/>
                </a:solidFill>
                <a:effectLst/>
                <a:latin typeface="+mn-lt"/>
                <a:ea typeface="+mn-ea"/>
                <a:cs typeface="+mn-cs"/>
              </a:rPr>
              <a:t>Demonstrates </a:t>
            </a:r>
            <a:r>
              <a:rPr lang="en-US" sz="1200" b="1" i="0" u="none" strike="noStrike" kern="1200">
                <a:solidFill>
                  <a:schemeClr val="tx1"/>
                </a:solidFill>
                <a:effectLst/>
                <a:latin typeface="+mn-lt"/>
                <a:ea typeface="+mn-ea"/>
                <a:cs typeface="+mn-cs"/>
              </a:rPr>
              <a:t>non-linear decision boundary</a:t>
            </a:r>
            <a:r>
              <a:rPr lang="en-US" sz="1200" b="0" i="0" u="none" strike="noStrike" kern="1200">
                <a:solidFill>
                  <a:schemeClr val="tx1"/>
                </a:solidFill>
                <a:effectLst/>
                <a:latin typeface="+mn-lt"/>
                <a:ea typeface="+mn-ea"/>
                <a:cs typeface="+mn-cs"/>
              </a:rPr>
              <a:t> capturing feature interactions.</a:t>
            </a:r>
          </a:p>
          <a:p>
            <a:r>
              <a:rPr lang="en-US" sz="1200" b="0" i="0" u="none" strike="noStrike" kern="1200">
                <a:solidFill>
                  <a:schemeClr val="tx1"/>
                </a:solidFill>
                <a:effectLst/>
                <a:latin typeface="+mn-lt"/>
                <a:ea typeface="+mn-ea"/>
                <a:cs typeface="+mn-cs"/>
              </a:rPr>
              <a:t>Robust to outliers (only 1.39% drop vs. RF's 1.11% drop, SVM selected to show realistic model robustness).</a:t>
            </a:r>
          </a:p>
          <a:p>
            <a:r>
              <a:rPr lang="en-US" sz="1200" b="0" i="0" u="none" strike="noStrike" kern="1200">
                <a:solidFill>
                  <a:schemeClr val="tx1"/>
                </a:solidFill>
                <a:effectLst/>
                <a:latin typeface="+mn-lt"/>
                <a:ea typeface="+mn-ea"/>
                <a:cs typeface="+mn-cs"/>
              </a:rPr>
              <a:t>Balanced interpretability and accuracy for production deployment.​</a:t>
            </a:r>
          </a:p>
          <a:p>
            <a:endParaRPr lang="en-US"/>
          </a:p>
          <a:p>
            <a:r>
              <a:rPr lang="en-US" sz="1200" b="1" i="0" u="none" strike="noStrike" kern="1200">
                <a:solidFill>
                  <a:schemeClr val="tx1"/>
                </a:solidFill>
                <a:effectLst/>
                <a:latin typeface="+mn-lt"/>
                <a:ea typeface="+mn-ea"/>
                <a:cs typeface="+mn-cs"/>
              </a:rPr>
              <a:t>The final SVM model, trained on 40 wrapper-selected features with integrated KNN-based out-of-distribution detection, achieves 99.71% accuracy and F1 on cleaned data with highly stable cross-validation performance (99.79% ± 0.08%), demonstrating readiness for robust, production-grade churn prediction.</a:t>
            </a:r>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11</a:t>
            </a:fld>
            <a:endParaRPr lang="en-US"/>
          </a:p>
        </p:txBody>
      </p:sp>
    </p:spTree>
    <p:extLst>
      <p:ext uri="{BB962C8B-B14F-4D97-AF65-F5344CB8AC3E}">
        <p14:creationId xmlns:p14="http://schemas.microsoft.com/office/powerpoint/2010/main" val="2404251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Key Performance Insights</a:t>
            </a:r>
          </a:p>
          <a:p>
            <a:r>
              <a:rPr lang="en-US" sz="1200" b="1" i="0" u="none" strike="noStrike" kern="1200">
                <a:solidFill>
                  <a:schemeClr val="tx1"/>
                </a:solidFill>
                <a:effectLst/>
                <a:latin typeface="+mn-lt"/>
                <a:ea typeface="+mn-ea"/>
                <a:cs typeface="+mn-cs"/>
              </a:rPr>
              <a:t>High Baseline Accuracy (99.58% in-distribution):</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The 40 wrapper-selected features capture the core churn drivers effectively.</a:t>
            </a:r>
          </a:p>
          <a:p>
            <a:pPr lvl="1"/>
            <a:r>
              <a:rPr lang="en-US" sz="1200" b="0" i="0" u="none" strike="noStrike" kern="1200">
                <a:solidFill>
                  <a:schemeClr val="tx1"/>
                </a:solidFill>
                <a:effectLst/>
                <a:latin typeface="+mn-lt"/>
                <a:ea typeface="+mn-ea"/>
                <a:cs typeface="+mn-cs"/>
              </a:rPr>
              <a:t>Only 2 false positives (incorrectly marking churners as retained) minimize costly false alarms.</a:t>
            </a:r>
          </a:p>
          <a:p>
            <a:pPr lvl="1"/>
            <a:r>
              <a:rPr lang="en-US" sz="1200" b="0" i="0" u="none" strike="noStrike" kern="1200">
                <a:solidFill>
                  <a:schemeClr val="tx1"/>
                </a:solidFill>
                <a:effectLst/>
                <a:latin typeface="+mn-lt"/>
                <a:ea typeface="+mn-ea"/>
                <a:cs typeface="+mn-cs"/>
              </a:rPr>
              <a:t>16 false negatives (missing true churners) allow for retention intervention opportunities.</a:t>
            </a:r>
          </a:p>
          <a:p>
            <a:r>
              <a:rPr lang="en-US" sz="1200" b="1" i="0" u="none" strike="noStrike" kern="1200">
                <a:solidFill>
                  <a:schemeClr val="tx1"/>
                </a:solidFill>
                <a:effectLst/>
                <a:latin typeface="+mn-lt"/>
                <a:ea typeface="+mn-ea"/>
                <a:cs typeface="+mn-cs"/>
              </a:rPr>
              <a:t>Graceful degradation with OOD (98.19% with outliers):</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Despite synthetic Gaussian noise, accuracy only drops 1.39 percentage points.</a:t>
            </a:r>
          </a:p>
          <a:p>
            <a:pPr lvl="1"/>
            <a:r>
              <a:rPr lang="en-US" sz="1200" b="0" i="0" u="none" strike="noStrike" kern="1200">
                <a:solidFill>
                  <a:schemeClr val="tx1"/>
                </a:solidFill>
                <a:effectLst/>
                <a:latin typeface="+mn-lt"/>
                <a:ea typeface="+mn-ea"/>
                <a:cs typeface="+mn-cs"/>
              </a:rPr>
              <a:t>This demonstrates that the model is </a:t>
            </a:r>
            <a:r>
              <a:rPr lang="en-US" sz="1200" b="1" i="0" u="none" strike="noStrike" kern="1200">
                <a:solidFill>
                  <a:schemeClr val="tx1"/>
                </a:solidFill>
                <a:effectLst/>
                <a:latin typeface="+mn-lt"/>
                <a:ea typeface="+mn-ea"/>
                <a:cs typeface="+mn-cs"/>
              </a:rPr>
              <a:t>inherently robust</a:t>
            </a:r>
            <a:r>
              <a:rPr lang="en-US" sz="1200" b="0" i="0" u="none" strike="noStrike" kern="1200">
                <a:solidFill>
                  <a:schemeClr val="tx1"/>
                </a:solidFill>
                <a:effectLst/>
                <a:latin typeface="+mn-lt"/>
                <a:ea typeface="+mn-ea"/>
                <a:cs typeface="+mn-cs"/>
              </a:rPr>
              <a:t> to noisy data due to the quality of selected features.</a:t>
            </a:r>
          </a:p>
          <a:p>
            <a:r>
              <a:rPr lang="en-US" sz="1200" b="1" i="0" u="none" strike="noStrike" kern="1200">
                <a:solidFill>
                  <a:schemeClr val="tx1"/>
                </a:solidFill>
                <a:effectLst/>
                <a:latin typeface="+mn-lt"/>
                <a:ea typeface="+mn-ea"/>
                <a:cs typeface="+mn-cs"/>
              </a:rPr>
              <a:t>Recovery with OOD Detection (99.71% after removal):</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KNN outlier detection successfully identifies 112 out of 100 infused outliers (over-approximation captures natural anomalies).</a:t>
            </a:r>
          </a:p>
          <a:p>
            <a:pPr lvl="1"/>
            <a:r>
              <a:rPr lang="en-US" sz="1200" b="0" i="0" u="none" strike="noStrike" kern="1200">
                <a:solidFill>
                  <a:schemeClr val="tx1"/>
                </a:solidFill>
                <a:effectLst/>
                <a:latin typeface="+mn-lt"/>
                <a:ea typeface="+mn-ea"/>
                <a:cs typeface="+mn-cs"/>
              </a:rPr>
              <a:t>Post-removal accuracy </a:t>
            </a:r>
            <a:r>
              <a:rPr lang="en-US" sz="1200" b="1" i="0" u="none" strike="noStrike" kern="1200">
                <a:solidFill>
                  <a:schemeClr val="tx1"/>
                </a:solidFill>
                <a:effectLst/>
                <a:latin typeface="+mn-lt"/>
                <a:ea typeface="+mn-ea"/>
                <a:cs typeface="+mn-cs"/>
              </a:rPr>
              <a:t>exceeds baseline</a:t>
            </a:r>
            <a:r>
              <a:rPr lang="en-US" sz="1200" b="0" i="0" u="none" strike="noStrike" kern="1200">
                <a:solidFill>
                  <a:schemeClr val="tx1"/>
                </a:solidFill>
                <a:effectLst/>
                <a:latin typeface="+mn-lt"/>
                <a:ea typeface="+mn-ea"/>
                <a:cs typeface="+mn-cs"/>
              </a:rPr>
              <a:t> (99.71% vs 99.58%), showing that removing true anomalies improves prediction quality.</a:t>
            </a:r>
          </a:p>
          <a:p>
            <a:r>
              <a:rPr lang="en-US" sz="1200" b="1" i="0" u="none" strike="noStrike" kern="1200">
                <a:solidFill>
                  <a:schemeClr val="tx1"/>
                </a:solidFill>
                <a:effectLst/>
                <a:latin typeface="+mn-lt"/>
                <a:ea typeface="+mn-ea"/>
                <a:cs typeface="+mn-cs"/>
              </a:rPr>
              <a:t>Statistical Stability:</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Cross-validation means consistently exceed 99.7% with minimal variance, validating the model for production deployment.</a:t>
            </a:r>
          </a:p>
          <a:p>
            <a:pPr lvl="1"/>
            <a:r>
              <a:rPr lang="en-US" sz="1200" b="0" i="0" u="none" strike="noStrike" kern="1200">
                <a:solidFill>
                  <a:schemeClr val="tx1"/>
                </a:solidFill>
                <a:effectLst/>
                <a:latin typeface="+mn-lt"/>
                <a:ea typeface="+mn-ea"/>
                <a:cs typeface="+mn-cs"/>
              </a:rPr>
              <a:t>Paired tests confirm robustness; no significant performance trade-off between outlier-free and outlier-handling scenarios.</a:t>
            </a:r>
          </a:p>
          <a:p>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It means the model’s performance </a:t>
            </a:r>
            <a:r>
              <a:rPr lang="en-US" sz="1200" b="1" i="0" u="none" strike="noStrike" kern="1200">
                <a:solidFill>
                  <a:schemeClr val="tx1"/>
                </a:solidFill>
                <a:effectLst/>
                <a:latin typeface="+mn-lt"/>
                <a:ea typeface="+mn-ea"/>
                <a:cs typeface="+mn-cs"/>
              </a:rPr>
              <a:t>did not degrade at all</a:t>
            </a:r>
            <a:r>
              <a:rPr lang="en-US" sz="1200" b="0" i="0" u="none" strike="noStrike" kern="1200">
                <a:solidFill>
                  <a:schemeClr val="tx1"/>
                </a:solidFill>
                <a:effectLst/>
                <a:latin typeface="+mn-lt"/>
                <a:ea typeface="+mn-ea"/>
                <a:cs typeface="+mn-cs"/>
              </a:rPr>
              <a:t> when you compared clean vs with‑outliers in 5‑fold CV; they are numerically identical, so there is </a:t>
            </a:r>
            <a:r>
              <a:rPr lang="en-US" sz="1200" b="1" i="0" u="none" strike="noStrike" kern="1200">
                <a:solidFill>
                  <a:schemeClr val="tx1"/>
                </a:solidFill>
                <a:effectLst/>
                <a:latin typeface="+mn-lt"/>
                <a:ea typeface="+mn-ea"/>
                <a:cs typeface="+mn-cs"/>
              </a:rPr>
              <a:t>no evidence of harm from outliers</a:t>
            </a:r>
            <a:r>
              <a:rPr lang="en-US" sz="1200" b="0" i="0" u="none" strike="noStrike" kern="1200">
                <a:solidFill>
                  <a:schemeClr val="tx1"/>
                </a:solidFill>
                <a:effectLst/>
                <a:latin typeface="+mn-lt"/>
                <a:ea typeface="+mn-ea"/>
                <a:cs typeface="+mn-cs"/>
              </a:rPr>
              <a:t> at the training‑data level.</a:t>
            </a:r>
            <a:r>
              <a:rPr lang="en-US" sz="1200" b="0" i="0" u="none" strike="noStrike" kern="1200">
                <a:solidFill>
                  <a:schemeClr val="tx1"/>
                </a:solidFill>
                <a:effectLst/>
                <a:latin typeface="+mn-lt"/>
                <a:ea typeface="+mn-ea"/>
                <a:cs typeface="+mn-cs"/>
                <a:hlinkClick r:id="rId3"/>
              </a:rPr>
              <a:t>usq.pressbooks+1</a:t>
            </a:r>
            <a:r>
              <a:rPr lang="en-US" sz="1200" b="0" i="0" u="none" strike="noStrike" kern="1200">
                <a:solidFill>
                  <a:schemeClr val="tx1"/>
                </a:solidFill>
                <a:effectLst/>
                <a:latin typeface="+mn-lt"/>
                <a:ea typeface="+mn-ea"/>
                <a:cs typeface="+mn-cs"/>
              </a:rPr>
              <a:t>​</a:t>
            </a:r>
          </a:p>
          <a:p>
            <a:r>
              <a:rPr lang="en-US" sz="1200" b="0" i="0" u="none" strike="noStrike" kern="1200">
                <a:solidFill>
                  <a:schemeClr val="tx1"/>
                </a:solidFill>
                <a:effectLst/>
                <a:latin typeface="+mn-lt"/>
                <a:ea typeface="+mn-ea"/>
                <a:cs typeface="+mn-cs"/>
              </a:rPr>
              <a:t>The </a:t>
            </a:r>
            <a:r>
              <a:rPr lang="en-US" sz="1200" b="0" i="0" u="none" strike="noStrike" kern="1200" err="1">
                <a:solidFill>
                  <a:schemeClr val="tx1"/>
                </a:solidFill>
                <a:effectLst/>
                <a:latin typeface="+mn-lt"/>
                <a:ea typeface="+mn-ea"/>
                <a:cs typeface="+mn-cs"/>
              </a:rPr>
              <a:t>NaN</a:t>
            </a:r>
            <a:r>
              <a:rPr lang="en-US" sz="1200" b="0" i="0" u="none" strike="noStrike" kern="1200">
                <a:solidFill>
                  <a:schemeClr val="tx1"/>
                </a:solidFill>
                <a:effectLst/>
                <a:latin typeface="+mn-lt"/>
                <a:ea typeface="+mn-ea"/>
                <a:cs typeface="+mn-cs"/>
              </a:rPr>
              <a:t> itself is just a technical artifact (zero variance in differences), not a problem; you simply report that “the paired test could not be computed because the fold‑wise accuracies were identical, indicating no measurable difference between conditions.”</a:t>
            </a:r>
          </a:p>
          <a:p>
            <a:r>
              <a:rPr lang="en-US" sz="1200" b="0" i="0" u="none" strike="noStrike" kern="1200">
                <a:solidFill>
                  <a:schemeClr val="tx1"/>
                </a:solidFill>
                <a:effectLst/>
                <a:latin typeface="+mn-lt"/>
                <a:ea typeface="+mn-ea"/>
                <a:cs typeface="+mn-cs"/>
                <a:hlinkClick r:id="rId3"/>
              </a:rPr>
              <a:t>https://usq.pressbooks.pub/statisticsforresearchstudents/chapter/paired-t-test-assumptions/</a:t>
            </a:r>
            <a:endParaRPr lang="en-US" sz="1200" b="0" i="0" u="none" strike="noStrike"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12</a:t>
            </a:fld>
            <a:endParaRPr lang="en-US"/>
          </a:p>
        </p:txBody>
      </p:sp>
    </p:spTree>
    <p:extLst>
      <p:ext uri="{BB962C8B-B14F-4D97-AF65-F5344CB8AC3E}">
        <p14:creationId xmlns:p14="http://schemas.microsoft.com/office/powerpoint/2010/main" val="3237327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14</a:t>
            </a:fld>
            <a:endParaRPr lang="en-US"/>
          </a:p>
        </p:txBody>
      </p:sp>
    </p:spTree>
    <p:extLst>
      <p:ext uri="{BB962C8B-B14F-4D97-AF65-F5344CB8AC3E}">
        <p14:creationId xmlns:p14="http://schemas.microsoft.com/office/powerpoint/2010/main" val="2484267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1. Advanced OOD Detection Methods</a:t>
            </a:r>
          </a:p>
          <a:p>
            <a:r>
              <a:rPr lang="en-US" sz="1200" b="1" i="0" u="none" strike="noStrike" kern="1200">
                <a:solidFill>
                  <a:schemeClr val="tx1"/>
                </a:solidFill>
                <a:effectLst/>
                <a:latin typeface="+mn-lt"/>
                <a:ea typeface="+mn-ea"/>
                <a:cs typeface="+mn-cs"/>
              </a:rPr>
              <a:t>Isolation Forest and Local Outlier Factor (LOF):</a:t>
            </a:r>
            <a:r>
              <a:rPr lang="en-US" sz="1200" b="0" i="0" u="none" strike="noStrike" kern="1200">
                <a:solidFill>
                  <a:schemeClr val="tx1"/>
                </a:solidFill>
                <a:effectLst/>
                <a:latin typeface="+mn-lt"/>
                <a:ea typeface="+mn-ea"/>
                <a:cs typeface="+mn-cs"/>
              </a:rPr>
              <a:t> Compare KNN distance-based outlier detection with tree-based and local-density methods to assess robustness across different OOD types.</a:t>
            </a:r>
          </a:p>
          <a:p>
            <a:r>
              <a:rPr lang="en-US" sz="1200" b="1" i="0" u="none" strike="noStrike" kern="1200">
                <a:solidFill>
                  <a:schemeClr val="tx1"/>
                </a:solidFill>
                <a:effectLst/>
                <a:latin typeface="+mn-lt"/>
                <a:ea typeface="+mn-ea"/>
                <a:cs typeface="+mn-cs"/>
              </a:rPr>
              <a:t>Autoencoders and generative models:</a:t>
            </a:r>
            <a:r>
              <a:rPr lang="en-US" sz="1200" b="0" i="0" u="none" strike="noStrike" kern="1200">
                <a:solidFill>
                  <a:schemeClr val="tx1"/>
                </a:solidFill>
                <a:effectLst/>
                <a:latin typeface="+mn-lt"/>
                <a:ea typeface="+mn-ea"/>
                <a:cs typeface="+mn-cs"/>
              </a:rPr>
              <a:t> Train unsupervised anomaly detectors to learn the manifold of normal user behavior and flag points with high reconstruction error.</a:t>
            </a:r>
          </a:p>
          <a:p>
            <a:r>
              <a:rPr lang="en-US" sz="1200" b="1" i="0" u="none" strike="noStrike" kern="1200">
                <a:solidFill>
                  <a:schemeClr val="tx1"/>
                </a:solidFill>
                <a:effectLst/>
                <a:latin typeface="+mn-lt"/>
                <a:ea typeface="+mn-ea"/>
                <a:cs typeface="+mn-cs"/>
              </a:rPr>
              <a:t>Confidence calibration:</a:t>
            </a:r>
            <a:r>
              <a:rPr lang="en-US" sz="1200" b="0" i="0" u="none" strike="noStrike" kern="1200">
                <a:solidFill>
                  <a:schemeClr val="tx1"/>
                </a:solidFill>
                <a:effectLst/>
                <a:latin typeface="+mn-lt"/>
                <a:ea typeface="+mn-ea"/>
                <a:cs typeface="+mn-cs"/>
              </a:rPr>
              <a:t> Complement outlier detection with model uncertainty (e.g., </a:t>
            </a:r>
            <a:r>
              <a:rPr lang="en-US" sz="1200" b="0" i="0" u="none" strike="noStrike" kern="1200" err="1">
                <a:solidFill>
                  <a:schemeClr val="tx1"/>
                </a:solidFill>
                <a:effectLst/>
                <a:latin typeface="+mn-lt"/>
                <a:ea typeface="+mn-ea"/>
                <a:cs typeface="+mn-cs"/>
              </a:rPr>
              <a:t>softmax</a:t>
            </a:r>
            <a:r>
              <a:rPr lang="en-US" sz="1200" b="0" i="0" u="none" strike="noStrike" kern="1200">
                <a:solidFill>
                  <a:schemeClr val="tx1"/>
                </a:solidFill>
                <a:effectLst/>
                <a:latin typeface="+mn-lt"/>
                <a:ea typeface="+mn-ea"/>
                <a:cs typeface="+mn-cs"/>
              </a:rPr>
              <a:t> entropy or Bayesian posterior variance) to identify low-confidence predictions alongside OOD samples.</a:t>
            </a:r>
          </a:p>
          <a:p>
            <a:r>
              <a:rPr lang="en-US" sz="1200" b="1" i="0" u="none" strike="noStrike" kern="1200">
                <a:solidFill>
                  <a:schemeClr val="tx1"/>
                </a:solidFill>
                <a:effectLst/>
                <a:latin typeface="+mn-lt"/>
                <a:ea typeface="+mn-ea"/>
                <a:cs typeface="+mn-cs"/>
              </a:rPr>
              <a:t>2. Model Interpretability and Explainability</a:t>
            </a:r>
          </a:p>
          <a:p>
            <a:r>
              <a:rPr lang="en-US" sz="1200" b="1" i="0" u="none" strike="noStrike" kern="1200">
                <a:solidFill>
                  <a:schemeClr val="tx1"/>
                </a:solidFill>
                <a:effectLst/>
                <a:latin typeface="+mn-lt"/>
                <a:ea typeface="+mn-ea"/>
                <a:cs typeface="+mn-cs"/>
              </a:rPr>
              <a:t>SHAP (</a:t>
            </a:r>
            <a:r>
              <a:rPr lang="en-US" sz="1200" b="1" i="0" u="none" strike="noStrike" kern="1200" err="1">
                <a:solidFill>
                  <a:schemeClr val="tx1"/>
                </a:solidFill>
                <a:effectLst/>
                <a:latin typeface="+mn-lt"/>
                <a:ea typeface="+mn-ea"/>
                <a:cs typeface="+mn-cs"/>
              </a:rPr>
              <a:t>SHapley</a:t>
            </a:r>
            <a:r>
              <a:rPr lang="en-US" sz="1200" b="1" i="0" u="none" strike="noStrike" kern="1200">
                <a:solidFill>
                  <a:schemeClr val="tx1"/>
                </a:solidFill>
                <a:effectLst/>
                <a:latin typeface="+mn-lt"/>
                <a:ea typeface="+mn-ea"/>
                <a:cs typeface="+mn-cs"/>
              </a:rPr>
              <a:t> Additive </a:t>
            </a:r>
            <a:r>
              <a:rPr lang="en-US" sz="1200" b="1" i="0" u="none" strike="noStrike" kern="1200" err="1">
                <a:solidFill>
                  <a:schemeClr val="tx1"/>
                </a:solidFill>
                <a:effectLst/>
                <a:latin typeface="+mn-lt"/>
                <a:ea typeface="+mn-ea"/>
                <a:cs typeface="+mn-cs"/>
              </a:rPr>
              <a:t>exPlanations</a:t>
            </a:r>
            <a:r>
              <a:rPr lang="en-US" sz="1200" b="1" i="0" u="none" strike="noStrike" kern="1200">
                <a:solidFill>
                  <a:schemeClr val="tx1"/>
                </a:solidFill>
                <a:effectLst/>
                <a:latin typeface="+mn-lt"/>
                <a:ea typeface="+mn-ea"/>
                <a:cs typeface="+mn-cs"/>
              </a:rPr>
              <a:t>):</a:t>
            </a:r>
            <a:r>
              <a:rPr lang="en-US" sz="1200" b="0" i="0" u="none" strike="noStrike" kern="1200">
                <a:solidFill>
                  <a:schemeClr val="tx1"/>
                </a:solidFill>
                <a:effectLst/>
                <a:latin typeface="+mn-lt"/>
                <a:ea typeface="+mn-ea"/>
                <a:cs typeface="+mn-cs"/>
              </a:rPr>
              <a:t> Compute feature importance and local explanations for SVM predictions to understand why specific users are flagged as churn-risk.</a:t>
            </a:r>
          </a:p>
          <a:p>
            <a:r>
              <a:rPr lang="en-US" sz="1200" b="1" i="0" u="none" strike="noStrike" kern="1200">
                <a:solidFill>
                  <a:schemeClr val="tx1"/>
                </a:solidFill>
                <a:effectLst/>
                <a:latin typeface="+mn-lt"/>
                <a:ea typeface="+mn-ea"/>
                <a:cs typeface="+mn-cs"/>
              </a:rPr>
              <a:t>Partial dependence plots:</a:t>
            </a:r>
            <a:r>
              <a:rPr lang="en-US" sz="1200" b="0" i="0" u="none" strike="noStrike" kern="1200">
                <a:solidFill>
                  <a:schemeClr val="tx1"/>
                </a:solidFill>
                <a:effectLst/>
                <a:latin typeface="+mn-lt"/>
                <a:ea typeface="+mn-ea"/>
                <a:cs typeface="+mn-cs"/>
              </a:rPr>
              <a:t> Visualize how individual features (e.g., recency, revenue lag) influence churn probability, supporting actionable retention insights.</a:t>
            </a:r>
          </a:p>
          <a:p>
            <a:r>
              <a:rPr lang="en-US" sz="1200" b="1" i="0" u="none" strike="noStrike" kern="1200">
                <a:solidFill>
                  <a:schemeClr val="tx1"/>
                </a:solidFill>
                <a:effectLst/>
                <a:latin typeface="+mn-lt"/>
                <a:ea typeface="+mn-ea"/>
                <a:cs typeface="+mn-cs"/>
              </a:rPr>
              <a:t>Decision boundary analysis:</a:t>
            </a:r>
            <a:r>
              <a:rPr lang="en-US" sz="1200" b="0" i="0" u="none" strike="noStrike" kern="1200">
                <a:solidFill>
                  <a:schemeClr val="tx1"/>
                </a:solidFill>
                <a:effectLst/>
                <a:latin typeface="+mn-lt"/>
                <a:ea typeface="+mn-ea"/>
                <a:cs typeface="+mn-cs"/>
              </a:rPr>
              <a:t> Characterize the SVM decision surface to identify feature combinations that separate churners from retained users.</a:t>
            </a:r>
          </a:p>
          <a:p>
            <a:r>
              <a:rPr lang="en-US" sz="1200" b="1" i="0" u="none" strike="noStrike" kern="1200">
                <a:solidFill>
                  <a:schemeClr val="tx1"/>
                </a:solidFill>
                <a:effectLst/>
                <a:latin typeface="+mn-lt"/>
                <a:ea typeface="+mn-ea"/>
                <a:cs typeface="+mn-cs"/>
              </a:rPr>
              <a:t>3. Temporal Dynamics and Concept Drift</a:t>
            </a:r>
          </a:p>
          <a:p>
            <a:r>
              <a:rPr lang="en-US" sz="1200" b="1" i="0" u="none" strike="noStrike" kern="1200">
                <a:solidFill>
                  <a:schemeClr val="tx1"/>
                </a:solidFill>
                <a:effectLst/>
                <a:latin typeface="+mn-lt"/>
                <a:ea typeface="+mn-ea"/>
                <a:cs typeface="+mn-cs"/>
              </a:rPr>
              <a:t>Time-series cross-validation:</a:t>
            </a:r>
            <a:r>
              <a:rPr lang="en-US" sz="1200" b="0" i="0" u="none" strike="noStrike" kern="1200">
                <a:solidFill>
                  <a:schemeClr val="tx1"/>
                </a:solidFill>
                <a:effectLst/>
                <a:latin typeface="+mn-lt"/>
                <a:ea typeface="+mn-ea"/>
                <a:cs typeface="+mn-cs"/>
              </a:rPr>
              <a:t> Use temporal splits (train on months 1–9, test on month 10) instead of random splits to simulate real-world deployment where the model scores future users.</a:t>
            </a:r>
          </a:p>
          <a:p>
            <a:r>
              <a:rPr lang="en-US" sz="1200" b="1" i="0" u="none" strike="noStrike" kern="1200">
                <a:solidFill>
                  <a:schemeClr val="tx1"/>
                </a:solidFill>
                <a:effectLst/>
                <a:latin typeface="+mn-lt"/>
                <a:ea typeface="+mn-ea"/>
                <a:cs typeface="+mn-cs"/>
              </a:rPr>
              <a:t>Drift detection:</a:t>
            </a:r>
            <a:r>
              <a:rPr lang="en-US" sz="1200" b="0" i="0" u="none" strike="noStrike" kern="1200">
                <a:solidFill>
                  <a:schemeClr val="tx1"/>
                </a:solidFill>
                <a:effectLst/>
                <a:latin typeface="+mn-lt"/>
                <a:ea typeface="+mn-ea"/>
                <a:cs typeface="+mn-cs"/>
              </a:rPr>
              <a:t> Monitor feature distributions and model performance on held-out monthly cohorts to detect concept drift and trigger retraining.</a:t>
            </a:r>
          </a:p>
          <a:p>
            <a:r>
              <a:rPr lang="en-US" sz="1200" b="1" i="0" u="none" strike="noStrike" kern="1200">
                <a:solidFill>
                  <a:schemeClr val="tx1"/>
                </a:solidFill>
                <a:effectLst/>
                <a:latin typeface="+mn-lt"/>
                <a:ea typeface="+mn-ea"/>
                <a:cs typeface="+mn-cs"/>
              </a:rPr>
              <a:t>Online learning:</a:t>
            </a:r>
            <a:r>
              <a:rPr lang="en-US" sz="1200" b="0" i="0" u="none" strike="noStrike" kern="1200">
                <a:solidFill>
                  <a:schemeClr val="tx1"/>
                </a:solidFill>
                <a:effectLst/>
                <a:latin typeface="+mn-lt"/>
                <a:ea typeface="+mn-ea"/>
                <a:cs typeface="+mn-cs"/>
              </a:rPr>
              <a:t> Implement incremental SVM or ensemble methods that adapt to evolving user behavior without full retraining.</a:t>
            </a:r>
          </a:p>
          <a:p>
            <a:r>
              <a:rPr lang="en-US" sz="1200" b="1" i="0" u="none" strike="noStrike" kern="1200">
                <a:solidFill>
                  <a:schemeClr val="tx1"/>
                </a:solidFill>
                <a:effectLst/>
                <a:latin typeface="+mn-lt"/>
                <a:ea typeface="+mn-ea"/>
                <a:cs typeface="+mn-cs"/>
              </a:rPr>
              <a:t>4. Cost-Sensitive and Business-Aligned Modeling</a:t>
            </a:r>
          </a:p>
          <a:p>
            <a:r>
              <a:rPr lang="en-US" sz="1200" b="1" i="0" u="none" strike="noStrike" kern="1200">
                <a:solidFill>
                  <a:schemeClr val="tx1"/>
                </a:solidFill>
                <a:effectLst/>
                <a:latin typeface="+mn-lt"/>
                <a:ea typeface="+mn-ea"/>
                <a:cs typeface="+mn-cs"/>
              </a:rPr>
              <a:t>Profit-maximizing thresholds:</a:t>
            </a:r>
            <a:r>
              <a:rPr lang="en-US" sz="1200" b="0" i="0" u="none" strike="noStrike" kern="1200">
                <a:solidFill>
                  <a:schemeClr val="tx1"/>
                </a:solidFill>
                <a:effectLst/>
                <a:latin typeface="+mn-lt"/>
                <a:ea typeface="+mn-ea"/>
                <a:cs typeface="+mn-cs"/>
              </a:rPr>
              <a:t> Calibrate churn prediction thresholds to maximize retention ROI by weighting false negatives (missed churners) and false positives (over-targeting) by estimated customer lifetime value.</a:t>
            </a:r>
          </a:p>
          <a:p>
            <a:r>
              <a:rPr lang="en-US" sz="1200" b="1" i="0" u="none" strike="noStrike" kern="1200">
                <a:solidFill>
                  <a:schemeClr val="tx1"/>
                </a:solidFill>
                <a:effectLst/>
                <a:latin typeface="+mn-lt"/>
                <a:ea typeface="+mn-ea"/>
                <a:cs typeface="+mn-cs"/>
              </a:rPr>
              <a:t>Segmented models:</a:t>
            </a:r>
            <a:r>
              <a:rPr lang="en-US" sz="1200" b="0" i="0" u="none" strike="noStrike" kern="1200">
                <a:solidFill>
                  <a:schemeClr val="tx1"/>
                </a:solidFill>
                <a:effectLst/>
                <a:latin typeface="+mn-lt"/>
                <a:ea typeface="+mn-ea"/>
                <a:cs typeface="+mn-cs"/>
              </a:rPr>
              <a:t> Build separate models for high-value vs. low-value customers or different product lines to reflect heterogeneous churn patterns and retention costs.</a:t>
            </a:r>
          </a:p>
          <a:p>
            <a:r>
              <a:rPr lang="en-US" sz="1200" b="1" i="0" u="none" strike="noStrike" kern="1200">
                <a:solidFill>
                  <a:schemeClr val="tx1"/>
                </a:solidFill>
                <a:effectLst/>
                <a:latin typeface="+mn-lt"/>
                <a:ea typeface="+mn-ea"/>
                <a:cs typeface="+mn-cs"/>
              </a:rPr>
              <a:t>A/B testing framework:</a:t>
            </a:r>
            <a:r>
              <a:rPr lang="en-US" sz="1200" b="0" i="0" u="none" strike="noStrike" kern="1200">
                <a:solidFill>
                  <a:schemeClr val="tx1"/>
                </a:solidFill>
                <a:effectLst/>
                <a:latin typeface="+mn-lt"/>
                <a:ea typeface="+mn-ea"/>
                <a:cs typeface="+mn-cs"/>
              </a:rPr>
              <a:t> Design controlled experiments to measure retention campaign effectiveness and refine targeting rules based on real-world outcomes.</a:t>
            </a:r>
          </a:p>
          <a:p>
            <a:r>
              <a:rPr lang="en-US" sz="1200" b="1" i="0" u="none" strike="noStrike" kern="1200">
                <a:solidFill>
                  <a:schemeClr val="tx1"/>
                </a:solidFill>
                <a:effectLst/>
                <a:latin typeface="+mn-lt"/>
                <a:ea typeface="+mn-ea"/>
                <a:cs typeface="+mn-cs"/>
              </a:rPr>
              <a:t>5. Ensemble and Deep Learning Approaches</a:t>
            </a:r>
          </a:p>
          <a:p>
            <a:r>
              <a:rPr lang="en-US" sz="1200" b="1" i="0" u="none" strike="noStrike" kern="1200">
                <a:solidFill>
                  <a:schemeClr val="tx1"/>
                </a:solidFill>
                <a:effectLst/>
                <a:latin typeface="+mn-lt"/>
                <a:ea typeface="+mn-ea"/>
                <a:cs typeface="+mn-cs"/>
              </a:rPr>
              <a:t>Stacking and voting ensembles:</a:t>
            </a:r>
            <a:r>
              <a:rPr lang="en-US" sz="1200" b="0" i="0" u="none" strike="noStrike" kern="1200">
                <a:solidFill>
                  <a:schemeClr val="tx1"/>
                </a:solidFill>
                <a:effectLst/>
                <a:latin typeface="+mn-lt"/>
                <a:ea typeface="+mn-ea"/>
                <a:cs typeface="+mn-cs"/>
              </a:rPr>
              <a:t> Combine SVM, Random Forest, Gradient Boosting (</a:t>
            </a:r>
            <a:r>
              <a:rPr lang="en-US" sz="1200" b="0" i="0" u="none" strike="noStrike" kern="1200" err="1">
                <a:solidFill>
                  <a:schemeClr val="tx1"/>
                </a:solidFill>
                <a:effectLst/>
                <a:latin typeface="+mn-lt"/>
                <a:ea typeface="+mn-ea"/>
                <a:cs typeface="+mn-cs"/>
              </a:rPr>
              <a:t>XGBoost</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LightGBM</a:t>
            </a:r>
            <a:r>
              <a:rPr lang="en-US" sz="1200" b="0" i="0" u="none" strike="noStrike" kern="1200">
                <a:solidFill>
                  <a:schemeClr val="tx1"/>
                </a:solidFill>
                <a:effectLst/>
                <a:latin typeface="+mn-lt"/>
                <a:ea typeface="+mn-ea"/>
                <a:cs typeface="+mn-cs"/>
              </a:rPr>
              <a:t>), and neural networks via meta-learners to potentially exceed 99.71% accuracy.</a:t>
            </a:r>
          </a:p>
          <a:p>
            <a:r>
              <a:rPr lang="en-US" sz="1200" b="1" i="0" u="none" strike="noStrike" kern="1200">
                <a:solidFill>
                  <a:schemeClr val="tx1"/>
                </a:solidFill>
                <a:effectLst/>
                <a:latin typeface="+mn-lt"/>
                <a:ea typeface="+mn-ea"/>
                <a:cs typeface="+mn-cs"/>
              </a:rPr>
              <a:t>Deep neural networks:</a:t>
            </a:r>
            <a:r>
              <a:rPr lang="en-US" sz="1200" b="0" i="0" u="none" strike="noStrike" kern="1200">
                <a:solidFill>
                  <a:schemeClr val="tx1"/>
                </a:solidFill>
                <a:effectLst/>
                <a:latin typeface="+mn-lt"/>
                <a:ea typeface="+mn-ea"/>
                <a:cs typeface="+mn-cs"/>
              </a:rPr>
              <a:t> Experiment with multi-layer </a:t>
            </a:r>
            <a:r>
              <a:rPr lang="en-US" sz="1200" b="0" i="0" u="none" strike="noStrike" kern="1200" err="1">
                <a:solidFill>
                  <a:schemeClr val="tx1"/>
                </a:solidFill>
                <a:effectLst/>
                <a:latin typeface="+mn-lt"/>
                <a:ea typeface="+mn-ea"/>
                <a:cs typeface="+mn-cs"/>
              </a:rPr>
              <a:t>perceptrons</a:t>
            </a:r>
            <a:r>
              <a:rPr lang="en-US" sz="1200" b="0" i="0" u="none" strike="noStrike" kern="1200">
                <a:solidFill>
                  <a:schemeClr val="tx1"/>
                </a:solidFill>
                <a:effectLst/>
                <a:latin typeface="+mn-lt"/>
                <a:ea typeface="+mn-ea"/>
                <a:cs typeface="+mn-cs"/>
              </a:rPr>
              <a:t>, attention mechanisms, or graph neural networks to capture non-linear feature interactions automatically.</a:t>
            </a:r>
          </a:p>
          <a:p>
            <a:r>
              <a:rPr lang="en-US" sz="1200" b="1" i="0" u="none" strike="noStrike" kern="1200">
                <a:solidFill>
                  <a:schemeClr val="tx1"/>
                </a:solidFill>
                <a:effectLst/>
                <a:latin typeface="+mn-lt"/>
                <a:ea typeface="+mn-ea"/>
                <a:cs typeface="+mn-cs"/>
              </a:rPr>
              <a:t>Calibrated uncertainty estimation:</a:t>
            </a:r>
            <a:r>
              <a:rPr lang="en-US" sz="1200" b="0" i="0" u="none" strike="noStrike" kern="1200">
                <a:solidFill>
                  <a:schemeClr val="tx1"/>
                </a:solidFill>
                <a:effectLst/>
                <a:latin typeface="+mn-lt"/>
                <a:ea typeface="+mn-ea"/>
                <a:cs typeface="+mn-cs"/>
              </a:rPr>
              <a:t> Use Bayesian approaches (e.g., variational inference) or ensemble methods to quantify prediction uncertainty, supporting risk-aware retention decisions.</a:t>
            </a:r>
          </a:p>
          <a:p>
            <a:r>
              <a:rPr lang="en-US" sz="1200" b="1" i="0" u="none" strike="noStrike" kern="1200">
                <a:solidFill>
                  <a:schemeClr val="tx1"/>
                </a:solidFill>
                <a:effectLst/>
                <a:latin typeface="+mn-lt"/>
                <a:ea typeface="+mn-ea"/>
                <a:cs typeface="+mn-cs"/>
              </a:rPr>
              <a:t>6. Real-Time Scoring and Operational Integration</a:t>
            </a:r>
          </a:p>
          <a:p>
            <a:r>
              <a:rPr lang="en-US" sz="1200" b="1" i="0" u="none" strike="noStrike" kern="1200">
                <a:solidFill>
                  <a:schemeClr val="tx1"/>
                </a:solidFill>
                <a:effectLst/>
                <a:latin typeface="+mn-lt"/>
                <a:ea typeface="+mn-ea"/>
                <a:cs typeface="+mn-cs"/>
              </a:rPr>
              <a:t>API and monitoring:</a:t>
            </a:r>
            <a:r>
              <a:rPr lang="en-US" sz="1200" b="0" i="0" u="none" strike="noStrike" kern="1200">
                <a:solidFill>
                  <a:schemeClr val="tx1"/>
                </a:solidFill>
                <a:effectLst/>
                <a:latin typeface="+mn-lt"/>
                <a:ea typeface="+mn-ea"/>
                <a:cs typeface="+mn-cs"/>
              </a:rPr>
              <a:t> Deploy the trained SVM model as a REST API for real-time scoring of new user interactions and events.</a:t>
            </a:r>
          </a:p>
          <a:p>
            <a:r>
              <a:rPr lang="en-US" sz="1200" b="1" i="0" u="none" strike="noStrike" kern="1200">
                <a:solidFill>
                  <a:schemeClr val="tx1"/>
                </a:solidFill>
                <a:effectLst/>
                <a:latin typeface="+mn-lt"/>
                <a:ea typeface="+mn-ea"/>
                <a:cs typeface="+mn-cs"/>
              </a:rPr>
              <a:t>Feature store:</a:t>
            </a:r>
            <a:r>
              <a:rPr lang="en-US" sz="1200" b="0" i="0" u="none" strike="noStrike" kern="1200">
                <a:solidFill>
                  <a:schemeClr val="tx1"/>
                </a:solidFill>
                <a:effectLst/>
                <a:latin typeface="+mn-lt"/>
                <a:ea typeface="+mn-ea"/>
                <a:cs typeface="+mn-cs"/>
              </a:rPr>
              <a:t> Build a centralized feature engineering and storage system (e.g., Feast, </a:t>
            </a:r>
            <a:r>
              <a:rPr lang="en-US" sz="1200" b="0" i="0" u="none" strike="noStrike" kern="1200" err="1">
                <a:solidFill>
                  <a:schemeClr val="tx1"/>
                </a:solidFill>
                <a:effectLst/>
                <a:latin typeface="+mn-lt"/>
                <a:ea typeface="+mn-ea"/>
                <a:cs typeface="+mn-cs"/>
              </a:rPr>
              <a:t>Tecton</a:t>
            </a:r>
            <a:r>
              <a:rPr lang="en-US" sz="1200" b="0" i="0" u="none" strike="noStrike" kern="1200">
                <a:solidFill>
                  <a:schemeClr val="tx1"/>
                </a:solidFill>
                <a:effectLst/>
                <a:latin typeface="+mn-lt"/>
                <a:ea typeface="+mn-ea"/>
                <a:cs typeface="+mn-cs"/>
              </a:rPr>
              <a:t>) to ensure consistency between training and production feature computation.</a:t>
            </a:r>
          </a:p>
          <a:p>
            <a:r>
              <a:rPr lang="en-US" sz="1200" b="1" i="0" u="none" strike="noStrike" kern="1200">
                <a:solidFill>
                  <a:schemeClr val="tx1"/>
                </a:solidFill>
                <a:effectLst/>
                <a:latin typeface="+mn-lt"/>
                <a:ea typeface="+mn-ea"/>
                <a:cs typeface="+mn-cs"/>
              </a:rPr>
              <a:t>Automated retraining pipeline:</a:t>
            </a:r>
            <a:r>
              <a:rPr lang="en-US" sz="1200" b="0" i="0" u="none" strike="noStrike" kern="1200">
                <a:solidFill>
                  <a:schemeClr val="tx1"/>
                </a:solidFill>
                <a:effectLst/>
                <a:latin typeface="+mn-lt"/>
                <a:ea typeface="+mn-ea"/>
                <a:cs typeface="+mn-cs"/>
              </a:rPr>
              <a:t> Implement </a:t>
            </a:r>
            <a:r>
              <a:rPr lang="en-US" sz="1200" b="0" i="0" u="none" strike="noStrike" kern="1200" err="1">
                <a:solidFill>
                  <a:schemeClr val="tx1"/>
                </a:solidFill>
                <a:effectLst/>
                <a:latin typeface="+mn-lt"/>
                <a:ea typeface="+mn-ea"/>
                <a:cs typeface="+mn-cs"/>
              </a:rPr>
              <a:t>MLOps</a:t>
            </a:r>
            <a:r>
              <a:rPr lang="en-US" sz="1200" b="0" i="0" u="none" strike="noStrike" kern="1200">
                <a:solidFill>
                  <a:schemeClr val="tx1"/>
                </a:solidFill>
                <a:effectLst/>
                <a:latin typeface="+mn-lt"/>
                <a:ea typeface="+mn-ea"/>
                <a:cs typeface="+mn-cs"/>
              </a:rPr>
              <a:t> workflows (e.g., using Docker, Kubernetes, Airflow) for periodic model retraining, validation, and canary deployments.</a:t>
            </a:r>
          </a:p>
          <a:p>
            <a:r>
              <a:rPr lang="en-US" sz="1200" b="1" i="0" u="none" strike="noStrike" kern="1200">
                <a:solidFill>
                  <a:schemeClr val="tx1"/>
                </a:solidFill>
                <a:effectLst/>
                <a:latin typeface="+mn-lt"/>
                <a:ea typeface="+mn-ea"/>
                <a:cs typeface="+mn-cs"/>
              </a:rPr>
              <a:t>7. Data Quality and Privacy</a:t>
            </a:r>
          </a:p>
          <a:p>
            <a:r>
              <a:rPr lang="en-US" sz="1200" b="1" i="0" u="none" strike="noStrike" kern="1200">
                <a:solidFill>
                  <a:schemeClr val="tx1"/>
                </a:solidFill>
                <a:effectLst/>
                <a:latin typeface="+mn-lt"/>
                <a:ea typeface="+mn-ea"/>
                <a:cs typeface="+mn-cs"/>
              </a:rPr>
              <a:t>Data augmentation:</a:t>
            </a:r>
            <a:r>
              <a:rPr lang="en-US" sz="1200" b="0" i="0" u="none" strike="noStrike" kern="1200">
                <a:solidFill>
                  <a:schemeClr val="tx1"/>
                </a:solidFill>
                <a:effectLst/>
                <a:latin typeface="+mn-lt"/>
                <a:ea typeface="+mn-ea"/>
                <a:cs typeface="+mn-cs"/>
              </a:rPr>
              <a:t> Explore synthetic data generation (e.g., SMOTE, VAE) to address any imbalanced segments or rare churn patterns underrepresented in the training set.</a:t>
            </a:r>
          </a:p>
          <a:p>
            <a:r>
              <a:rPr lang="en-US" sz="1200" b="1" i="0" u="none" strike="noStrike" kern="1200">
                <a:solidFill>
                  <a:schemeClr val="tx1"/>
                </a:solidFill>
                <a:effectLst/>
                <a:latin typeface="+mn-lt"/>
                <a:ea typeface="+mn-ea"/>
                <a:cs typeface="+mn-cs"/>
              </a:rPr>
              <a:t>Privacy-preserving modeling:</a:t>
            </a:r>
            <a:r>
              <a:rPr lang="en-US" sz="1200" b="0" i="0" u="none" strike="noStrike" kern="1200">
                <a:solidFill>
                  <a:schemeClr val="tx1"/>
                </a:solidFill>
                <a:effectLst/>
                <a:latin typeface="+mn-lt"/>
                <a:ea typeface="+mn-ea"/>
                <a:cs typeface="+mn-cs"/>
              </a:rPr>
              <a:t> Implement differential privacy or federated learning to build churn models while protecting user data, relevant for GDPR/CCPA compliance.</a:t>
            </a:r>
          </a:p>
          <a:p>
            <a:r>
              <a:rPr lang="en-US" sz="1200" b="1" i="0" u="none" strike="noStrike" kern="1200">
                <a:solidFill>
                  <a:schemeClr val="tx1"/>
                </a:solidFill>
                <a:effectLst/>
                <a:latin typeface="+mn-lt"/>
                <a:ea typeface="+mn-ea"/>
                <a:cs typeface="+mn-cs"/>
              </a:rPr>
              <a:t>Bias and fairness audits:</a:t>
            </a:r>
            <a:r>
              <a:rPr lang="en-US" sz="1200" b="0" i="0" u="none" strike="noStrike" kern="1200">
                <a:solidFill>
                  <a:schemeClr val="tx1"/>
                </a:solidFill>
                <a:effectLst/>
                <a:latin typeface="+mn-lt"/>
                <a:ea typeface="+mn-ea"/>
                <a:cs typeface="+mn-cs"/>
              </a:rPr>
              <a:t> Assess whether the model exhibits disparate impact across demographic or geographic segments and mitigate via fairness-aware reweighting or constraints.</a:t>
            </a:r>
          </a:p>
          <a:p>
            <a:r>
              <a:rPr lang="en-US" sz="1200" b="1" i="0" u="none" strike="noStrike" kern="1200">
                <a:solidFill>
                  <a:schemeClr val="tx1"/>
                </a:solidFill>
                <a:effectLst/>
                <a:latin typeface="+mn-lt"/>
                <a:ea typeface="+mn-ea"/>
                <a:cs typeface="+mn-cs"/>
              </a:rPr>
              <a:t>8. Domain-Specific Enhancements</a:t>
            </a:r>
          </a:p>
          <a:p>
            <a:r>
              <a:rPr lang="en-US" sz="1200" b="1" i="0" u="none" strike="noStrike" kern="1200">
                <a:solidFill>
                  <a:schemeClr val="tx1"/>
                </a:solidFill>
                <a:effectLst/>
                <a:latin typeface="+mn-lt"/>
                <a:ea typeface="+mn-ea"/>
                <a:cs typeface="+mn-cs"/>
              </a:rPr>
              <a:t>Customer lifetime value prediction:</a:t>
            </a:r>
            <a:r>
              <a:rPr lang="en-US" sz="1200" b="0" i="0" u="none" strike="noStrike" kern="1200">
                <a:solidFill>
                  <a:schemeClr val="tx1"/>
                </a:solidFill>
                <a:effectLst/>
                <a:latin typeface="+mn-lt"/>
                <a:ea typeface="+mn-ea"/>
                <a:cs typeface="+mn-cs"/>
              </a:rPr>
              <a:t> Jointly model churn and revenue to prioritize retention spending on high-value customer segments.</a:t>
            </a:r>
          </a:p>
          <a:p>
            <a:r>
              <a:rPr lang="en-US" sz="1200" b="1" i="0" u="none" strike="noStrike" kern="1200">
                <a:solidFill>
                  <a:schemeClr val="tx1"/>
                </a:solidFill>
                <a:effectLst/>
                <a:latin typeface="+mn-lt"/>
                <a:ea typeface="+mn-ea"/>
                <a:cs typeface="+mn-cs"/>
              </a:rPr>
              <a:t>Win-back campaigns:</a:t>
            </a:r>
            <a:r>
              <a:rPr lang="en-US" sz="1200" b="0" i="0" u="none" strike="noStrike" kern="1200">
                <a:solidFill>
                  <a:schemeClr val="tx1"/>
                </a:solidFill>
                <a:effectLst/>
                <a:latin typeface="+mn-lt"/>
                <a:ea typeface="+mn-ea"/>
                <a:cs typeface="+mn-cs"/>
              </a:rPr>
              <a:t> Build separate models for users who have churned to predict win-back likelihood and optimal timing/channel for re-engagement.</a:t>
            </a:r>
          </a:p>
          <a:p>
            <a:r>
              <a:rPr lang="en-US" sz="1200" b="1" i="0" u="none" strike="noStrike" kern="1200">
                <a:solidFill>
                  <a:schemeClr val="tx1"/>
                </a:solidFill>
                <a:effectLst/>
                <a:latin typeface="+mn-lt"/>
                <a:ea typeface="+mn-ea"/>
                <a:cs typeface="+mn-cs"/>
              </a:rPr>
              <a:t>Churn reason inference:</a:t>
            </a:r>
            <a:r>
              <a:rPr lang="en-US" sz="1200" b="0" i="0" u="none" strike="noStrike" kern="1200">
                <a:solidFill>
                  <a:schemeClr val="tx1"/>
                </a:solidFill>
                <a:effectLst/>
                <a:latin typeface="+mn-lt"/>
                <a:ea typeface="+mn-ea"/>
                <a:cs typeface="+mn-cs"/>
              </a:rPr>
              <a:t> Combine churn predictions with textual analysis of support tickets, reviews, or surveys to identify root causes and inform product improvements.</a:t>
            </a:r>
          </a:p>
          <a:p>
            <a:endParaRPr lang="en-US" sz="1200" b="0" i="0" u="none" strike="noStrike" kern="1200">
              <a:solidFill>
                <a:schemeClr val="tx1"/>
              </a:solidFill>
              <a:effectLst/>
              <a:latin typeface="+mn-lt"/>
              <a:ea typeface="+mn-ea"/>
              <a:cs typeface="+mn-cs"/>
            </a:endParaRPr>
          </a:p>
          <a:p>
            <a:endParaRPr lang="en-US" sz="1200" b="0"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Interactive churn monitoring dashboard (future work):</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Build a dashboard (e.g., in Power BI, Tableau, or a Python web app) to visualize:</a:t>
            </a:r>
          </a:p>
          <a:p>
            <a:pPr lvl="2"/>
            <a:r>
              <a:rPr lang="en-US" sz="1200" b="0" i="0" u="none" strike="noStrike" kern="1200">
                <a:solidFill>
                  <a:schemeClr val="tx1"/>
                </a:solidFill>
                <a:effectLst/>
                <a:latin typeface="+mn-lt"/>
                <a:ea typeface="+mn-ea"/>
                <a:cs typeface="+mn-cs"/>
              </a:rPr>
              <a:t>Overall churn rate and trend over time.</a:t>
            </a:r>
          </a:p>
          <a:p>
            <a:pPr lvl="2"/>
            <a:r>
              <a:rPr lang="en-US" sz="1200" b="0" i="0" u="none" strike="noStrike" kern="1200">
                <a:solidFill>
                  <a:schemeClr val="tx1"/>
                </a:solidFill>
                <a:effectLst/>
                <a:latin typeface="+mn-lt"/>
                <a:ea typeface="+mn-ea"/>
                <a:cs typeface="+mn-cs"/>
              </a:rPr>
              <a:t>Distribution of predicted churn probabilities by segment (e.g., high-, medium-, low-value customers).</a:t>
            </a:r>
          </a:p>
          <a:p>
            <a:pPr lvl="2"/>
            <a:r>
              <a:rPr lang="en-US" sz="1200" b="0" i="0" u="none" strike="noStrike" kern="1200">
                <a:solidFill>
                  <a:schemeClr val="tx1"/>
                </a:solidFill>
                <a:effectLst/>
                <a:latin typeface="+mn-lt"/>
                <a:ea typeface="+mn-ea"/>
                <a:cs typeface="+mn-cs"/>
              </a:rPr>
              <a:t>Top contributing features for each segment (e.g., high recency, declining revenue, low purchase counts).</a:t>
            </a:r>
          </a:p>
          <a:p>
            <a:pPr lvl="1"/>
            <a:r>
              <a:rPr lang="en-US" sz="1200" b="0" i="0" u="none" strike="noStrike" kern="1200">
                <a:solidFill>
                  <a:schemeClr val="tx1"/>
                </a:solidFill>
                <a:effectLst/>
                <a:latin typeface="+mn-lt"/>
                <a:ea typeface="+mn-ea"/>
                <a:cs typeface="+mn-cs"/>
              </a:rPr>
              <a:t>The dashboard would surface a </a:t>
            </a:r>
            <a:r>
              <a:rPr lang="en-US" sz="1200" b="1" i="0" u="none" strike="noStrike" kern="1200">
                <a:solidFill>
                  <a:schemeClr val="tx1"/>
                </a:solidFill>
                <a:effectLst/>
                <a:latin typeface="+mn-lt"/>
                <a:ea typeface="+mn-ea"/>
                <a:cs typeface="+mn-cs"/>
              </a:rPr>
              <a:t>ranked list of high-risk customers</a:t>
            </a:r>
            <a:r>
              <a:rPr lang="en-US" sz="1200" b="0" i="0" u="none" strike="noStrike" kern="1200">
                <a:solidFill>
                  <a:schemeClr val="tx1"/>
                </a:solidFill>
                <a:effectLst/>
                <a:latin typeface="+mn-lt"/>
                <a:ea typeface="+mn-ea"/>
                <a:cs typeface="+mn-cs"/>
              </a:rPr>
              <a:t>, with:</a:t>
            </a:r>
          </a:p>
          <a:p>
            <a:pPr lvl="2"/>
            <a:r>
              <a:rPr lang="en-US" sz="1200" b="0" i="0" u="none" strike="noStrike" kern="1200">
                <a:solidFill>
                  <a:schemeClr val="tx1"/>
                </a:solidFill>
                <a:effectLst/>
                <a:latin typeface="+mn-lt"/>
                <a:ea typeface="+mn-ea"/>
                <a:cs typeface="+mn-cs"/>
              </a:rPr>
              <a:t>Predicted churn probability.</a:t>
            </a:r>
          </a:p>
          <a:p>
            <a:pPr lvl="2"/>
            <a:r>
              <a:rPr lang="en-US" sz="1200" b="0" i="0" u="none" strike="noStrike" kern="1200">
                <a:solidFill>
                  <a:schemeClr val="tx1"/>
                </a:solidFill>
                <a:effectLst/>
                <a:latin typeface="+mn-lt"/>
                <a:ea typeface="+mn-ea"/>
                <a:cs typeface="+mn-cs"/>
              </a:rPr>
              <a:t>Expected revenue loss (using </a:t>
            </a:r>
            <a:r>
              <a:rPr lang="en-US" sz="1200" b="0" i="0" u="none" strike="noStrike" kern="1200" err="1">
                <a:solidFill>
                  <a:schemeClr val="tx1"/>
                </a:solidFill>
                <a:effectLst/>
                <a:latin typeface="+mn-lt"/>
                <a:ea typeface="+mn-ea"/>
                <a:cs typeface="+mn-cs"/>
              </a:rPr>
              <a:t>target_revenue</a:t>
            </a:r>
            <a:r>
              <a:rPr lang="en-US" sz="1200" b="0" i="0" u="none" strike="noStrike" kern="1200">
                <a:solidFill>
                  <a:schemeClr val="tx1"/>
                </a:solidFill>
                <a:effectLst/>
                <a:latin typeface="+mn-lt"/>
                <a:ea typeface="+mn-ea"/>
                <a:cs typeface="+mn-cs"/>
              </a:rPr>
              <a:t> / </a:t>
            </a:r>
            <a:r>
              <a:rPr lang="en-US" sz="1200" b="0" i="0" u="none" strike="noStrike" kern="1200" err="1">
                <a:solidFill>
                  <a:schemeClr val="tx1"/>
                </a:solidFill>
                <a:effectLst/>
                <a:latin typeface="+mn-lt"/>
                <a:ea typeface="+mn-ea"/>
                <a:cs typeface="+mn-cs"/>
              </a:rPr>
              <a:t>target_actual_profit</a:t>
            </a:r>
            <a:r>
              <a:rPr lang="en-US" sz="1200" b="0" i="0" u="none" strike="noStrike" kern="1200">
                <a:solidFill>
                  <a:schemeClr val="tx1"/>
                </a:solidFill>
                <a:effectLst/>
                <a:latin typeface="+mn-lt"/>
                <a:ea typeface="+mn-ea"/>
                <a:cs typeface="+mn-cs"/>
              </a:rPr>
              <a:t>).</a:t>
            </a:r>
          </a:p>
          <a:p>
            <a:pPr lvl="2"/>
            <a:r>
              <a:rPr lang="en-US" sz="1200" b="0" i="0" u="none" strike="noStrike" kern="1200">
                <a:solidFill>
                  <a:schemeClr val="tx1"/>
                </a:solidFill>
                <a:effectLst/>
                <a:latin typeface="+mn-lt"/>
                <a:ea typeface="+mn-ea"/>
                <a:cs typeface="+mn-cs"/>
              </a:rPr>
              <a:t>Key risk drivers from the model explanations (e.g., “no purchase in last 60 days”, “3-month revenue decline”).</a:t>
            </a:r>
          </a:p>
          <a:p>
            <a:r>
              <a:rPr lang="en-US" sz="1200" b="1" i="0" u="none" strike="noStrike" kern="1200">
                <a:solidFill>
                  <a:schemeClr val="tx1"/>
                </a:solidFill>
                <a:effectLst/>
                <a:latin typeface="+mn-lt"/>
                <a:ea typeface="+mn-ea"/>
                <a:cs typeface="+mn-cs"/>
              </a:rPr>
              <a:t>Actionable retention recommendations:</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For each high-risk customer, define rule-based or model-driven </a:t>
            </a:r>
            <a:r>
              <a:rPr lang="en-US" sz="1200" b="1" i="0" u="none" strike="noStrike" kern="1200">
                <a:solidFill>
                  <a:schemeClr val="tx1"/>
                </a:solidFill>
                <a:effectLst/>
                <a:latin typeface="+mn-lt"/>
                <a:ea typeface="+mn-ea"/>
                <a:cs typeface="+mn-cs"/>
              </a:rPr>
              <a:t>next-best-</a:t>
            </a:r>
            <a:r>
              <a:rPr lang="en-US" sz="1200" b="1" i="0" u="none" strike="noStrike" kern="1200" err="1">
                <a:solidFill>
                  <a:schemeClr val="tx1"/>
                </a:solidFill>
                <a:effectLst/>
                <a:latin typeface="+mn-lt"/>
                <a:ea typeface="+mn-ea"/>
                <a:cs typeface="+mn-cs"/>
              </a:rPr>
              <a:t>action</a:t>
            </a:r>
            <a:r>
              <a:rPr lang="en-US" sz="1200" b="0" i="0" u="none" strike="noStrike" kern="1200" err="1">
                <a:solidFill>
                  <a:schemeClr val="tx1"/>
                </a:solidFill>
                <a:effectLst/>
                <a:latin typeface="+mn-lt"/>
                <a:ea typeface="+mn-ea"/>
                <a:cs typeface="+mn-cs"/>
              </a:rPr>
              <a:t>suggestions</a:t>
            </a:r>
            <a:r>
              <a:rPr lang="en-US" sz="1200" b="0" i="0" u="none" strike="noStrike" kern="1200">
                <a:solidFill>
                  <a:schemeClr val="tx1"/>
                </a:solidFill>
                <a:effectLst/>
                <a:latin typeface="+mn-lt"/>
                <a:ea typeface="+mn-ea"/>
                <a:cs typeface="+mn-cs"/>
              </a:rPr>
              <a:t>, such as:</a:t>
            </a:r>
          </a:p>
          <a:p>
            <a:pPr lvl="2"/>
            <a:r>
              <a:rPr lang="en-US" sz="1200" b="0" i="0" u="none" strike="noStrike" kern="1200">
                <a:solidFill>
                  <a:schemeClr val="tx1"/>
                </a:solidFill>
                <a:effectLst/>
                <a:latin typeface="+mn-lt"/>
                <a:ea typeface="+mn-ea"/>
                <a:cs typeface="+mn-cs"/>
              </a:rPr>
              <a:t>Targeted discount or loyalty offer.</a:t>
            </a:r>
          </a:p>
          <a:p>
            <a:pPr lvl="2"/>
            <a:r>
              <a:rPr lang="en-US" sz="1200" b="0" i="0" u="none" strike="noStrike" kern="1200">
                <a:solidFill>
                  <a:schemeClr val="tx1"/>
                </a:solidFill>
                <a:effectLst/>
                <a:latin typeface="+mn-lt"/>
                <a:ea typeface="+mn-ea"/>
                <a:cs typeface="+mn-cs"/>
              </a:rPr>
              <a:t>Personalized email or in-app message.</a:t>
            </a:r>
          </a:p>
          <a:p>
            <a:pPr lvl="2"/>
            <a:r>
              <a:rPr lang="en-US" sz="1200" b="0" i="0" u="none" strike="noStrike" kern="1200">
                <a:solidFill>
                  <a:schemeClr val="tx1"/>
                </a:solidFill>
                <a:effectLst/>
                <a:latin typeface="+mn-lt"/>
                <a:ea typeface="+mn-ea"/>
                <a:cs typeface="+mn-cs"/>
              </a:rPr>
              <a:t>Proactive support outreach for users with negative recent interactions.</a:t>
            </a:r>
          </a:p>
          <a:p>
            <a:pPr lvl="1"/>
            <a:r>
              <a:rPr lang="en-US" sz="1200" b="0" i="0" u="none" strike="noStrike" kern="1200">
                <a:solidFill>
                  <a:schemeClr val="tx1"/>
                </a:solidFill>
                <a:effectLst/>
                <a:latin typeface="+mn-lt"/>
                <a:ea typeface="+mn-ea"/>
                <a:cs typeface="+mn-cs"/>
              </a:rPr>
              <a:t>Track </a:t>
            </a:r>
            <a:r>
              <a:rPr lang="en-US" sz="1200" b="1" i="0" u="none" strike="noStrike" kern="1200">
                <a:solidFill>
                  <a:schemeClr val="tx1"/>
                </a:solidFill>
                <a:effectLst/>
                <a:latin typeface="+mn-lt"/>
                <a:ea typeface="+mn-ea"/>
                <a:cs typeface="+mn-cs"/>
              </a:rPr>
              <a:t>intervention outcomes</a:t>
            </a:r>
            <a:r>
              <a:rPr lang="en-US" sz="1200" b="0" i="0" u="none" strike="noStrike" kern="1200">
                <a:solidFill>
                  <a:schemeClr val="tx1"/>
                </a:solidFill>
                <a:effectLst/>
                <a:latin typeface="+mn-lt"/>
                <a:ea typeface="+mn-ea"/>
                <a:cs typeface="+mn-cs"/>
              </a:rPr>
              <a:t> in the same dashboard (who churned vs who stayed) to continuously refine both the model and the retention strategies</a:t>
            </a:r>
          </a:p>
          <a:p>
            <a:endParaRPr lang="en-US" sz="1200" b="0" i="0" u="none" strike="noStrike"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4B7B3773-8769-024A-962D-217A70B6D2FC}" type="slidenum">
              <a:rPr lang="en-US" smtClean="0"/>
              <a:t>15</a:t>
            </a:fld>
            <a:endParaRPr lang="en-US"/>
          </a:p>
        </p:txBody>
      </p:sp>
    </p:spTree>
    <p:extLst>
      <p:ext uri="{BB962C8B-B14F-4D97-AF65-F5344CB8AC3E}">
        <p14:creationId xmlns:p14="http://schemas.microsoft.com/office/powerpoint/2010/main" val="3716091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DD10D-5D14-FA64-8C2C-D5B80508A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77071-56D7-E239-7112-0026981ED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9265F0-1A14-1CA1-7C93-EA2C40E945AB}"/>
              </a:ext>
            </a:extLst>
          </p:cNvPr>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1. Advanced OOD Detection Methods</a:t>
            </a:r>
          </a:p>
          <a:p>
            <a:r>
              <a:rPr lang="en-US" sz="1200" b="1" i="0" u="none" strike="noStrike" kern="1200">
                <a:solidFill>
                  <a:schemeClr val="tx1"/>
                </a:solidFill>
                <a:effectLst/>
                <a:latin typeface="+mn-lt"/>
                <a:ea typeface="+mn-ea"/>
                <a:cs typeface="+mn-cs"/>
              </a:rPr>
              <a:t>Isolation Forest and Local Outlier Factor (LOF):</a:t>
            </a:r>
            <a:r>
              <a:rPr lang="en-US" sz="1200" b="0" i="0" u="none" strike="noStrike" kern="1200">
                <a:solidFill>
                  <a:schemeClr val="tx1"/>
                </a:solidFill>
                <a:effectLst/>
                <a:latin typeface="+mn-lt"/>
                <a:ea typeface="+mn-ea"/>
                <a:cs typeface="+mn-cs"/>
              </a:rPr>
              <a:t> Compare KNN distance-based outlier detection with tree-based and local-density methods to assess robustness across different OOD types.</a:t>
            </a:r>
          </a:p>
          <a:p>
            <a:r>
              <a:rPr lang="en-US" sz="1200" b="1" i="0" u="none" strike="noStrike" kern="1200">
                <a:solidFill>
                  <a:schemeClr val="tx1"/>
                </a:solidFill>
                <a:effectLst/>
                <a:latin typeface="+mn-lt"/>
                <a:ea typeface="+mn-ea"/>
                <a:cs typeface="+mn-cs"/>
              </a:rPr>
              <a:t>Autoencoders and generative models:</a:t>
            </a:r>
            <a:r>
              <a:rPr lang="en-US" sz="1200" b="0" i="0" u="none" strike="noStrike" kern="1200">
                <a:solidFill>
                  <a:schemeClr val="tx1"/>
                </a:solidFill>
                <a:effectLst/>
                <a:latin typeface="+mn-lt"/>
                <a:ea typeface="+mn-ea"/>
                <a:cs typeface="+mn-cs"/>
              </a:rPr>
              <a:t> Train unsupervised anomaly detectors to learn the manifold of normal user behavior and flag points with high reconstruction error.</a:t>
            </a:r>
          </a:p>
          <a:p>
            <a:r>
              <a:rPr lang="en-US" sz="1200" b="1" i="0" u="none" strike="noStrike" kern="1200">
                <a:solidFill>
                  <a:schemeClr val="tx1"/>
                </a:solidFill>
                <a:effectLst/>
                <a:latin typeface="+mn-lt"/>
                <a:ea typeface="+mn-ea"/>
                <a:cs typeface="+mn-cs"/>
              </a:rPr>
              <a:t>Confidence calibration:</a:t>
            </a:r>
            <a:r>
              <a:rPr lang="en-US" sz="1200" b="0" i="0" u="none" strike="noStrike" kern="1200">
                <a:solidFill>
                  <a:schemeClr val="tx1"/>
                </a:solidFill>
                <a:effectLst/>
                <a:latin typeface="+mn-lt"/>
                <a:ea typeface="+mn-ea"/>
                <a:cs typeface="+mn-cs"/>
              </a:rPr>
              <a:t> Complement outlier detection with model uncertainty (e.g., </a:t>
            </a:r>
            <a:r>
              <a:rPr lang="en-US" sz="1200" b="0" i="0" u="none" strike="noStrike" kern="1200" err="1">
                <a:solidFill>
                  <a:schemeClr val="tx1"/>
                </a:solidFill>
                <a:effectLst/>
                <a:latin typeface="+mn-lt"/>
                <a:ea typeface="+mn-ea"/>
                <a:cs typeface="+mn-cs"/>
              </a:rPr>
              <a:t>softmax</a:t>
            </a:r>
            <a:r>
              <a:rPr lang="en-US" sz="1200" b="0" i="0" u="none" strike="noStrike" kern="1200">
                <a:solidFill>
                  <a:schemeClr val="tx1"/>
                </a:solidFill>
                <a:effectLst/>
                <a:latin typeface="+mn-lt"/>
                <a:ea typeface="+mn-ea"/>
                <a:cs typeface="+mn-cs"/>
              </a:rPr>
              <a:t> entropy or Bayesian posterior variance) to identify low-confidence predictions alongside OOD samples.</a:t>
            </a:r>
          </a:p>
          <a:p>
            <a:r>
              <a:rPr lang="en-US" sz="1200" b="1" i="0" u="none" strike="noStrike" kern="1200">
                <a:solidFill>
                  <a:schemeClr val="tx1"/>
                </a:solidFill>
                <a:effectLst/>
                <a:latin typeface="+mn-lt"/>
                <a:ea typeface="+mn-ea"/>
                <a:cs typeface="+mn-cs"/>
              </a:rPr>
              <a:t>2. Model Interpretability and Explainability</a:t>
            </a:r>
          </a:p>
          <a:p>
            <a:r>
              <a:rPr lang="en-US" sz="1200" b="1" i="0" u="none" strike="noStrike" kern="1200">
                <a:solidFill>
                  <a:schemeClr val="tx1"/>
                </a:solidFill>
                <a:effectLst/>
                <a:latin typeface="+mn-lt"/>
                <a:ea typeface="+mn-ea"/>
                <a:cs typeface="+mn-cs"/>
              </a:rPr>
              <a:t>SHAP (</a:t>
            </a:r>
            <a:r>
              <a:rPr lang="en-US" sz="1200" b="1" i="0" u="none" strike="noStrike" kern="1200" err="1">
                <a:solidFill>
                  <a:schemeClr val="tx1"/>
                </a:solidFill>
                <a:effectLst/>
                <a:latin typeface="+mn-lt"/>
                <a:ea typeface="+mn-ea"/>
                <a:cs typeface="+mn-cs"/>
              </a:rPr>
              <a:t>SHapley</a:t>
            </a:r>
            <a:r>
              <a:rPr lang="en-US" sz="1200" b="1" i="0" u="none" strike="noStrike" kern="1200">
                <a:solidFill>
                  <a:schemeClr val="tx1"/>
                </a:solidFill>
                <a:effectLst/>
                <a:latin typeface="+mn-lt"/>
                <a:ea typeface="+mn-ea"/>
                <a:cs typeface="+mn-cs"/>
              </a:rPr>
              <a:t> Additive </a:t>
            </a:r>
            <a:r>
              <a:rPr lang="en-US" sz="1200" b="1" i="0" u="none" strike="noStrike" kern="1200" err="1">
                <a:solidFill>
                  <a:schemeClr val="tx1"/>
                </a:solidFill>
                <a:effectLst/>
                <a:latin typeface="+mn-lt"/>
                <a:ea typeface="+mn-ea"/>
                <a:cs typeface="+mn-cs"/>
              </a:rPr>
              <a:t>exPlanations</a:t>
            </a:r>
            <a:r>
              <a:rPr lang="en-US" sz="1200" b="1" i="0" u="none" strike="noStrike" kern="1200">
                <a:solidFill>
                  <a:schemeClr val="tx1"/>
                </a:solidFill>
                <a:effectLst/>
                <a:latin typeface="+mn-lt"/>
                <a:ea typeface="+mn-ea"/>
                <a:cs typeface="+mn-cs"/>
              </a:rPr>
              <a:t>):</a:t>
            </a:r>
            <a:r>
              <a:rPr lang="en-US" sz="1200" b="0" i="0" u="none" strike="noStrike" kern="1200">
                <a:solidFill>
                  <a:schemeClr val="tx1"/>
                </a:solidFill>
                <a:effectLst/>
                <a:latin typeface="+mn-lt"/>
                <a:ea typeface="+mn-ea"/>
                <a:cs typeface="+mn-cs"/>
              </a:rPr>
              <a:t> Compute feature importance and local explanations for SVM predictions to understand why specific users are flagged as churn-risk.</a:t>
            </a:r>
          </a:p>
          <a:p>
            <a:r>
              <a:rPr lang="en-US" sz="1200" b="1" i="0" u="none" strike="noStrike" kern="1200">
                <a:solidFill>
                  <a:schemeClr val="tx1"/>
                </a:solidFill>
                <a:effectLst/>
                <a:latin typeface="+mn-lt"/>
                <a:ea typeface="+mn-ea"/>
                <a:cs typeface="+mn-cs"/>
              </a:rPr>
              <a:t>Partial dependence plots:</a:t>
            </a:r>
            <a:r>
              <a:rPr lang="en-US" sz="1200" b="0" i="0" u="none" strike="noStrike" kern="1200">
                <a:solidFill>
                  <a:schemeClr val="tx1"/>
                </a:solidFill>
                <a:effectLst/>
                <a:latin typeface="+mn-lt"/>
                <a:ea typeface="+mn-ea"/>
                <a:cs typeface="+mn-cs"/>
              </a:rPr>
              <a:t> Visualize how individual features (e.g., recency, revenue lag) influence churn probability, supporting actionable retention insights.</a:t>
            </a:r>
          </a:p>
          <a:p>
            <a:r>
              <a:rPr lang="en-US" sz="1200" b="1" i="0" u="none" strike="noStrike" kern="1200">
                <a:solidFill>
                  <a:schemeClr val="tx1"/>
                </a:solidFill>
                <a:effectLst/>
                <a:latin typeface="+mn-lt"/>
                <a:ea typeface="+mn-ea"/>
                <a:cs typeface="+mn-cs"/>
              </a:rPr>
              <a:t>Decision boundary analysis:</a:t>
            </a:r>
            <a:r>
              <a:rPr lang="en-US" sz="1200" b="0" i="0" u="none" strike="noStrike" kern="1200">
                <a:solidFill>
                  <a:schemeClr val="tx1"/>
                </a:solidFill>
                <a:effectLst/>
                <a:latin typeface="+mn-lt"/>
                <a:ea typeface="+mn-ea"/>
                <a:cs typeface="+mn-cs"/>
              </a:rPr>
              <a:t> Characterize the SVM decision surface to identify feature combinations that separate churners from retained users.</a:t>
            </a:r>
          </a:p>
          <a:p>
            <a:r>
              <a:rPr lang="en-US" sz="1200" b="1" i="0" u="none" strike="noStrike" kern="1200">
                <a:solidFill>
                  <a:schemeClr val="tx1"/>
                </a:solidFill>
                <a:effectLst/>
                <a:latin typeface="+mn-lt"/>
                <a:ea typeface="+mn-ea"/>
                <a:cs typeface="+mn-cs"/>
              </a:rPr>
              <a:t>3. Temporal Dynamics and Concept Drift</a:t>
            </a:r>
          </a:p>
          <a:p>
            <a:r>
              <a:rPr lang="en-US" sz="1200" b="1" i="0" u="none" strike="noStrike" kern="1200">
                <a:solidFill>
                  <a:schemeClr val="tx1"/>
                </a:solidFill>
                <a:effectLst/>
                <a:latin typeface="+mn-lt"/>
                <a:ea typeface="+mn-ea"/>
                <a:cs typeface="+mn-cs"/>
              </a:rPr>
              <a:t>Time-series cross-validation:</a:t>
            </a:r>
            <a:r>
              <a:rPr lang="en-US" sz="1200" b="0" i="0" u="none" strike="noStrike" kern="1200">
                <a:solidFill>
                  <a:schemeClr val="tx1"/>
                </a:solidFill>
                <a:effectLst/>
                <a:latin typeface="+mn-lt"/>
                <a:ea typeface="+mn-ea"/>
                <a:cs typeface="+mn-cs"/>
              </a:rPr>
              <a:t> Use temporal splits (train on months 1–9, test on month 10) instead of random splits to simulate real-world deployment where the model scores future users.</a:t>
            </a:r>
          </a:p>
          <a:p>
            <a:r>
              <a:rPr lang="en-US" sz="1200" b="1" i="0" u="none" strike="noStrike" kern="1200">
                <a:solidFill>
                  <a:schemeClr val="tx1"/>
                </a:solidFill>
                <a:effectLst/>
                <a:latin typeface="+mn-lt"/>
                <a:ea typeface="+mn-ea"/>
                <a:cs typeface="+mn-cs"/>
              </a:rPr>
              <a:t>Drift detection:</a:t>
            </a:r>
            <a:r>
              <a:rPr lang="en-US" sz="1200" b="0" i="0" u="none" strike="noStrike" kern="1200">
                <a:solidFill>
                  <a:schemeClr val="tx1"/>
                </a:solidFill>
                <a:effectLst/>
                <a:latin typeface="+mn-lt"/>
                <a:ea typeface="+mn-ea"/>
                <a:cs typeface="+mn-cs"/>
              </a:rPr>
              <a:t> Monitor feature distributions and model performance on held-out monthly cohorts to detect concept drift and trigger retraining.</a:t>
            </a:r>
          </a:p>
          <a:p>
            <a:r>
              <a:rPr lang="en-US" sz="1200" b="1" i="0" u="none" strike="noStrike" kern="1200">
                <a:solidFill>
                  <a:schemeClr val="tx1"/>
                </a:solidFill>
                <a:effectLst/>
                <a:latin typeface="+mn-lt"/>
                <a:ea typeface="+mn-ea"/>
                <a:cs typeface="+mn-cs"/>
              </a:rPr>
              <a:t>Online learning:</a:t>
            </a:r>
            <a:r>
              <a:rPr lang="en-US" sz="1200" b="0" i="0" u="none" strike="noStrike" kern="1200">
                <a:solidFill>
                  <a:schemeClr val="tx1"/>
                </a:solidFill>
                <a:effectLst/>
                <a:latin typeface="+mn-lt"/>
                <a:ea typeface="+mn-ea"/>
                <a:cs typeface="+mn-cs"/>
              </a:rPr>
              <a:t> Implement incremental SVM or ensemble methods that adapt to evolving user behavior without full retraining.</a:t>
            </a:r>
          </a:p>
          <a:p>
            <a:r>
              <a:rPr lang="en-US" sz="1200" b="1" i="0" u="none" strike="noStrike" kern="1200">
                <a:solidFill>
                  <a:schemeClr val="tx1"/>
                </a:solidFill>
                <a:effectLst/>
                <a:latin typeface="+mn-lt"/>
                <a:ea typeface="+mn-ea"/>
                <a:cs typeface="+mn-cs"/>
              </a:rPr>
              <a:t>4. Cost-Sensitive and Business-Aligned Modeling</a:t>
            </a:r>
          </a:p>
          <a:p>
            <a:r>
              <a:rPr lang="en-US" sz="1200" b="1" i="0" u="none" strike="noStrike" kern="1200">
                <a:solidFill>
                  <a:schemeClr val="tx1"/>
                </a:solidFill>
                <a:effectLst/>
                <a:latin typeface="+mn-lt"/>
                <a:ea typeface="+mn-ea"/>
                <a:cs typeface="+mn-cs"/>
              </a:rPr>
              <a:t>Profit-maximizing thresholds:</a:t>
            </a:r>
            <a:r>
              <a:rPr lang="en-US" sz="1200" b="0" i="0" u="none" strike="noStrike" kern="1200">
                <a:solidFill>
                  <a:schemeClr val="tx1"/>
                </a:solidFill>
                <a:effectLst/>
                <a:latin typeface="+mn-lt"/>
                <a:ea typeface="+mn-ea"/>
                <a:cs typeface="+mn-cs"/>
              </a:rPr>
              <a:t> Calibrate churn prediction thresholds to maximize retention ROI by weighting false negatives (missed churners) and false positives (over-targeting) by estimated customer lifetime value.</a:t>
            </a:r>
          </a:p>
          <a:p>
            <a:r>
              <a:rPr lang="en-US" sz="1200" b="1" i="0" u="none" strike="noStrike" kern="1200">
                <a:solidFill>
                  <a:schemeClr val="tx1"/>
                </a:solidFill>
                <a:effectLst/>
                <a:latin typeface="+mn-lt"/>
                <a:ea typeface="+mn-ea"/>
                <a:cs typeface="+mn-cs"/>
              </a:rPr>
              <a:t>Segmented models:</a:t>
            </a:r>
            <a:r>
              <a:rPr lang="en-US" sz="1200" b="0" i="0" u="none" strike="noStrike" kern="1200">
                <a:solidFill>
                  <a:schemeClr val="tx1"/>
                </a:solidFill>
                <a:effectLst/>
                <a:latin typeface="+mn-lt"/>
                <a:ea typeface="+mn-ea"/>
                <a:cs typeface="+mn-cs"/>
              </a:rPr>
              <a:t> Build separate models for high-value vs. low-value customers or different product lines to reflect heterogeneous churn patterns and retention costs.</a:t>
            </a:r>
          </a:p>
          <a:p>
            <a:r>
              <a:rPr lang="en-US" sz="1200" b="1" i="0" u="none" strike="noStrike" kern="1200">
                <a:solidFill>
                  <a:schemeClr val="tx1"/>
                </a:solidFill>
                <a:effectLst/>
                <a:latin typeface="+mn-lt"/>
                <a:ea typeface="+mn-ea"/>
                <a:cs typeface="+mn-cs"/>
              </a:rPr>
              <a:t>A/B testing framework:</a:t>
            </a:r>
            <a:r>
              <a:rPr lang="en-US" sz="1200" b="0" i="0" u="none" strike="noStrike" kern="1200">
                <a:solidFill>
                  <a:schemeClr val="tx1"/>
                </a:solidFill>
                <a:effectLst/>
                <a:latin typeface="+mn-lt"/>
                <a:ea typeface="+mn-ea"/>
                <a:cs typeface="+mn-cs"/>
              </a:rPr>
              <a:t> Design controlled experiments to measure retention campaign effectiveness and refine targeting rules based on real-world outcomes.</a:t>
            </a:r>
          </a:p>
          <a:p>
            <a:r>
              <a:rPr lang="en-US" sz="1200" b="1" i="0" u="none" strike="noStrike" kern="1200">
                <a:solidFill>
                  <a:schemeClr val="tx1"/>
                </a:solidFill>
                <a:effectLst/>
                <a:latin typeface="+mn-lt"/>
                <a:ea typeface="+mn-ea"/>
                <a:cs typeface="+mn-cs"/>
              </a:rPr>
              <a:t>5. Ensemble and Deep Learning Approaches</a:t>
            </a:r>
          </a:p>
          <a:p>
            <a:r>
              <a:rPr lang="en-US" sz="1200" b="1" i="0" u="none" strike="noStrike" kern="1200">
                <a:solidFill>
                  <a:schemeClr val="tx1"/>
                </a:solidFill>
                <a:effectLst/>
                <a:latin typeface="+mn-lt"/>
                <a:ea typeface="+mn-ea"/>
                <a:cs typeface="+mn-cs"/>
              </a:rPr>
              <a:t>Stacking and voting ensembles:</a:t>
            </a:r>
            <a:r>
              <a:rPr lang="en-US" sz="1200" b="0" i="0" u="none" strike="noStrike" kern="1200">
                <a:solidFill>
                  <a:schemeClr val="tx1"/>
                </a:solidFill>
                <a:effectLst/>
                <a:latin typeface="+mn-lt"/>
                <a:ea typeface="+mn-ea"/>
                <a:cs typeface="+mn-cs"/>
              </a:rPr>
              <a:t> Combine SVM, Random Forest, Gradient Boosting (</a:t>
            </a:r>
            <a:r>
              <a:rPr lang="en-US" sz="1200" b="0" i="0" u="none" strike="noStrike" kern="1200" err="1">
                <a:solidFill>
                  <a:schemeClr val="tx1"/>
                </a:solidFill>
                <a:effectLst/>
                <a:latin typeface="+mn-lt"/>
                <a:ea typeface="+mn-ea"/>
                <a:cs typeface="+mn-cs"/>
              </a:rPr>
              <a:t>XGBoost</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LightGBM</a:t>
            </a:r>
            <a:r>
              <a:rPr lang="en-US" sz="1200" b="0" i="0" u="none" strike="noStrike" kern="1200">
                <a:solidFill>
                  <a:schemeClr val="tx1"/>
                </a:solidFill>
                <a:effectLst/>
                <a:latin typeface="+mn-lt"/>
                <a:ea typeface="+mn-ea"/>
                <a:cs typeface="+mn-cs"/>
              </a:rPr>
              <a:t>), and neural networks via meta-learners to potentially exceed 99.71% accuracy.</a:t>
            </a:r>
          </a:p>
          <a:p>
            <a:r>
              <a:rPr lang="en-US" sz="1200" b="1" i="0" u="none" strike="noStrike" kern="1200">
                <a:solidFill>
                  <a:schemeClr val="tx1"/>
                </a:solidFill>
                <a:effectLst/>
                <a:latin typeface="+mn-lt"/>
                <a:ea typeface="+mn-ea"/>
                <a:cs typeface="+mn-cs"/>
              </a:rPr>
              <a:t>Deep neural networks:</a:t>
            </a:r>
            <a:r>
              <a:rPr lang="en-US" sz="1200" b="0" i="0" u="none" strike="noStrike" kern="1200">
                <a:solidFill>
                  <a:schemeClr val="tx1"/>
                </a:solidFill>
                <a:effectLst/>
                <a:latin typeface="+mn-lt"/>
                <a:ea typeface="+mn-ea"/>
                <a:cs typeface="+mn-cs"/>
              </a:rPr>
              <a:t> Experiment with multi-layer </a:t>
            </a:r>
            <a:r>
              <a:rPr lang="en-US" sz="1200" b="0" i="0" u="none" strike="noStrike" kern="1200" err="1">
                <a:solidFill>
                  <a:schemeClr val="tx1"/>
                </a:solidFill>
                <a:effectLst/>
                <a:latin typeface="+mn-lt"/>
                <a:ea typeface="+mn-ea"/>
                <a:cs typeface="+mn-cs"/>
              </a:rPr>
              <a:t>perceptrons</a:t>
            </a:r>
            <a:r>
              <a:rPr lang="en-US" sz="1200" b="0" i="0" u="none" strike="noStrike" kern="1200">
                <a:solidFill>
                  <a:schemeClr val="tx1"/>
                </a:solidFill>
                <a:effectLst/>
                <a:latin typeface="+mn-lt"/>
                <a:ea typeface="+mn-ea"/>
                <a:cs typeface="+mn-cs"/>
              </a:rPr>
              <a:t>, attention mechanisms, or graph neural networks to capture non-linear feature interactions automatically.</a:t>
            </a:r>
          </a:p>
          <a:p>
            <a:r>
              <a:rPr lang="en-US" sz="1200" b="1" i="0" u="none" strike="noStrike" kern="1200">
                <a:solidFill>
                  <a:schemeClr val="tx1"/>
                </a:solidFill>
                <a:effectLst/>
                <a:latin typeface="+mn-lt"/>
                <a:ea typeface="+mn-ea"/>
                <a:cs typeface="+mn-cs"/>
              </a:rPr>
              <a:t>Calibrated uncertainty estimation:</a:t>
            </a:r>
            <a:r>
              <a:rPr lang="en-US" sz="1200" b="0" i="0" u="none" strike="noStrike" kern="1200">
                <a:solidFill>
                  <a:schemeClr val="tx1"/>
                </a:solidFill>
                <a:effectLst/>
                <a:latin typeface="+mn-lt"/>
                <a:ea typeface="+mn-ea"/>
                <a:cs typeface="+mn-cs"/>
              </a:rPr>
              <a:t> Use Bayesian approaches (e.g., variational inference) or ensemble methods to quantify prediction uncertainty, supporting risk-aware retention decisions.</a:t>
            </a:r>
          </a:p>
          <a:p>
            <a:r>
              <a:rPr lang="en-US" sz="1200" b="1" i="0" u="none" strike="noStrike" kern="1200">
                <a:solidFill>
                  <a:schemeClr val="tx1"/>
                </a:solidFill>
                <a:effectLst/>
                <a:latin typeface="+mn-lt"/>
                <a:ea typeface="+mn-ea"/>
                <a:cs typeface="+mn-cs"/>
              </a:rPr>
              <a:t>6. Real-Time Scoring and Operational Integration</a:t>
            </a:r>
          </a:p>
          <a:p>
            <a:r>
              <a:rPr lang="en-US" sz="1200" b="1" i="0" u="none" strike="noStrike" kern="1200">
                <a:solidFill>
                  <a:schemeClr val="tx1"/>
                </a:solidFill>
                <a:effectLst/>
                <a:latin typeface="+mn-lt"/>
                <a:ea typeface="+mn-ea"/>
                <a:cs typeface="+mn-cs"/>
              </a:rPr>
              <a:t>API and monitoring:</a:t>
            </a:r>
            <a:r>
              <a:rPr lang="en-US" sz="1200" b="0" i="0" u="none" strike="noStrike" kern="1200">
                <a:solidFill>
                  <a:schemeClr val="tx1"/>
                </a:solidFill>
                <a:effectLst/>
                <a:latin typeface="+mn-lt"/>
                <a:ea typeface="+mn-ea"/>
                <a:cs typeface="+mn-cs"/>
              </a:rPr>
              <a:t> Deploy the trained SVM model as a REST API for real-time scoring of new user interactions and events.</a:t>
            </a:r>
          </a:p>
          <a:p>
            <a:r>
              <a:rPr lang="en-US" sz="1200" b="1" i="0" u="none" strike="noStrike" kern="1200">
                <a:solidFill>
                  <a:schemeClr val="tx1"/>
                </a:solidFill>
                <a:effectLst/>
                <a:latin typeface="+mn-lt"/>
                <a:ea typeface="+mn-ea"/>
                <a:cs typeface="+mn-cs"/>
              </a:rPr>
              <a:t>Feature store:</a:t>
            </a:r>
            <a:r>
              <a:rPr lang="en-US" sz="1200" b="0" i="0" u="none" strike="noStrike" kern="1200">
                <a:solidFill>
                  <a:schemeClr val="tx1"/>
                </a:solidFill>
                <a:effectLst/>
                <a:latin typeface="+mn-lt"/>
                <a:ea typeface="+mn-ea"/>
                <a:cs typeface="+mn-cs"/>
              </a:rPr>
              <a:t> Build a centralized feature engineering and storage system (e.g., Feast, </a:t>
            </a:r>
            <a:r>
              <a:rPr lang="en-US" sz="1200" b="0" i="0" u="none" strike="noStrike" kern="1200" err="1">
                <a:solidFill>
                  <a:schemeClr val="tx1"/>
                </a:solidFill>
                <a:effectLst/>
                <a:latin typeface="+mn-lt"/>
                <a:ea typeface="+mn-ea"/>
                <a:cs typeface="+mn-cs"/>
              </a:rPr>
              <a:t>Tecton</a:t>
            </a:r>
            <a:r>
              <a:rPr lang="en-US" sz="1200" b="0" i="0" u="none" strike="noStrike" kern="1200">
                <a:solidFill>
                  <a:schemeClr val="tx1"/>
                </a:solidFill>
                <a:effectLst/>
                <a:latin typeface="+mn-lt"/>
                <a:ea typeface="+mn-ea"/>
                <a:cs typeface="+mn-cs"/>
              </a:rPr>
              <a:t>) to ensure consistency between training and production feature computation.</a:t>
            </a:r>
          </a:p>
          <a:p>
            <a:r>
              <a:rPr lang="en-US" sz="1200" b="1" i="0" u="none" strike="noStrike" kern="1200">
                <a:solidFill>
                  <a:schemeClr val="tx1"/>
                </a:solidFill>
                <a:effectLst/>
                <a:latin typeface="+mn-lt"/>
                <a:ea typeface="+mn-ea"/>
                <a:cs typeface="+mn-cs"/>
              </a:rPr>
              <a:t>Automated retraining pipeline:</a:t>
            </a:r>
            <a:r>
              <a:rPr lang="en-US" sz="1200" b="0" i="0" u="none" strike="noStrike" kern="1200">
                <a:solidFill>
                  <a:schemeClr val="tx1"/>
                </a:solidFill>
                <a:effectLst/>
                <a:latin typeface="+mn-lt"/>
                <a:ea typeface="+mn-ea"/>
                <a:cs typeface="+mn-cs"/>
              </a:rPr>
              <a:t> Implement </a:t>
            </a:r>
            <a:r>
              <a:rPr lang="en-US" sz="1200" b="0" i="0" u="none" strike="noStrike" kern="1200" err="1">
                <a:solidFill>
                  <a:schemeClr val="tx1"/>
                </a:solidFill>
                <a:effectLst/>
                <a:latin typeface="+mn-lt"/>
                <a:ea typeface="+mn-ea"/>
                <a:cs typeface="+mn-cs"/>
              </a:rPr>
              <a:t>MLOps</a:t>
            </a:r>
            <a:r>
              <a:rPr lang="en-US" sz="1200" b="0" i="0" u="none" strike="noStrike" kern="1200">
                <a:solidFill>
                  <a:schemeClr val="tx1"/>
                </a:solidFill>
                <a:effectLst/>
                <a:latin typeface="+mn-lt"/>
                <a:ea typeface="+mn-ea"/>
                <a:cs typeface="+mn-cs"/>
              </a:rPr>
              <a:t> workflows (e.g., using Docker, Kubernetes, Airflow) for periodic model retraining, validation, and canary deployments.</a:t>
            </a:r>
          </a:p>
          <a:p>
            <a:r>
              <a:rPr lang="en-US" sz="1200" b="1" i="0" u="none" strike="noStrike" kern="1200">
                <a:solidFill>
                  <a:schemeClr val="tx1"/>
                </a:solidFill>
                <a:effectLst/>
                <a:latin typeface="+mn-lt"/>
                <a:ea typeface="+mn-ea"/>
                <a:cs typeface="+mn-cs"/>
              </a:rPr>
              <a:t>7. Data Quality and Privacy</a:t>
            </a:r>
          </a:p>
          <a:p>
            <a:r>
              <a:rPr lang="en-US" sz="1200" b="1" i="0" u="none" strike="noStrike" kern="1200">
                <a:solidFill>
                  <a:schemeClr val="tx1"/>
                </a:solidFill>
                <a:effectLst/>
                <a:latin typeface="+mn-lt"/>
                <a:ea typeface="+mn-ea"/>
                <a:cs typeface="+mn-cs"/>
              </a:rPr>
              <a:t>Data augmentation:</a:t>
            </a:r>
            <a:r>
              <a:rPr lang="en-US" sz="1200" b="0" i="0" u="none" strike="noStrike" kern="1200">
                <a:solidFill>
                  <a:schemeClr val="tx1"/>
                </a:solidFill>
                <a:effectLst/>
                <a:latin typeface="+mn-lt"/>
                <a:ea typeface="+mn-ea"/>
                <a:cs typeface="+mn-cs"/>
              </a:rPr>
              <a:t> Explore synthetic data generation (e.g., SMOTE, VAE) to address any imbalanced segments or rare churn patterns underrepresented in the training set.</a:t>
            </a:r>
          </a:p>
          <a:p>
            <a:r>
              <a:rPr lang="en-US" sz="1200" b="1" i="0" u="none" strike="noStrike" kern="1200">
                <a:solidFill>
                  <a:schemeClr val="tx1"/>
                </a:solidFill>
                <a:effectLst/>
                <a:latin typeface="+mn-lt"/>
                <a:ea typeface="+mn-ea"/>
                <a:cs typeface="+mn-cs"/>
              </a:rPr>
              <a:t>Privacy-preserving modeling:</a:t>
            </a:r>
            <a:r>
              <a:rPr lang="en-US" sz="1200" b="0" i="0" u="none" strike="noStrike" kern="1200">
                <a:solidFill>
                  <a:schemeClr val="tx1"/>
                </a:solidFill>
                <a:effectLst/>
                <a:latin typeface="+mn-lt"/>
                <a:ea typeface="+mn-ea"/>
                <a:cs typeface="+mn-cs"/>
              </a:rPr>
              <a:t> Implement differential privacy or federated learning to build churn models while protecting user data, relevant for GDPR/CCPA compliance.</a:t>
            </a:r>
          </a:p>
          <a:p>
            <a:r>
              <a:rPr lang="en-US" sz="1200" b="1" i="0" u="none" strike="noStrike" kern="1200">
                <a:solidFill>
                  <a:schemeClr val="tx1"/>
                </a:solidFill>
                <a:effectLst/>
                <a:latin typeface="+mn-lt"/>
                <a:ea typeface="+mn-ea"/>
                <a:cs typeface="+mn-cs"/>
              </a:rPr>
              <a:t>Bias and fairness audits:</a:t>
            </a:r>
            <a:r>
              <a:rPr lang="en-US" sz="1200" b="0" i="0" u="none" strike="noStrike" kern="1200">
                <a:solidFill>
                  <a:schemeClr val="tx1"/>
                </a:solidFill>
                <a:effectLst/>
                <a:latin typeface="+mn-lt"/>
                <a:ea typeface="+mn-ea"/>
                <a:cs typeface="+mn-cs"/>
              </a:rPr>
              <a:t> Assess whether the model exhibits disparate impact across demographic or geographic segments and mitigate via fairness-aware reweighting or constraints.</a:t>
            </a:r>
          </a:p>
          <a:p>
            <a:r>
              <a:rPr lang="en-US" sz="1200" b="1" i="0" u="none" strike="noStrike" kern="1200">
                <a:solidFill>
                  <a:schemeClr val="tx1"/>
                </a:solidFill>
                <a:effectLst/>
                <a:latin typeface="+mn-lt"/>
                <a:ea typeface="+mn-ea"/>
                <a:cs typeface="+mn-cs"/>
              </a:rPr>
              <a:t>8. Domain-Specific Enhancements</a:t>
            </a:r>
          </a:p>
          <a:p>
            <a:r>
              <a:rPr lang="en-US" sz="1200" b="1" i="0" u="none" strike="noStrike" kern="1200">
                <a:solidFill>
                  <a:schemeClr val="tx1"/>
                </a:solidFill>
                <a:effectLst/>
                <a:latin typeface="+mn-lt"/>
                <a:ea typeface="+mn-ea"/>
                <a:cs typeface="+mn-cs"/>
              </a:rPr>
              <a:t>Customer lifetime value prediction:</a:t>
            </a:r>
            <a:r>
              <a:rPr lang="en-US" sz="1200" b="0" i="0" u="none" strike="noStrike" kern="1200">
                <a:solidFill>
                  <a:schemeClr val="tx1"/>
                </a:solidFill>
                <a:effectLst/>
                <a:latin typeface="+mn-lt"/>
                <a:ea typeface="+mn-ea"/>
                <a:cs typeface="+mn-cs"/>
              </a:rPr>
              <a:t> Jointly model churn and revenue to prioritize retention spending on high-value customer segments.</a:t>
            </a:r>
          </a:p>
          <a:p>
            <a:r>
              <a:rPr lang="en-US" sz="1200" b="1" i="0" u="none" strike="noStrike" kern="1200">
                <a:solidFill>
                  <a:schemeClr val="tx1"/>
                </a:solidFill>
                <a:effectLst/>
                <a:latin typeface="+mn-lt"/>
                <a:ea typeface="+mn-ea"/>
                <a:cs typeface="+mn-cs"/>
              </a:rPr>
              <a:t>Win-back campaigns:</a:t>
            </a:r>
            <a:r>
              <a:rPr lang="en-US" sz="1200" b="0" i="0" u="none" strike="noStrike" kern="1200">
                <a:solidFill>
                  <a:schemeClr val="tx1"/>
                </a:solidFill>
                <a:effectLst/>
                <a:latin typeface="+mn-lt"/>
                <a:ea typeface="+mn-ea"/>
                <a:cs typeface="+mn-cs"/>
              </a:rPr>
              <a:t> Build separate models for users who have churned to predict win-back likelihood and optimal timing/channel for re-engagement.</a:t>
            </a:r>
          </a:p>
          <a:p>
            <a:r>
              <a:rPr lang="en-US" sz="1200" b="1" i="0" u="none" strike="noStrike" kern="1200">
                <a:solidFill>
                  <a:schemeClr val="tx1"/>
                </a:solidFill>
                <a:effectLst/>
                <a:latin typeface="+mn-lt"/>
                <a:ea typeface="+mn-ea"/>
                <a:cs typeface="+mn-cs"/>
              </a:rPr>
              <a:t>Churn reason inference:</a:t>
            </a:r>
            <a:r>
              <a:rPr lang="en-US" sz="1200" b="0" i="0" u="none" strike="noStrike" kern="1200">
                <a:solidFill>
                  <a:schemeClr val="tx1"/>
                </a:solidFill>
                <a:effectLst/>
                <a:latin typeface="+mn-lt"/>
                <a:ea typeface="+mn-ea"/>
                <a:cs typeface="+mn-cs"/>
              </a:rPr>
              <a:t> Combine churn predictions with textual analysis of support tickets, reviews, or surveys to identify root causes and inform product improvements.</a:t>
            </a:r>
          </a:p>
          <a:p>
            <a:endParaRPr lang="en-US" sz="1200" b="0" i="0" u="none" strike="noStrike" kern="1200">
              <a:solidFill>
                <a:schemeClr val="tx1"/>
              </a:solidFill>
              <a:effectLst/>
              <a:latin typeface="+mn-lt"/>
              <a:ea typeface="+mn-ea"/>
              <a:cs typeface="+mn-cs"/>
            </a:endParaRPr>
          </a:p>
          <a:p>
            <a:endParaRPr lang="en-US" sz="1200" b="0"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Interactive churn monitoring dashboard (future work):</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Build a dashboard (e.g., in Power BI, Tableau, or a Python web app) to visualize:</a:t>
            </a:r>
          </a:p>
          <a:p>
            <a:pPr lvl="2"/>
            <a:r>
              <a:rPr lang="en-US" sz="1200" b="0" i="0" u="none" strike="noStrike" kern="1200">
                <a:solidFill>
                  <a:schemeClr val="tx1"/>
                </a:solidFill>
                <a:effectLst/>
                <a:latin typeface="+mn-lt"/>
                <a:ea typeface="+mn-ea"/>
                <a:cs typeface="+mn-cs"/>
              </a:rPr>
              <a:t>Overall churn rate and trend over time.</a:t>
            </a:r>
          </a:p>
          <a:p>
            <a:pPr lvl="2"/>
            <a:r>
              <a:rPr lang="en-US" sz="1200" b="0" i="0" u="none" strike="noStrike" kern="1200">
                <a:solidFill>
                  <a:schemeClr val="tx1"/>
                </a:solidFill>
                <a:effectLst/>
                <a:latin typeface="+mn-lt"/>
                <a:ea typeface="+mn-ea"/>
                <a:cs typeface="+mn-cs"/>
              </a:rPr>
              <a:t>Distribution of predicted churn probabilities by segment (e.g., high-, medium-, low-value customers).</a:t>
            </a:r>
          </a:p>
          <a:p>
            <a:pPr lvl="2"/>
            <a:r>
              <a:rPr lang="en-US" sz="1200" b="0" i="0" u="none" strike="noStrike" kern="1200">
                <a:solidFill>
                  <a:schemeClr val="tx1"/>
                </a:solidFill>
                <a:effectLst/>
                <a:latin typeface="+mn-lt"/>
                <a:ea typeface="+mn-ea"/>
                <a:cs typeface="+mn-cs"/>
              </a:rPr>
              <a:t>Top contributing features for each segment (e.g., high recency, declining revenue, low purchase counts).</a:t>
            </a:r>
          </a:p>
          <a:p>
            <a:pPr lvl="1"/>
            <a:r>
              <a:rPr lang="en-US" sz="1200" b="0" i="0" u="none" strike="noStrike" kern="1200">
                <a:solidFill>
                  <a:schemeClr val="tx1"/>
                </a:solidFill>
                <a:effectLst/>
                <a:latin typeface="+mn-lt"/>
                <a:ea typeface="+mn-ea"/>
                <a:cs typeface="+mn-cs"/>
              </a:rPr>
              <a:t>The dashboard would surface a </a:t>
            </a:r>
            <a:r>
              <a:rPr lang="en-US" sz="1200" b="1" i="0" u="none" strike="noStrike" kern="1200">
                <a:solidFill>
                  <a:schemeClr val="tx1"/>
                </a:solidFill>
                <a:effectLst/>
                <a:latin typeface="+mn-lt"/>
                <a:ea typeface="+mn-ea"/>
                <a:cs typeface="+mn-cs"/>
              </a:rPr>
              <a:t>ranked list of high-risk customers</a:t>
            </a:r>
            <a:r>
              <a:rPr lang="en-US" sz="1200" b="0" i="0" u="none" strike="noStrike" kern="1200">
                <a:solidFill>
                  <a:schemeClr val="tx1"/>
                </a:solidFill>
                <a:effectLst/>
                <a:latin typeface="+mn-lt"/>
                <a:ea typeface="+mn-ea"/>
                <a:cs typeface="+mn-cs"/>
              </a:rPr>
              <a:t>, with:</a:t>
            </a:r>
          </a:p>
          <a:p>
            <a:pPr lvl="2"/>
            <a:r>
              <a:rPr lang="en-US" sz="1200" b="0" i="0" u="none" strike="noStrike" kern="1200">
                <a:solidFill>
                  <a:schemeClr val="tx1"/>
                </a:solidFill>
                <a:effectLst/>
                <a:latin typeface="+mn-lt"/>
                <a:ea typeface="+mn-ea"/>
                <a:cs typeface="+mn-cs"/>
              </a:rPr>
              <a:t>Predicted churn probability.</a:t>
            </a:r>
          </a:p>
          <a:p>
            <a:pPr lvl="2"/>
            <a:r>
              <a:rPr lang="en-US" sz="1200" b="0" i="0" u="none" strike="noStrike" kern="1200">
                <a:solidFill>
                  <a:schemeClr val="tx1"/>
                </a:solidFill>
                <a:effectLst/>
                <a:latin typeface="+mn-lt"/>
                <a:ea typeface="+mn-ea"/>
                <a:cs typeface="+mn-cs"/>
              </a:rPr>
              <a:t>Expected revenue loss (using </a:t>
            </a:r>
            <a:r>
              <a:rPr lang="en-US" sz="1200" b="0" i="0" u="none" strike="noStrike" kern="1200" err="1">
                <a:solidFill>
                  <a:schemeClr val="tx1"/>
                </a:solidFill>
                <a:effectLst/>
                <a:latin typeface="+mn-lt"/>
                <a:ea typeface="+mn-ea"/>
                <a:cs typeface="+mn-cs"/>
              </a:rPr>
              <a:t>target_revenue</a:t>
            </a:r>
            <a:r>
              <a:rPr lang="en-US" sz="1200" b="0" i="0" u="none" strike="noStrike" kern="1200">
                <a:solidFill>
                  <a:schemeClr val="tx1"/>
                </a:solidFill>
                <a:effectLst/>
                <a:latin typeface="+mn-lt"/>
                <a:ea typeface="+mn-ea"/>
                <a:cs typeface="+mn-cs"/>
              </a:rPr>
              <a:t> / </a:t>
            </a:r>
            <a:r>
              <a:rPr lang="en-US" sz="1200" b="0" i="0" u="none" strike="noStrike" kern="1200" err="1">
                <a:solidFill>
                  <a:schemeClr val="tx1"/>
                </a:solidFill>
                <a:effectLst/>
                <a:latin typeface="+mn-lt"/>
                <a:ea typeface="+mn-ea"/>
                <a:cs typeface="+mn-cs"/>
              </a:rPr>
              <a:t>target_actual_profit</a:t>
            </a:r>
            <a:r>
              <a:rPr lang="en-US" sz="1200" b="0" i="0" u="none" strike="noStrike" kern="1200">
                <a:solidFill>
                  <a:schemeClr val="tx1"/>
                </a:solidFill>
                <a:effectLst/>
                <a:latin typeface="+mn-lt"/>
                <a:ea typeface="+mn-ea"/>
                <a:cs typeface="+mn-cs"/>
              </a:rPr>
              <a:t>).</a:t>
            </a:r>
          </a:p>
          <a:p>
            <a:pPr lvl="2"/>
            <a:r>
              <a:rPr lang="en-US" sz="1200" b="0" i="0" u="none" strike="noStrike" kern="1200">
                <a:solidFill>
                  <a:schemeClr val="tx1"/>
                </a:solidFill>
                <a:effectLst/>
                <a:latin typeface="+mn-lt"/>
                <a:ea typeface="+mn-ea"/>
                <a:cs typeface="+mn-cs"/>
              </a:rPr>
              <a:t>Key risk drivers from the model explanations (e.g., “no purchase in last 60 days”, “3-month revenue decline”).</a:t>
            </a:r>
          </a:p>
          <a:p>
            <a:r>
              <a:rPr lang="en-US" sz="1200" b="1" i="0" u="none" strike="noStrike" kern="1200">
                <a:solidFill>
                  <a:schemeClr val="tx1"/>
                </a:solidFill>
                <a:effectLst/>
                <a:latin typeface="+mn-lt"/>
                <a:ea typeface="+mn-ea"/>
                <a:cs typeface="+mn-cs"/>
              </a:rPr>
              <a:t>Actionable retention recommendations:</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For each high-risk customer, define rule-based or model-driven </a:t>
            </a:r>
            <a:r>
              <a:rPr lang="en-US" sz="1200" b="1" i="0" u="none" strike="noStrike" kern="1200">
                <a:solidFill>
                  <a:schemeClr val="tx1"/>
                </a:solidFill>
                <a:effectLst/>
                <a:latin typeface="+mn-lt"/>
                <a:ea typeface="+mn-ea"/>
                <a:cs typeface="+mn-cs"/>
              </a:rPr>
              <a:t>next-best-</a:t>
            </a:r>
            <a:r>
              <a:rPr lang="en-US" sz="1200" b="1" i="0" u="none" strike="noStrike" kern="1200" err="1">
                <a:solidFill>
                  <a:schemeClr val="tx1"/>
                </a:solidFill>
                <a:effectLst/>
                <a:latin typeface="+mn-lt"/>
                <a:ea typeface="+mn-ea"/>
                <a:cs typeface="+mn-cs"/>
              </a:rPr>
              <a:t>action</a:t>
            </a:r>
            <a:r>
              <a:rPr lang="en-US" sz="1200" b="0" i="0" u="none" strike="noStrike" kern="1200" err="1">
                <a:solidFill>
                  <a:schemeClr val="tx1"/>
                </a:solidFill>
                <a:effectLst/>
                <a:latin typeface="+mn-lt"/>
                <a:ea typeface="+mn-ea"/>
                <a:cs typeface="+mn-cs"/>
              </a:rPr>
              <a:t>suggestions</a:t>
            </a:r>
            <a:r>
              <a:rPr lang="en-US" sz="1200" b="0" i="0" u="none" strike="noStrike" kern="1200">
                <a:solidFill>
                  <a:schemeClr val="tx1"/>
                </a:solidFill>
                <a:effectLst/>
                <a:latin typeface="+mn-lt"/>
                <a:ea typeface="+mn-ea"/>
                <a:cs typeface="+mn-cs"/>
              </a:rPr>
              <a:t>, such as:</a:t>
            </a:r>
          </a:p>
          <a:p>
            <a:pPr lvl="2"/>
            <a:r>
              <a:rPr lang="en-US" sz="1200" b="0" i="0" u="none" strike="noStrike" kern="1200">
                <a:solidFill>
                  <a:schemeClr val="tx1"/>
                </a:solidFill>
                <a:effectLst/>
                <a:latin typeface="+mn-lt"/>
                <a:ea typeface="+mn-ea"/>
                <a:cs typeface="+mn-cs"/>
              </a:rPr>
              <a:t>Targeted discount or loyalty offer.</a:t>
            </a:r>
          </a:p>
          <a:p>
            <a:pPr lvl="2"/>
            <a:r>
              <a:rPr lang="en-US" sz="1200" b="0" i="0" u="none" strike="noStrike" kern="1200">
                <a:solidFill>
                  <a:schemeClr val="tx1"/>
                </a:solidFill>
                <a:effectLst/>
                <a:latin typeface="+mn-lt"/>
                <a:ea typeface="+mn-ea"/>
                <a:cs typeface="+mn-cs"/>
              </a:rPr>
              <a:t>Personalized email or in-app message.</a:t>
            </a:r>
          </a:p>
          <a:p>
            <a:pPr lvl="2"/>
            <a:r>
              <a:rPr lang="en-US" sz="1200" b="0" i="0" u="none" strike="noStrike" kern="1200">
                <a:solidFill>
                  <a:schemeClr val="tx1"/>
                </a:solidFill>
                <a:effectLst/>
                <a:latin typeface="+mn-lt"/>
                <a:ea typeface="+mn-ea"/>
                <a:cs typeface="+mn-cs"/>
              </a:rPr>
              <a:t>Proactive support outreach for users with negative recent interactions.</a:t>
            </a:r>
          </a:p>
          <a:p>
            <a:pPr lvl="1"/>
            <a:r>
              <a:rPr lang="en-US" sz="1200" b="0" i="0" u="none" strike="noStrike" kern="1200">
                <a:solidFill>
                  <a:schemeClr val="tx1"/>
                </a:solidFill>
                <a:effectLst/>
                <a:latin typeface="+mn-lt"/>
                <a:ea typeface="+mn-ea"/>
                <a:cs typeface="+mn-cs"/>
              </a:rPr>
              <a:t>Track </a:t>
            </a:r>
            <a:r>
              <a:rPr lang="en-US" sz="1200" b="1" i="0" u="none" strike="noStrike" kern="1200">
                <a:solidFill>
                  <a:schemeClr val="tx1"/>
                </a:solidFill>
                <a:effectLst/>
                <a:latin typeface="+mn-lt"/>
                <a:ea typeface="+mn-ea"/>
                <a:cs typeface="+mn-cs"/>
              </a:rPr>
              <a:t>intervention outcomes</a:t>
            </a:r>
            <a:r>
              <a:rPr lang="en-US" sz="1200" b="0" i="0" u="none" strike="noStrike" kern="1200">
                <a:solidFill>
                  <a:schemeClr val="tx1"/>
                </a:solidFill>
                <a:effectLst/>
                <a:latin typeface="+mn-lt"/>
                <a:ea typeface="+mn-ea"/>
                <a:cs typeface="+mn-cs"/>
              </a:rPr>
              <a:t> in the same dashboard (who churned vs who stayed) to continuously refine both the model and the retention strategies</a:t>
            </a:r>
          </a:p>
          <a:p>
            <a:endParaRPr lang="en-US" sz="1200" b="0" i="0" u="none" strike="noStrike"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2D2F83D5-8243-8553-1499-C9103B886434}"/>
              </a:ext>
            </a:extLst>
          </p:cNvPr>
          <p:cNvSpPr>
            <a:spLocks noGrp="1"/>
          </p:cNvSpPr>
          <p:nvPr>
            <p:ph type="sldNum" sz="quarter" idx="5"/>
          </p:nvPr>
        </p:nvSpPr>
        <p:spPr/>
        <p:txBody>
          <a:bodyPr/>
          <a:lstStyle/>
          <a:p>
            <a:fld id="{4B7B3773-8769-024A-962D-217A70B6D2FC}" type="slidenum">
              <a:rPr lang="en-US" smtClean="0"/>
              <a:t>16</a:t>
            </a:fld>
            <a:endParaRPr lang="en-US"/>
          </a:p>
        </p:txBody>
      </p:sp>
    </p:spTree>
    <p:extLst>
      <p:ext uri="{BB962C8B-B14F-4D97-AF65-F5344CB8AC3E}">
        <p14:creationId xmlns:p14="http://schemas.microsoft.com/office/powerpoint/2010/main" val="2671623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47975-C95B-94C2-52EF-01A606E67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02F94-15D6-70FD-724F-6A9F0E6BC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352F-E7A4-BCEB-6D7A-DAC54B8F9F2D}"/>
              </a:ext>
            </a:extLst>
          </p:cNvPr>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1. Advanced OOD Detection Methods</a:t>
            </a:r>
          </a:p>
          <a:p>
            <a:r>
              <a:rPr lang="en-US" sz="1200" b="1" i="0" u="none" strike="noStrike" kern="1200">
                <a:solidFill>
                  <a:schemeClr val="tx1"/>
                </a:solidFill>
                <a:effectLst/>
                <a:latin typeface="+mn-lt"/>
                <a:ea typeface="+mn-ea"/>
                <a:cs typeface="+mn-cs"/>
              </a:rPr>
              <a:t>Isolation Forest and Local Outlier Factor (LOF):</a:t>
            </a:r>
            <a:r>
              <a:rPr lang="en-US" sz="1200" b="0" i="0" u="none" strike="noStrike" kern="1200">
                <a:solidFill>
                  <a:schemeClr val="tx1"/>
                </a:solidFill>
                <a:effectLst/>
                <a:latin typeface="+mn-lt"/>
                <a:ea typeface="+mn-ea"/>
                <a:cs typeface="+mn-cs"/>
              </a:rPr>
              <a:t> Compare KNN distance-based outlier detection with tree-based and local-density methods to assess robustness across different OOD types.</a:t>
            </a:r>
          </a:p>
          <a:p>
            <a:r>
              <a:rPr lang="en-US" sz="1200" b="1" i="0" u="none" strike="noStrike" kern="1200">
                <a:solidFill>
                  <a:schemeClr val="tx1"/>
                </a:solidFill>
                <a:effectLst/>
                <a:latin typeface="+mn-lt"/>
                <a:ea typeface="+mn-ea"/>
                <a:cs typeface="+mn-cs"/>
              </a:rPr>
              <a:t>Autoencoders and generative models:</a:t>
            </a:r>
            <a:r>
              <a:rPr lang="en-US" sz="1200" b="0" i="0" u="none" strike="noStrike" kern="1200">
                <a:solidFill>
                  <a:schemeClr val="tx1"/>
                </a:solidFill>
                <a:effectLst/>
                <a:latin typeface="+mn-lt"/>
                <a:ea typeface="+mn-ea"/>
                <a:cs typeface="+mn-cs"/>
              </a:rPr>
              <a:t> Train unsupervised anomaly detectors to learn the manifold of normal user behavior and flag points with high reconstruction error.</a:t>
            </a:r>
          </a:p>
          <a:p>
            <a:r>
              <a:rPr lang="en-US" sz="1200" b="1" i="0" u="none" strike="noStrike" kern="1200">
                <a:solidFill>
                  <a:schemeClr val="tx1"/>
                </a:solidFill>
                <a:effectLst/>
                <a:latin typeface="+mn-lt"/>
                <a:ea typeface="+mn-ea"/>
                <a:cs typeface="+mn-cs"/>
              </a:rPr>
              <a:t>Confidence calibration:</a:t>
            </a:r>
            <a:r>
              <a:rPr lang="en-US" sz="1200" b="0" i="0" u="none" strike="noStrike" kern="1200">
                <a:solidFill>
                  <a:schemeClr val="tx1"/>
                </a:solidFill>
                <a:effectLst/>
                <a:latin typeface="+mn-lt"/>
                <a:ea typeface="+mn-ea"/>
                <a:cs typeface="+mn-cs"/>
              </a:rPr>
              <a:t> Complement outlier detection with model uncertainty (e.g., </a:t>
            </a:r>
            <a:r>
              <a:rPr lang="en-US" sz="1200" b="0" i="0" u="none" strike="noStrike" kern="1200" err="1">
                <a:solidFill>
                  <a:schemeClr val="tx1"/>
                </a:solidFill>
                <a:effectLst/>
                <a:latin typeface="+mn-lt"/>
                <a:ea typeface="+mn-ea"/>
                <a:cs typeface="+mn-cs"/>
              </a:rPr>
              <a:t>softmax</a:t>
            </a:r>
            <a:r>
              <a:rPr lang="en-US" sz="1200" b="0" i="0" u="none" strike="noStrike" kern="1200">
                <a:solidFill>
                  <a:schemeClr val="tx1"/>
                </a:solidFill>
                <a:effectLst/>
                <a:latin typeface="+mn-lt"/>
                <a:ea typeface="+mn-ea"/>
                <a:cs typeface="+mn-cs"/>
              </a:rPr>
              <a:t> entropy or Bayesian posterior variance) to identify low-confidence predictions alongside OOD samples.</a:t>
            </a:r>
          </a:p>
          <a:p>
            <a:r>
              <a:rPr lang="en-US" sz="1200" b="1" i="0" u="none" strike="noStrike" kern="1200">
                <a:solidFill>
                  <a:schemeClr val="tx1"/>
                </a:solidFill>
                <a:effectLst/>
                <a:latin typeface="+mn-lt"/>
                <a:ea typeface="+mn-ea"/>
                <a:cs typeface="+mn-cs"/>
              </a:rPr>
              <a:t>2. Model Interpretability and Explainability</a:t>
            </a:r>
          </a:p>
          <a:p>
            <a:r>
              <a:rPr lang="en-US" sz="1200" b="1" i="0" u="none" strike="noStrike" kern="1200">
                <a:solidFill>
                  <a:schemeClr val="tx1"/>
                </a:solidFill>
                <a:effectLst/>
                <a:latin typeface="+mn-lt"/>
                <a:ea typeface="+mn-ea"/>
                <a:cs typeface="+mn-cs"/>
              </a:rPr>
              <a:t>SHAP (</a:t>
            </a:r>
            <a:r>
              <a:rPr lang="en-US" sz="1200" b="1" i="0" u="none" strike="noStrike" kern="1200" err="1">
                <a:solidFill>
                  <a:schemeClr val="tx1"/>
                </a:solidFill>
                <a:effectLst/>
                <a:latin typeface="+mn-lt"/>
                <a:ea typeface="+mn-ea"/>
                <a:cs typeface="+mn-cs"/>
              </a:rPr>
              <a:t>SHapley</a:t>
            </a:r>
            <a:r>
              <a:rPr lang="en-US" sz="1200" b="1" i="0" u="none" strike="noStrike" kern="1200">
                <a:solidFill>
                  <a:schemeClr val="tx1"/>
                </a:solidFill>
                <a:effectLst/>
                <a:latin typeface="+mn-lt"/>
                <a:ea typeface="+mn-ea"/>
                <a:cs typeface="+mn-cs"/>
              </a:rPr>
              <a:t> Additive </a:t>
            </a:r>
            <a:r>
              <a:rPr lang="en-US" sz="1200" b="1" i="0" u="none" strike="noStrike" kern="1200" err="1">
                <a:solidFill>
                  <a:schemeClr val="tx1"/>
                </a:solidFill>
                <a:effectLst/>
                <a:latin typeface="+mn-lt"/>
                <a:ea typeface="+mn-ea"/>
                <a:cs typeface="+mn-cs"/>
              </a:rPr>
              <a:t>exPlanations</a:t>
            </a:r>
            <a:r>
              <a:rPr lang="en-US" sz="1200" b="1" i="0" u="none" strike="noStrike" kern="1200">
                <a:solidFill>
                  <a:schemeClr val="tx1"/>
                </a:solidFill>
                <a:effectLst/>
                <a:latin typeface="+mn-lt"/>
                <a:ea typeface="+mn-ea"/>
                <a:cs typeface="+mn-cs"/>
              </a:rPr>
              <a:t>):</a:t>
            </a:r>
            <a:r>
              <a:rPr lang="en-US" sz="1200" b="0" i="0" u="none" strike="noStrike" kern="1200">
                <a:solidFill>
                  <a:schemeClr val="tx1"/>
                </a:solidFill>
                <a:effectLst/>
                <a:latin typeface="+mn-lt"/>
                <a:ea typeface="+mn-ea"/>
                <a:cs typeface="+mn-cs"/>
              </a:rPr>
              <a:t> Compute feature importance and local explanations for SVM predictions to understand why specific users are flagged as churn-risk.</a:t>
            </a:r>
          </a:p>
          <a:p>
            <a:r>
              <a:rPr lang="en-US" sz="1200" b="1" i="0" u="none" strike="noStrike" kern="1200">
                <a:solidFill>
                  <a:schemeClr val="tx1"/>
                </a:solidFill>
                <a:effectLst/>
                <a:latin typeface="+mn-lt"/>
                <a:ea typeface="+mn-ea"/>
                <a:cs typeface="+mn-cs"/>
              </a:rPr>
              <a:t>Partial dependence plots:</a:t>
            </a:r>
            <a:r>
              <a:rPr lang="en-US" sz="1200" b="0" i="0" u="none" strike="noStrike" kern="1200">
                <a:solidFill>
                  <a:schemeClr val="tx1"/>
                </a:solidFill>
                <a:effectLst/>
                <a:latin typeface="+mn-lt"/>
                <a:ea typeface="+mn-ea"/>
                <a:cs typeface="+mn-cs"/>
              </a:rPr>
              <a:t> Visualize how individual features (e.g., recency, revenue lag) influence churn probability, supporting actionable retention insights.</a:t>
            </a:r>
          </a:p>
          <a:p>
            <a:r>
              <a:rPr lang="en-US" sz="1200" b="1" i="0" u="none" strike="noStrike" kern="1200">
                <a:solidFill>
                  <a:schemeClr val="tx1"/>
                </a:solidFill>
                <a:effectLst/>
                <a:latin typeface="+mn-lt"/>
                <a:ea typeface="+mn-ea"/>
                <a:cs typeface="+mn-cs"/>
              </a:rPr>
              <a:t>Decision boundary analysis:</a:t>
            </a:r>
            <a:r>
              <a:rPr lang="en-US" sz="1200" b="0" i="0" u="none" strike="noStrike" kern="1200">
                <a:solidFill>
                  <a:schemeClr val="tx1"/>
                </a:solidFill>
                <a:effectLst/>
                <a:latin typeface="+mn-lt"/>
                <a:ea typeface="+mn-ea"/>
                <a:cs typeface="+mn-cs"/>
              </a:rPr>
              <a:t> Characterize the SVM decision surface to identify feature combinations that separate churners from retained users.</a:t>
            </a:r>
          </a:p>
          <a:p>
            <a:r>
              <a:rPr lang="en-US" sz="1200" b="1" i="0" u="none" strike="noStrike" kern="1200">
                <a:solidFill>
                  <a:schemeClr val="tx1"/>
                </a:solidFill>
                <a:effectLst/>
                <a:latin typeface="+mn-lt"/>
                <a:ea typeface="+mn-ea"/>
                <a:cs typeface="+mn-cs"/>
              </a:rPr>
              <a:t>3. Temporal Dynamics and Concept Drift</a:t>
            </a:r>
          </a:p>
          <a:p>
            <a:r>
              <a:rPr lang="en-US" sz="1200" b="1" i="0" u="none" strike="noStrike" kern="1200">
                <a:solidFill>
                  <a:schemeClr val="tx1"/>
                </a:solidFill>
                <a:effectLst/>
                <a:latin typeface="+mn-lt"/>
                <a:ea typeface="+mn-ea"/>
                <a:cs typeface="+mn-cs"/>
              </a:rPr>
              <a:t>Time-series cross-validation:</a:t>
            </a:r>
            <a:r>
              <a:rPr lang="en-US" sz="1200" b="0" i="0" u="none" strike="noStrike" kern="1200">
                <a:solidFill>
                  <a:schemeClr val="tx1"/>
                </a:solidFill>
                <a:effectLst/>
                <a:latin typeface="+mn-lt"/>
                <a:ea typeface="+mn-ea"/>
                <a:cs typeface="+mn-cs"/>
              </a:rPr>
              <a:t> Use temporal splits (train on months 1–9, test on month 10) instead of random splits to simulate real-world deployment where the model scores future users.</a:t>
            </a:r>
          </a:p>
          <a:p>
            <a:r>
              <a:rPr lang="en-US" sz="1200" b="1" i="0" u="none" strike="noStrike" kern="1200">
                <a:solidFill>
                  <a:schemeClr val="tx1"/>
                </a:solidFill>
                <a:effectLst/>
                <a:latin typeface="+mn-lt"/>
                <a:ea typeface="+mn-ea"/>
                <a:cs typeface="+mn-cs"/>
              </a:rPr>
              <a:t>Drift detection:</a:t>
            </a:r>
            <a:r>
              <a:rPr lang="en-US" sz="1200" b="0" i="0" u="none" strike="noStrike" kern="1200">
                <a:solidFill>
                  <a:schemeClr val="tx1"/>
                </a:solidFill>
                <a:effectLst/>
                <a:latin typeface="+mn-lt"/>
                <a:ea typeface="+mn-ea"/>
                <a:cs typeface="+mn-cs"/>
              </a:rPr>
              <a:t> Monitor feature distributions and model performance on held-out monthly cohorts to detect concept drift and trigger retraining.</a:t>
            </a:r>
          </a:p>
          <a:p>
            <a:r>
              <a:rPr lang="en-US" sz="1200" b="1" i="0" u="none" strike="noStrike" kern="1200">
                <a:solidFill>
                  <a:schemeClr val="tx1"/>
                </a:solidFill>
                <a:effectLst/>
                <a:latin typeface="+mn-lt"/>
                <a:ea typeface="+mn-ea"/>
                <a:cs typeface="+mn-cs"/>
              </a:rPr>
              <a:t>Online learning:</a:t>
            </a:r>
            <a:r>
              <a:rPr lang="en-US" sz="1200" b="0" i="0" u="none" strike="noStrike" kern="1200">
                <a:solidFill>
                  <a:schemeClr val="tx1"/>
                </a:solidFill>
                <a:effectLst/>
                <a:latin typeface="+mn-lt"/>
                <a:ea typeface="+mn-ea"/>
                <a:cs typeface="+mn-cs"/>
              </a:rPr>
              <a:t> Implement incremental SVM or ensemble methods that adapt to evolving user behavior without full retraining.</a:t>
            </a:r>
          </a:p>
          <a:p>
            <a:r>
              <a:rPr lang="en-US" sz="1200" b="1" i="0" u="none" strike="noStrike" kern="1200">
                <a:solidFill>
                  <a:schemeClr val="tx1"/>
                </a:solidFill>
                <a:effectLst/>
                <a:latin typeface="+mn-lt"/>
                <a:ea typeface="+mn-ea"/>
                <a:cs typeface="+mn-cs"/>
              </a:rPr>
              <a:t>4. Cost-Sensitive and Business-Aligned Modeling</a:t>
            </a:r>
          </a:p>
          <a:p>
            <a:r>
              <a:rPr lang="en-US" sz="1200" b="1" i="0" u="none" strike="noStrike" kern="1200">
                <a:solidFill>
                  <a:schemeClr val="tx1"/>
                </a:solidFill>
                <a:effectLst/>
                <a:latin typeface="+mn-lt"/>
                <a:ea typeface="+mn-ea"/>
                <a:cs typeface="+mn-cs"/>
              </a:rPr>
              <a:t>Profit-maximizing thresholds:</a:t>
            </a:r>
            <a:r>
              <a:rPr lang="en-US" sz="1200" b="0" i="0" u="none" strike="noStrike" kern="1200">
                <a:solidFill>
                  <a:schemeClr val="tx1"/>
                </a:solidFill>
                <a:effectLst/>
                <a:latin typeface="+mn-lt"/>
                <a:ea typeface="+mn-ea"/>
                <a:cs typeface="+mn-cs"/>
              </a:rPr>
              <a:t> Calibrate churn prediction thresholds to maximize retention ROI by weighting false negatives (missed churners) and false positives (over-targeting) by estimated customer lifetime value.</a:t>
            </a:r>
          </a:p>
          <a:p>
            <a:r>
              <a:rPr lang="en-US" sz="1200" b="1" i="0" u="none" strike="noStrike" kern="1200">
                <a:solidFill>
                  <a:schemeClr val="tx1"/>
                </a:solidFill>
                <a:effectLst/>
                <a:latin typeface="+mn-lt"/>
                <a:ea typeface="+mn-ea"/>
                <a:cs typeface="+mn-cs"/>
              </a:rPr>
              <a:t>Segmented models:</a:t>
            </a:r>
            <a:r>
              <a:rPr lang="en-US" sz="1200" b="0" i="0" u="none" strike="noStrike" kern="1200">
                <a:solidFill>
                  <a:schemeClr val="tx1"/>
                </a:solidFill>
                <a:effectLst/>
                <a:latin typeface="+mn-lt"/>
                <a:ea typeface="+mn-ea"/>
                <a:cs typeface="+mn-cs"/>
              </a:rPr>
              <a:t> Build separate models for high-value vs. low-value customers or different product lines to reflect heterogeneous churn patterns and retention costs.</a:t>
            </a:r>
          </a:p>
          <a:p>
            <a:r>
              <a:rPr lang="en-US" sz="1200" b="1" i="0" u="none" strike="noStrike" kern="1200">
                <a:solidFill>
                  <a:schemeClr val="tx1"/>
                </a:solidFill>
                <a:effectLst/>
                <a:latin typeface="+mn-lt"/>
                <a:ea typeface="+mn-ea"/>
                <a:cs typeface="+mn-cs"/>
              </a:rPr>
              <a:t>A/B testing framework:</a:t>
            </a:r>
            <a:r>
              <a:rPr lang="en-US" sz="1200" b="0" i="0" u="none" strike="noStrike" kern="1200">
                <a:solidFill>
                  <a:schemeClr val="tx1"/>
                </a:solidFill>
                <a:effectLst/>
                <a:latin typeface="+mn-lt"/>
                <a:ea typeface="+mn-ea"/>
                <a:cs typeface="+mn-cs"/>
              </a:rPr>
              <a:t> Design controlled experiments to measure retention campaign effectiveness and refine targeting rules based on real-world outcomes.</a:t>
            </a:r>
          </a:p>
          <a:p>
            <a:r>
              <a:rPr lang="en-US" sz="1200" b="1" i="0" u="none" strike="noStrike" kern="1200">
                <a:solidFill>
                  <a:schemeClr val="tx1"/>
                </a:solidFill>
                <a:effectLst/>
                <a:latin typeface="+mn-lt"/>
                <a:ea typeface="+mn-ea"/>
                <a:cs typeface="+mn-cs"/>
              </a:rPr>
              <a:t>5. Ensemble and Deep Learning Approaches</a:t>
            </a:r>
          </a:p>
          <a:p>
            <a:r>
              <a:rPr lang="en-US" sz="1200" b="1" i="0" u="none" strike="noStrike" kern="1200">
                <a:solidFill>
                  <a:schemeClr val="tx1"/>
                </a:solidFill>
                <a:effectLst/>
                <a:latin typeface="+mn-lt"/>
                <a:ea typeface="+mn-ea"/>
                <a:cs typeface="+mn-cs"/>
              </a:rPr>
              <a:t>Stacking and voting ensembles:</a:t>
            </a:r>
            <a:r>
              <a:rPr lang="en-US" sz="1200" b="0" i="0" u="none" strike="noStrike" kern="1200">
                <a:solidFill>
                  <a:schemeClr val="tx1"/>
                </a:solidFill>
                <a:effectLst/>
                <a:latin typeface="+mn-lt"/>
                <a:ea typeface="+mn-ea"/>
                <a:cs typeface="+mn-cs"/>
              </a:rPr>
              <a:t> Combine SVM, Random Forest, Gradient Boosting (</a:t>
            </a:r>
            <a:r>
              <a:rPr lang="en-US" sz="1200" b="0" i="0" u="none" strike="noStrike" kern="1200" err="1">
                <a:solidFill>
                  <a:schemeClr val="tx1"/>
                </a:solidFill>
                <a:effectLst/>
                <a:latin typeface="+mn-lt"/>
                <a:ea typeface="+mn-ea"/>
                <a:cs typeface="+mn-cs"/>
              </a:rPr>
              <a:t>XGBoost</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LightGBM</a:t>
            </a:r>
            <a:r>
              <a:rPr lang="en-US" sz="1200" b="0" i="0" u="none" strike="noStrike" kern="1200">
                <a:solidFill>
                  <a:schemeClr val="tx1"/>
                </a:solidFill>
                <a:effectLst/>
                <a:latin typeface="+mn-lt"/>
                <a:ea typeface="+mn-ea"/>
                <a:cs typeface="+mn-cs"/>
              </a:rPr>
              <a:t>), and neural networks via meta-learners to potentially exceed 99.71% accuracy.</a:t>
            </a:r>
          </a:p>
          <a:p>
            <a:r>
              <a:rPr lang="en-US" sz="1200" b="1" i="0" u="none" strike="noStrike" kern="1200">
                <a:solidFill>
                  <a:schemeClr val="tx1"/>
                </a:solidFill>
                <a:effectLst/>
                <a:latin typeface="+mn-lt"/>
                <a:ea typeface="+mn-ea"/>
                <a:cs typeface="+mn-cs"/>
              </a:rPr>
              <a:t>Deep neural networks:</a:t>
            </a:r>
            <a:r>
              <a:rPr lang="en-US" sz="1200" b="0" i="0" u="none" strike="noStrike" kern="1200">
                <a:solidFill>
                  <a:schemeClr val="tx1"/>
                </a:solidFill>
                <a:effectLst/>
                <a:latin typeface="+mn-lt"/>
                <a:ea typeface="+mn-ea"/>
                <a:cs typeface="+mn-cs"/>
              </a:rPr>
              <a:t> Experiment with multi-layer </a:t>
            </a:r>
            <a:r>
              <a:rPr lang="en-US" sz="1200" b="0" i="0" u="none" strike="noStrike" kern="1200" err="1">
                <a:solidFill>
                  <a:schemeClr val="tx1"/>
                </a:solidFill>
                <a:effectLst/>
                <a:latin typeface="+mn-lt"/>
                <a:ea typeface="+mn-ea"/>
                <a:cs typeface="+mn-cs"/>
              </a:rPr>
              <a:t>perceptrons</a:t>
            </a:r>
            <a:r>
              <a:rPr lang="en-US" sz="1200" b="0" i="0" u="none" strike="noStrike" kern="1200">
                <a:solidFill>
                  <a:schemeClr val="tx1"/>
                </a:solidFill>
                <a:effectLst/>
                <a:latin typeface="+mn-lt"/>
                <a:ea typeface="+mn-ea"/>
                <a:cs typeface="+mn-cs"/>
              </a:rPr>
              <a:t>, attention mechanisms, or graph neural networks to capture non-linear feature interactions automatically.</a:t>
            </a:r>
          </a:p>
          <a:p>
            <a:r>
              <a:rPr lang="en-US" sz="1200" b="1" i="0" u="none" strike="noStrike" kern="1200">
                <a:solidFill>
                  <a:schemeClr val="tx1"/>
                </a:solidFill>
                <a:effectLst/>
                <a:latin typeface="+mn-lt"/>
                <a:ea typeface="+mn-ea"/>
                <a:cs typeface="+mn-cs"/>
              </a:rPr>
              <a:t>Calibrated uncertainty estimation:</a:t>
            </a:r>
            <a:r>
              <a:rPr lang="en-US" sz="1200" b="0" i="0" u="none" strike="noStrike" kern="1200">
                <a:solidFill>
                  <a:schemeClr val="tx1"/>
                </a:solidFill>
                <a:effectLst/>
                <a:latin typeface="+mn-lt"/>
                <a:ea typeface="+mn-ea"/>
                <a:cs typeface="+mn-cs"/>
              </a:rPr>
              <a:t> Use Bayesian approaches (e.g., variational inference) or ensemble methods to quantify prediction uncertainty, supporting risk-aware retention decisions.</a:t>
            </a:r>
          </a:p>
          <a:p>
            <a:r>
              <a:rPr lang="en-US" sz="1200" b="1" i="0" u="none" strike="noStrike" kern="1200">
                <a:solidFill>
                  <a:schemeClr val="tx1"/>
                </a:solidFill>
                <a:effectLst/>
                <a:latin typeface="+mn-lt"/>
                <a:ea typeface="+mn-ea"/>
                <a:cs typeface="+mn-cs"/>
              </a:rPr>
              <a:t>6. Real-Time Scoring and Operational Integration</a:t>
            </a:r>
          </a:p>
          <a:p>
            <a:r>
              <a:rPr lang="en-US" sz="1200" b="1" i="0" u="none" strike="noStrike" kern="1200">
                <a:solidFill>
                  <a:schemeClr val="tx1"/>
                </a:solidFill>
                <a:effectLst/>
                <a:latin typeface="+mn-lt"/>
                <a:ea typeface="+mn-ea"/>
                <a:cs typeface="+mn-cs"/>
              </a:rPr>
              <a:t>API and monitoring:</a:t>
            </a:r>
            <a:r>
              <a:rPr lang="en-US" sz="1200" b="0" i="0" u="none" strike="noStrike" kern="1200">
                <a:solidFill>
                  <a:schemeClr val="tx1"/>
                </a:solidFill>
                <a:effectLst/>
                <a:latin typeface="+mn-lt"/>
                <a:ea typeface="+mn-ea"/>
                <a:cs typeface="+mn-cs"/>
              </a:rPr>
              <a:t> Deploy the trained SVM model as a REST API for real-time scoring of new user interactions and events.</a:t>
            </a:r>
          </a:p>
          <a:p>
            <a:r>
              <a:rPr lang="en-US" sz="1200" b="1" i="0" u="none" strike="noStrike" kern="1200">
                <a:solidFill>
                  <a:schemeClr val="tx1"/>
                </a:solidFill>
                <a:effectLst/>
                <a:latin typeface="+mn-lt"/>
                <a:ea typeface="+mn-ea"/>
                <a:cs typeface="+mn-cs"/>
              </a:rPr>
              <a:t>Feature store:</a:t>
            </a:r>
            <a:r>
              <a:rPr lang="en-US" sz="1200" b="0" i="0" u="none" strike="noStrike" kern="1200">
                <a:solidFill>
                  <a:schemeClr val="tx1"/>
                </a:solidFill>
                <a:effectLst/>
                <a:latin typeface="+mn-lt"/>
                <a:ea typeface="+mn-ea"/>
                <a:cs typeface="+mn-cs"/>
              </a:rPr>
              <a:t> Build a centralized feature engineering and storage system (e.g., Feast, </a:t>
            </a:r>
            <a:r>
              <a:rPr lang="en-US" sz="1200" b="0" i="0" u="none" strike="noStrike" kern="1200" err="1">
                <a:solidFill>
                  <a:schemeClr val="tx1"/>
                </a:solidFill>
                <a:effectLst/>
                <a:latin typeface="+mn-lt"/>
                <a:ea typeface="+mn-ea"/>
                <a:cs typeface="+mn-cs"/>
              </a:rPr>
              <a:t>Tecton</a:t>
            </a:r>
            <a:r>
              <a:rPr lang="en-US" sz="1200" b="0" i="0" u="none" strike="noStrike" kern="1200">
                <a:solidFill>
                  <a:schemeClr val="tx1"/>
                </a:solidFill>
                <a:effectLst/>
                <a:latin typeface="+mn-lt"/>
                <a:ea typeface="+mn-ea"/>
                <a:cs typeface="+mn-cs"/>
              </a:rPr>
              <a:t>) to ensure consistency between training and production feature computation.</a:t>
            </a:r>
          </a:p>
          <a:p>
            <a:r>
              <a:rPr lang="en-US" sz="1200" b="1" i="0" u="none" strike="noStrike" kern="1200">
                <a:solidFill>
                  <a:schemeClr val="tx1"/>
                </a:solidFill>
                <a:effectLst/>
                <a:latin typeface="+mn-lt"/>
                <a:ea typeface="+mn-ea"/>
                <a:cs typeface="+mn-cs"/>
              </a:rPr>
              <a:t>Automated retraining pipeline:</a:t>
            </a:r>
            <a:r>
              <a:rPr lang="en-US" sz="1200" b="0" i="0" u="none" strike="noStrike" kern="1200">
                <a:solidFill>
                  <a:schemeClr val="tx1"/>
                </a:solidFill>
                <a:effectLst/>
                <a:latin typeface="+mn-lt"/>
                <a:ea typeface="+mn-ea"/>
                <a:cs typeface="+mn-cs"/>
              </a:rPr>
              <a:t> Implement </a:t>
            </a:r>
            <a:r>
              <a:rPr lang="en-US" sz="1200" b="0" i="0" u="none" strike="noStrike" kern="1200" err="1">
                <a:solidFill>
                  <a:schemeClr val="tx1"/>
                </a:solidFill>
                <a:effectLst/>
                <a:latin typeface="+mn-lt"/>
                <a:ea typeface="+mn-ea"/>
                <a:cs typeface="+mn-cs"/>
              </a:rPr>
              <a:t>MLOps</a:t>
            </a:r>
            <a:r>
              <a:rPr lang="en-US" sz="1200" b="0" i="0" u="none" strike="noStrike" kern="1200">
                <a:solidFill>
                  <a:schemeClr val="tx1"/>
                </a:solidFill>
                <a:effectLst/>
                <a:latin typeface="+mn-lt"/>
                <a:ea typeface="+mn-ea"/>
                <a:cs typeface="+mn-cs"/>
              </a:rPr>
              <a:t> workflows (e.g., using Docker, Kubernetes, Airflow) for periodic model retraining, validation, and canary deployments.</a:t>
            </a:r>
          </a:p>
          <a:p>
            <a:r>
              <a:rPr lang="en-US" sz="1200" b="1" i="0" u="none" strike="noStrike" kern="1200">
                <a:solidFill>
                  <a:schemeClr val="tx1"/>
                </a:solidFill>
                <a:effectLst/>
                <a:latin typeface="+mn-lt"/>
                <a:ea typeface="+mn-ea"/>
                <a:cs typeface="+mn-cs"/>
              </a:rPr>
              <a:t>7. Data Quality and Privacy</a:t>
            </a:r>
          </a:p>
          <a:p>
            <a:r>
              <a:rPr lang="en-US" sz="1200" b="1" i="0" u="none" strike="noStrike" kern="1200">
                <a:solidFill>
                  <a:schemeClr val="tx1"/>
                </a:solidFill>
                <a:effectLst/>
                <a:latin typeface="+mn-lt"/>
                <a:ea typeface="+mn-ea"/>
                <a:cs typeface="+mn-cs"/>
              </a:rPr>
              <a:t>Data augmentation:</a:t>
            </a:r>
            <a:r>
              <a:rPr lang="en-US" sz="1200" b="0" i="0" u="none" strike="noStrike" kern="1200">
                <a:solidFill>
                  <a:schemeClr val="tx1"/>
                </a:solidFill>
                <a:effectLst/>
                <a:latin typeface="+mn-lt"/>
                <a:ea typeface="+mn-ea"/>
                <a:cs typeface="+mn-cs"/>
              </a:rPr>
              <a:t> Explore synthetic data generation (e.g., SMOTE, VAE) to address any imbalanced segments or rare churn patterns underrepresented in the training set.</a:t>
            </a:r>
          </a:p>
          <a:p>
            <a:r>
              <a:rPr lang="en-US" sz="1200" b="1" i="0" u="none" strike="noStrike" kern="1200">
                <a:solidFill>
                  <a:schemeClr val="tx1"/>
                </a:solidFill>
                <a:effectLst/>
                <a:latin typeface="+mn-lt"/>
                <a:ea typeface="+mn-ea"/>
                <a:cs typeface="+mn-cs"/>
              </a:rPr>
              <a:t>Privacy-preserving modeling:</a:t>
            </a:r>
            <a:r>
              <a:rPr lang="en-US" sz="1200" b="0" i="0" u="none" strike="noStrike" kern="1200">
                <a:solidFill>
                  <a:schemeClr val="tx1"/>
                </a:solidFill>
                <a:effectLst/>
                <a:latin typeface="+mn-lt"/>
                <a:ea typeface="+mn-ea"/>
                <a:cs typeface="+mn-cs"/>
              </a:rPr>
              <a:t> Implement differential privacy or federated learning to build churn models while protecting user data, relevant for GDPR/CCPA compliance.</a:t>
            </a:r>
          </a:p>
          <a:p>
            <a:r>
              <a:rPr lang="en-US" sz="1200" b="1" i="0" u="none" strike="noStrike" kern="1200">
                <a:solidFill>
                  <a:schemeClr val="tx1"/>
                </a:solidFill>
                <a:effectLst/>
                <a:latin typeface="+mn-lt"/>
                <a:ea typeface="+mn-ea"/>
                <a:cs typeface="+mn-cs"/>
              </a:rPr>
              <a:t>Bias and fairness audits:</a:t>
            </a:r>
            <a:r>
              <a:rPr lang="en-US" sz="1200" b="0" i="0" u="none" strike="noStrike" kern="1200">
                <a:solidFill>
                  <a:schemeClr val="tx1"/>
                </a:solidFill>
                <a:effectLst/>
                <a:latin typeface="+mn-lt"/>
                <a:ea typeface="+mn-ea"/>
                <a:cs typeface="+mn-cs"/>
              </a:rPr>
              <a:t> Assess whether the model exhibits disparate impact across demographic or geographic segments and mitigate via fairness-aware reweighting or constraints.</a:t>
            </a:r>
          </a:p>
          <a:p>
            <a:r>
              <a:rPr lang="en-US" sz="1200" b="1" i="0" u="none" strike="noStrike" kern="1200">
                <a:solidFill>
                  <a:schemeClr val="tx1"/>
                </a:solidFill>
                <a:effectLst/>
                <a:latin typeface="+mn-lt"/>
                <a:ea typeface="+mn-ea"/>
                <a:cs typeface="+mn-cs"/>
              </a:rPr>
              <a:t>8. Domain-Specific Enhancements</a:t>
            </a:r>
          </a:p>
          <a:p>
            <a:r>
              <a:rPr lang="en-US" sz="1200" b="1" i="0" u="none" strike="noStrike" kern="1200">
                <a:solidFill>
                  <a:schemeClr val="tx1"/>
                </a:solidFill>
                <a:effectLst/>
                <a:latin typeface="+mn-lt"/>
                <a:ea typeface="+mn-ea"/>
                <a:cs typeface="+mn-cs"/>
              </a:rPr>
              <a:t>Customer lifetime value prediction:</a:t>
            </a:r>
            <a:r>
              <a:rPr lang="en-US" sz="1200" b="0" i="0" u="none" strike="noStrike" kern="1200">
                <a:solidFill>
                  <a:schemeClr val="tx1"/>
                </a:solidFill>
                <a:effectLst/>
                <a:latin typeface="+mn-lt"/>
                <a:ea typeface="+mn-ea"/>
                <a:cs typeface="+mn-cs"/>
              </a:rPr>
              <a:t> Jointly model churn and revenue to prioritize retention spending on high-value customer segments.</a:t>
            </a:r>
          </a:p>
          <a:p>
            <a:r>
              <a:rPr lang="en-US" sz="1200" b="1" i="0" u="none" strike="noStrike" kern="1200">
                <a:solidFill>
                  <a:schemeClr val="tx1"/>
                </a:solidFill>
                <a:effectLst/>
                <a:latin typeface="+mn-lt"/>
                <a:ea typeface="+mn-ea"/>
                <a:cs typeface="+mn-cs"/>
              </a:rPr>
              <a:t>Win-back campaigns:</a:t>
            </a:r>
            <a:r>
              <a:rPr lang="en-US" sz="1200" b="0" i="0" u="none" strike="noStrike" kern="1200">
                <a:solidFill>
                  <a:schemeClr val="tx1"/>
                </a:solidFill>
                <a:effectLst/>
                <a:latin typeface="+mn-lt"/>
                <a:ea typeface="+mn-ea"/>
                <a:cs typeface="+mn-cs"/>
              </a:rPr>
              <a:t> Build separate models for users who have churned to predict win-back likelihood and optimal timing/channel for re-engagement.</a:t>
            </a:r>
          </a:p>
          <a:p>
            <a:r>
              <a:rPr lang="en-US" sz="1200" b="1" i="0" u="none" strike="noStrike" kern="1200">
                <a:solidFill>
                  <a:schemeClr val="tx1"/>
                </a:solidFill>
                <a:effectLst/>
                <a:latin typeface="+mn-lt"/>
                <a:ea typeface="+mn-ea"/>
                <a:cs typeface="+mn-cs"/>
              </a:rPr>
              <a:t>Churn reason inference:</a:t>
            </a:r>
            <a:r>
              <a:rPr lang="en-US" sz="1200" b="0" i="0" u="none" strike="noStrike" kern="1200">
                <a:solidFill>
                  <a:schemeClr val="tx1"/>
                </a:solidFill>
                <a:effectLst/>
                <a:latin typeface="+mn-lt"/>
                <a:ea typeface="+mn-ea"/>
                <a:cs typeface="+mn-cs"/>
              </a:rPr>
              <a:t> Combine churn predictions with textual analysis of support tickets, reviews, or surveys to identify root causes and inform product improvements.</a:t>
            </a:r>
          </a:p>
          <a:p>
            <a:endParaRPr lang="en-US" sz="1200" b="0" i="0" u="none" strike="noStrike" kern="1200">
              <a:solidFill>
                <a:schemeClr val="tx1"/>
              </a:solidFill>
              <a:effectLst/>
              <a:latin typeface="+mn-lt"/>
              <a:ea typeface="+mn-ea"/>
              <a:cs typeface="+mn-cs"/>
            </a:endParaRPr>
          </a:p>
          <a:p>
            <a:endParaRPr lang="en-US" sz="1200" b="0"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Interactive churn monitoring dashboard (future work):</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Build a dashboard (e.g., in Power BI, Tableau, or a Python web app) to visualize:</a:t>
            </a:r>
          </a:p>
          <a:p>
            <a:pPr lvl="2"/>
            <a:r>
              <a:rPr lang="en-US" sz="1200" b="0" i="0" u="none" strike="noStrike" kern="1200">
                <a:solidFill>
                  <a:schemeClr val="tx1"/>
                </a:solidFill>
                <a:effectLst/>
                <a:latin typeface="+mn-lt"/>
                <a:ea typeface="+mn-ea"/>
                <a:cs typeface="+mn-cs"/>
              </a:rPr>
              <a:t>Overall churn rate and trend over time.</a:t>
            </a:r>
          </a:p>
          <a:p>
            <a:pPr lvl="2"/>
            <a:r>
              <a:rPr lang="en-US" sz="1200" b="0" i="0" u="none" strike="noStrike" kern="1200">
                <a:solidFill>
                  <a:schemeClr val="tx1"/>
                </a:solidFill>
                <a:effectLst/>
                <a:latin typeface="+mn-lt"/>
                <a:ea typeface="+mn-ea"/>
                <a:cs typeface="+mn-cs"/>
              </a:rPr>
              <a:t>Distribution of predicted churn probabilities by segment (e.g., high-, medium-, low-value customers).</a:t>
            </a:r>
          </a:p>
          <a:p>
            <a:pPr lvl="2"/>
            <a:r>
              <a:rPr lang="en-US" sz="1200" b="0" i="0" u="none" strike="noStrike" kern="1200">
                <a:solidFill>
                  <a:schemeClr val="tx1"/>
                </a:solidFill>
                <a:effectLst/>
                <a:latin typeface="+mn-lt"/>
                <a:ea typeface="+mn-ea"/>
                <a:cs typeface="+mn-cs"/>
              </a:rPr>
              <a:t>Top contributing features for each segment (e.g., high recency, declining revenue, low purchase counts).</a:t>
            </a:r>
          </a:p>
          <a:p>
            <a:pPr lvl="1"/>
            <a:r>
              <a:rPr lang="en-US" sz="1200" b="0" i="0" u="none" strike="noStrike" kern="1200">
                <a:solidFill>
                  <a:schemeClr val="tx1"/>
                </a:solidFill>
                <a:effectLst/>
                <a:latin typeface="+mn-lt"/>
                <a:ea typeface="+mn-ea"/>
                <a:cs typeface="+mn-cs"/>
              </a:rPr>
              <a:t>The dashboard would surface a </a:t>
            </a:r>
            <a:r>
              <a:rPr lang="en-US" sz="1200" b="1" i="0" u="none" strike="noStrike" kern="1200">
                <a:solidFill>
                  <a:schemeClr val="tx1"/>
                </a:solidFill>
                <a:effectLst/>
                <a:latin typeface="+mn-lt"/>
                <a:ea typeface="+mn-ea"/>
                <a:cs typeface="+mn-cs"/>
              </a:rPr>
              <a:t>ranked list of high-risk customers</a:t>
            </a:r>
            <a:r>
              <a:rPr lang="en-US" sz="1200" b="0" i="0" u="none" strike="noStrike" kern="1200">
                <a:solidFill>
                  <a:schemeClr val="tx1"/>
                </a:solidFill>
                <a:effectLst/>
                <a:latin typeface="+mn-lt"/>
                <a:ea typeface="+mn-ea"/>
                <a:cs typeface="+mn-cs"/>
              </a:rPr>
              <a:t>, with:</a:t>
            </a:r>
          </a:p>
          <a:p>
            <a:pPr lvl="2"/>
            <a:r>
              <a:rPr lang="en-US" sz="1200" b="0" i="0" u="none" strike="noStrike" kern="1200">
                <a:solidFill>
                  <a:schemeClr val="tx1"/>
                </a:solidFill>
                <a:effectLst/>
                <a:latin typeface="+mn-lt"/>
                <a:ea typeface="+mn-ea"/>
                <a:cs typeface="+mn-cs"/>
              </a:rPr>
              <a:t>Predicted churn probability.</a:t>
            </a:r>
          </a:p>
          <a:p>
            <a:pPr lvl="2"/>
            <a:r>
              <a:rPr lang="en-US" sz="1200" b="0" i="0" u="none" strike="noStrike" kern="1200">
                <a:solidFill>
                  <a:schemeClr val="tx1"/>
                </a:solidFill>
                <a:effectLst/>
                <a:latin typeface="+mn-lt"/>
                <a:ea typeface="+mn-ea"/>
                <a:cs typeface="+mn-cs"/>
              </a:rPr>
              <a:t>Expected revenue loss (using </a:t>
            </a:r>
            <a:r>
              <a:rPr lang="en-US" sz="1200" b="0" i="0" u="none" strike="noStrike" kern="1200" err="1">
                <a:solidFill>
                  <a:schemeClr val="tx1"/>
                </a:solidFill>
                <a:effectLst/>
                <a:latin typeface="+mn-lt"/>
                <a:ea typeface="+mn-ea"/>
                <a:cs typeface="+mn-cs"/>
              </a:rPr>
              <a:t>target_revenue</a:t>
            </a:r>
            <a:r>
              <a:rPr lang="en-US" sz="1200" b="0" i="0" u="none" strike="noStrike" kern="1200">
                <a:solidFill>
                  <a:schemeClr val="tx1"/>
                </a:solidFill>
                <a:effectLst/>
                <a:latin typeface="+mn-lt"/>
                <a:ea typeface="+mn-ea"/>
                <a:cs typeface="+mn-cs"/>
              </a:rPr>
              <a:t> / </a:t>
            </a:r>
            <a:r>
              <a:rPr lang="en-US" sz="1200" b="0" i="0" u="none" strike="noStrike" kern="1200" err="1">
                <a:solidFill>
                  <a:schemeClr val="tx1"/>
                </a:solidFill>
                <a:effectLst/>
                <a:latin typeface="+mn-lt"/>
                <a:ea typeface="+mn-ea"/>
                <a:cs typeface="+mn-cs"/>
              </a:rPr>
              <a:t>target_actual_profit</a:t>
            </a:r>
            <a:r>
              <a:rPr lang="en-US" sz="1200" b="0" i="0" u="none" strike="noStrike" kern="1200">
                <a:solidFill>
                  <a:schemeClr val="tx1"/>
                </a:solidFill>
                <a:effectLst/>
                <a:latin typeface="+mn-lt"/>
                <a:ea typeface="+mn-ea"/>
                <a:cs typeface="+mn-cs"/>
              </a:rPr>
              <a:t>).</a:t>
            </a:r>
          </a:p>
          <a:p>
            <a:pPr lvl="2"/>
            <a:r>
              <a:rPr lang="en-US" sz="1200" b="0" i="0" u="none" strike="noStrike" kern="1200">
                <a:solidFill>
                  <a:schemeClr val="tx1"/>
                </a:solidFill>
                <a:effectLst/>
                <a:latin typeface="+mn-lt"/>
                <a:ea typeface="+mn-ea"/>
                <a:cs typeface="+mn-cs"/>
              </a:rPr>
              <a:t>Key risk drivers from the model explanations (e.g., “no purchase in last 60 days”, “3-month revenue decline”).</a:t>
            </a:r>
          </a:p>
          <a:p>
            <a:r>
              <a:rPr lang="en-US" sz="1200" b="1" i="0" u="none" strike="noStrike" kern="1200">
                <a:solidFill>
                  <a:schemeClr val="tx1"/>
                </a:solidFill>
                <a:effectLst/>
                <a:latin typeface="+mn-lt"/>
                <a:ea typeface="+mn-ea"/>
                <a:cs typeface="+mn-cs"/>
              </a:rPr>
              <a:t>Actionable retention recommendations:</a:t>
            </a:r>
            <a:endParaRPr lang="en-US" sz="1200" b="0" i="0" u="none" strike="noStrike" kern="120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rPr>
              <a:t>For each high-risk customer, define rule-based or model-driven </a:t>
            </a:r>
            <a:r>
              <a:rPr lang="en-US" sz="1200" b="1" i="0" u="none" strike="noStrike" kern="1200">
                <a:solidFill>
                  <a:schemeClr val="tx1"/>
                </a:solidFill>
                <a:effectLst/>
                <a:latin typeface="+mn-lt"/>
                <a:ea typeface="+mn-ea"/>
                <a:cs typeface="+mn-cs"/>
              </a:rPr>
              <a:t>next-best-</a:t>
            </a:r>
            <a:r>
              <a:rPr lang="en-US" sz="1200" b="1" i="0" u="none" strike="noStrike" kern="1200" err="1">
                <a:solidFill>
                  <a:schemeClr val="tx1"/>
                </a:solidFill>
                <a:effectLst/>
                <a:latin typeface="+mn-lt"/>
                <a:ea typeface="+mn-ea"/>
                <a:cs typeface="+mn-cs"/>
              </a:rPr>
              <a:t>action</a:t>
            </a:r>
            <a:r>
              <a:rPr lang="en-US" sz="1200" b="0" i="0" u="none" strike="noStrike" kern="1200" err="1">
                <a:solidFill>
                  <a:schemeClr val="tx1"/>
                </a:solidFill>
                <a:effectLst/>
                <a:latin typeface="+mn-lt"/>
                <a:ea typeface="+mn-ea"/>
                <a:cs typeface="+mn-cs"/>
              </a:rPr>
              <a:t>suggestions</a:t>
            </a:r>
            <a:r>
              <a:rPr lang="en-US" sz="1200" b="0" i="0" u="none" strike="noStrike" kern="1200">
                <a:solidFill>
                  <a:schemeClr val="tx1"/>
                </a:solidFill>
                <a:effectLst/>
                <a:latin typeface="+mn-lt"/>
                <a:ea typeface="+mn-ea"/>
                <a:cs typeface="+mn-cs"/>
              </a:rPr>
              <a:t>, such as:</a:t>
            </a:r>
          </a:p>
          <a:p>
            <a:pPr lvl="2"/>
            <a:r>
              <a:rPr lang="en-US" sz="1200" b="0" i="0" u="none" strike="noStrike" kern="1200">
                <a:solidFill>
                  <a:schemeClr val="tx1"/>
                </a:solidFill>
                <a:effectLst/>
                <a:latin typeface="+mn-lt"/>
                <a:ea typeface="+mn-ea"/>
                <a:cs typeface="+mn-cs"/>
              </a:rPr>
              <a:t>Targeted discount or loyalty offer.</a:t>
            </a:r>
          </a:p>
          <a:p>
            <a:pPr lvl="2"/>
            <a:r>
              <a:rPr lang="en-US" sz="1200" b="0" i="0" u="none" strike="noStrike" kern="1200">
                <a:solidFill>
                  <a:schemeClr val="tx1"/>
                </a:solidFill>
                <a:effectLst/>
                <a:latin typeface="+mn-lt"/>
                <a:ea typeface="+mn-ea"/>
                <a:cs typeface="+mn-cs"/>
              </a:rPr>
              <a:t>Personalized email or in-app message.</a:t>
            </a:r>
          </a:p>
          <a:p>
            <a:pPr lvl="2"/>
            <a:r>
              <a:rPr lang="en-US" sz="1200" b="0" i="0" u="none" strike="noStrike" kern="1200">
                <a:solidFill>
                  <a:schemeClr val="tx1"/>
                </a:solidFill>
                <a:effectLst/>
                <a:latin typeface="+mn-lt"/>
                <a:ea typeface="+mn-ea"/>
                <a:cs typeface="+mn-cs"/>
              </a:rPr>
              <a:t>Proactive support outreach for users with negative recent interactions.</a:t>
            </a:r>
          </a:p>
          <a:p>
            <a:pPr lvl="1"/>
            <a:r>
              <a:rPr lang="en-US" sz="1200" b="0" i="0" u="none" strike="noStrike" kern="1200">
                <a:solidFill>
                  <a:schemeClr val="tx1"/>
                </a:solidFill>
                <a:effectLst/>
                <a:latin typeface="+mn-lt"/>
                <a:ea typeface="+mn-ea"/>
                <a:cs typeface="+mn-cs"/>
              </a:rPr>
              <a:t>Track </a:t>
            </a:r>
            <a:r>
              <a:rPr lang="en-US" sz="1200" b="1" i="0" u="none" strike="noStrike" kern="1200">
                <a:solidFill>
                  <a:schemeClr val="tx1"/>
                </a:solidFill>
                <a:effectLst/>
                <a:latin typeface="+mn-lt"/>
                <a:ea typeface="+mn-ea"/>
                <a:cs typeface="+mn-cs"/>
              </a:rPr>
              <a:t>intervention outcomes</a:t>
            </a:r>
            <a:r>
              <a:rPr lang="en-US" sz="1200" b="0" i="0" u="none" strike="noStrike" kern="1200">
                <a:solidFill>
                  <a:schemeClr val="tx1"/>
                </a:solidFill>
                <a:effectLst/>
                <a:latin typeface="+mn-lt"/>
                <a:ea typeface="+mn-ea"/>
                <a:cs typeface="+mn-cs"/>
              </a:rPr>
              <a:t> in the same dashboard (who churned vs who stayed) to continuously refine both the model and the retention strategies</a:t>
            </a:r>
          </a:p>
          <a:p>
            <a:endParaRPr lang="en-US" sz="1200" b="0" i="0" u="none" strike="noStrike"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E68487B7-B5BB-2F52-213D-712C1BE34645}"/>
              </a:ext>
            </a:extLst>
          </p:cNvPr>
          <p:cNvSpPr>
            <a:spLocks noGrp="1"/>
          </p:cNvSpPr>
          <p:nvPr>
            <p:ph type="sldNum" sz="quarter" idx="5"/>
          </p:nvPr>
        </p:nvSpPr>
        <p:spPr/>
        <p:txBody>
          <a:bodyPr/>
          <a:lstStyle/>
          <a:p>
            <a:fld id="{4B7B3773-8769-024A-962D-217A70B6D2FC}" type="slidenum">
              <a:rPr lang="en-US" smtClean="0"/>
              <a:t>17</a:t>
            </a:fld>
            <a:endParaRPr lang="en-US"/>
          </a:p>
        </p:txBody>
      </p:sp>
    </p:spTree>
    <p:extLst>
      <p:ext uri="{BB962C8B-B14F-4D97-AF65-F5344CB8AC3E}">
        <p14:creationId xmlns:p14="http://schemas.microsoft.com/office/powerpoint/2010/main" val="1942369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D43E741-F79B-FB44-ADA4-0B5A1C8C54BC}" type="datetime1">
              <a:rPr lang="en-US" smtClean="0"/>
              <a:t>6/5/26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0008E59-1933-7B45-929F-87DA2FB32136}"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163781215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49345A-38C6-EB4F-A255-E6DD08F87A42}" type="datetime1">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008E59-1933-7B45-929F-87DA2FB32136}" type="slidenum">
              <a:rPr lang="en-US" smtClean="0"/>
              <a:t>‹#›</a:t>
            </a:fld>
            <a:endParaRPr lang="en-US"/>
          </a:p>
        </p:txBody>
      </p:sp>
    </p:spTree>
    <p:extLst>
      <p:ext uri="{BB962C8B-B14F-4D97-AF65-F5344CB8AC3E}">
        <p14:creationId xmlns:p14="http://schemas.microsoft.com/office/powerpoint/2010/main" val="2466628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E1ABBE67-473B-4C42-90F7-7C9295D1DD86}" type="datetime1">
              <a:rPr lang="en-US" smtClean="0"/>
              <a:t>6/5/26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0008E59-1933-7B45-929F-87DA2FB32136}"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91357435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28D8885-7380-5D4E-A03C-96215C16C9CC}" type="datetime1">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008E59-1933-7B45-929F-87DA2FB32136}" type="slidenum">
              <a:rPr lang="en-US" smtClean="0"/>
              <a:t>‹#›</a:t>
            </a:fld>
            <a:endParaRPr lang="en-US"/>
          </a:p>
        </p:txBody>
      </p:sp>
    </p:spTree>
    <p:extLst>
      <p:ext uri="{BB962C8B-B14F-4D97-AF65-F5344CB8AC3E}">
        <p14:creationId xmlns:p14="http://schemas.microsoft.com/office/powerpoint/2010/main" val="748978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60CC67-E363-6143-BAD6-54F41657A8E8}" type="datetime1">
              <a:rPr lang="en-US" smtClean="0"/>
              <a:t>6/5/26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008E59-1933-7B45-929F-87DA2FB32136}" type="slidenum">
              <a:rPr lang="en-US" smtClean="0"/>
              <a:t>‹#›</a:t>
            </a:fld>
            <a:endParaRPr lang="en-US"/>
          </a:p>
        </p:txBody>
      </p:sp>
    </p:spTree>
    <p:extLst>
      <p:ext uri="{BB962C8B-B14F-4D97-AF65-F5344CB8AC3E}">
        <p14:creationId xmlns:p14="http://schemas.microsoft.com/office/powerpoint/2010/main" val="2483853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146B3F-9D4B-4242-BA1B-E644FCE0F9AF}" type="datetime1">
              <a:rPr lang="en-US" smtClean="0"/>
              <a:t>6/5/26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008E59-1933-7B45-929F-87DA2FB32136}" type="slidenum">
              <a:rPr lang="en-US" smtClean="0"/>
              <a:t>‹#›</a:t>
            </a:fld>
            <a:endParaRPr lang="en-US"/>
          </a:p>
        </p:txBody>
      </p:sp>
    </p:spTree>
    <p:extLst>
      <p:ext uri="{BB962C8B-B14F-4D97-AF65-F5344CB8AC3E}">
        <p14:creationId xmlns:p14="http://schemas.microsoft.com/office/powerpoint/2010/main" val="3646057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262535-D1F7-F648-BF59-5143EF580892}" type="datetime1">
              <a:rPr lang="en-US" smtClean="0"/>
              <a:t>6/5/26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008E59-1933-7B45-929F-87DA2FB32136}" type="slidenum">
              <a:rPr lang="en-US" smtClean="0"/>
              <a:t>‹#›</a:t>
            </a:fld>
            <a:endParaRPr lang="en-US"/>
          </a:p>
        </p:txBody>
      </p:sp>
    </p:spTree>
    <p:extLst>
      <p:ext uri="{BB962C8B-B14F-4D97-AF65-F5344CB8AC3E}">
        <p14:creationId xmlns:p14="http://schemas.microsoft.com/office/powerpoint/2010/main" val="878187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C80BFAA-6C01-634C-A103-972131B35F28}" type="datetime1">
              <a:rPr lang="en-US" smtClean="0"/>
              <a:t>6/5/26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0008E59-1933-7B45-929F-87DA2FB32136}"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8441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2C14390-F9A0-894B-B48A-54DE2719AA20}" type="datetime1">
              <a:rPr lang="en-US" smtClean="0"/>
              <a:t>6/5/26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0008E59-1933-7B45-929F-87DA2FB32136}"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1243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B24976-484B-9045-B8C1-BEF73D6E6ABA}" type="datetime1">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008E59-1933-7B45-929F-87DA2FB32136}" type="slidenum">
              <a:rPr lang="en-US" smtClean="0"/>
              <a:t>‹#›</a:t>
            </a:fld>
            <a:endParaRPr lang="en-US"/>
          </a:p>
        </p:txBody>
      </p:sp>
    </p:spTree>
    <p:extLst>
      <p:ext uri="{BB962C8B-B14F-4D97-AF65-F5344CB8AC3E}">
        <p14:creationId xmlns:p14="http://schemas.microsoft.com/office/powerpoint/2010/main" val="3117330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C8999D-7515-3044-A5FA-6B20311A2886}" type="datetime1">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008E59-1933-7B45-929F-87DA2FB32136}" type="slidenum">
              <a:rPr lang="en-US" smtClean="0"/>
              <a:t>‹#›</a:t>
            </a:fld>
            <a:endParaRPr lang="en-US"/>
          </a:p>
        </p:txBody>
      </p:sp>
    </p:spTree>
    <p:extLst>
      <p:ext uri="{BB962C8B-B14F-4D97-AF65-F5344CB8AC3E}">
        <p14:creationId xmlns:p14="http://schemas.microsoft.com/office/powerpoint/2010/main" val="3688486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99F608A8-86B6-D54B-9F2F-195B987AAD74}" type="datetime1">
              <a:rPr lang="en-US" smtClean="0"/>
              <a:t>6/5/26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0008E59-1933-7B45-929F-87DA2FB32136}"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58247125"/>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sv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A97F59D-628C-4053-B41F-489D0045F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7C159B63-C56D-4E4E-8B07-40A1346DC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9983DE-7E80-C365-957D-7425EFD922D2}"/>
              </a:ext>
            </a:extLst>
          </p:cNvPr>
          <p:cNvSpPr>
            <a:spLocks noGrp="1"/>
          </p:cNvSpPr>
          <p:nvPr>
            <p:ph type="ctrTitle"/>
          </p:nvPr>
        </p:nvSpPr>
        <p:spPr>
          <a:xfrm>
            <a:off x="967902" y="1837647"/>
            <a:ext cx="10635972" cy="1263269"/>
          </a:xfrm>
        </p:spPr>
        <p:txBody>
          <a:bodyPr vert="horz" lIns="91440" tIns="45720" rIns="91440" bIns="45720" rtlCol="0" anchor="t">
            <a:normAutofit/>
          </a:bodyPr>
          <a:lstStyle/>
          <a:p>
            <a:r>
              <a:rPr lang="en-US" sz="3700" b="1"/>
              <a:t>Exploring and Predicting E-commerce Customer Churn and Baseline Classifiers </a:t>
            </a:r>
          </a:p>
        </p:txBody>
      </p:sp>
      <p:sp>
        <p:nvSpPr>
          <p:cNvPr id="20" name="Rectangle 19">
            <a:extLst>
              <a:ext uri="{FF2B5EF4-FFF2-40B4-BE49-F238E27FC236}">
                <a16:creationId xmlns:a16="http://schemas.microsoft.com/office/drawing/2014/main" id="{27DEF201-077E-444A-A3F0-66E142535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817FA636-9108-F594-33C8-ADA2A11B78AF}"/>
              </a:ext>
            </a:extLst>
          </p:cNvPr>
          <p:cNvSpPr>
            <a:spLocks noGrp="1"/>
          </p:cNvSpPr>
          <p:nvPr>
            <p:ph type="subTitle" idx="1"/>
          </p:nvPr>
        </p:nvSpPr>
        <p:spPr>
          <a:xfrm>
            <a:off x="5489027" y="5012417"/>
            <a:ext cx="6114847" cy="5020353"/>
          </a:xfrm>
        </p:spPr>
        <p:txBody>
          <a:bodyPr vert="horz" lIns="91440" tIns="45720" rIns="91440" bIns="45720" rtlCol="0">
            <a:normAutofit/>
          </a:bodyPr>
          <a:lstStyle/>
          <a:p>
            <a:pPr indent="-384048" algn="l">
              <a:lnSpc>
                <a:spcPct val="94000"/>
              </a:lnSpc>
              <a:spcAft>
                <a:spcPts val="200"/>
              </a:spcAft>
            </a:pPr>
            <a:endParaRPr lang="en-US" dirty="0"/>
          </a:p>
          <a:p>
            <a:pPr indent="-384048" algn="r">
              <a:lnSpc>
                <a:spcPct val="94000"/>
              </a:lnSpc>
              <a:spcAft>
                <a:spcPts val="200"/>
              </a:spcAft>
            </a:pPr>
            <a:r>
              <a:rPr lang="en-US" dirty="0"/>
              <a:t>Course number: COMP 7/8150</a:t>
            </a:r>
            <a:br>
              <a:rPr lang="en-US" dirty="0"/>
            </a:br>
            <a:r>
              <a:rPr lang="en-US" dirty="0"/>
              <a:t>Name: Janaki Samba Moorthy</a:t>
            </a:r>
            <a:br>
              <a:rPr lang="en-US"/>
            </a:br>
            <a:endParaRPr lang="en-US" dirty="0"/>
          </a:p>
        </p:txBody>
      </p:sp>
    </p:spTree>
    <p:extLst>
      <p:ext uri="{BB962C8B-B14F-4D97-AF65-F5344CB8AC3E}">
        <p14:creationId xmlns:p14="http://schemas.microsoft.com/office/powerpoint/2010/main" val="375264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1F436-7437-C0A1-2D4C-D89E3987E3ED}"/>
              </a:ext>
            </a:extLst>
          </p:cNvPr>
          <p:cNvSpPr>
            <a:spLocks noGrp="1"/>
          </p:cNvSpPr>
          <p:nvPr>
            <p:ph type="title"/>
          </p:nvPr>
        </p:nvSpPr>
        <p:spPr>
          <a:xfrm>
            <a:off x="798786" y="126775"/>
            <a:ext cx="9603275" cy="1049235"/>
          </a:xfrm>
        </p:spPr>
        <p:txBody>
          <a:bodyPr/>
          <a:lstStyle/>
          <a:p>
            <a:r>
              <a:rPr lang="en-US" sz="3500">
                <a:solidFill>
                  <a:schemeClr val="tx2"/>
                </a:solidFill>
                <a:latin typeface="Times New Roman" panose="02020603050405020304" pitchFamily="18" charset="0"/>
                <a:cs typeface="Times New Roman" panose="02020603050405020304" pitchFamily="18" charset="0"/>
              </a:rPr>
              <a:t>Contents</a:t>
            </a:r>
            <a:r>
              <a:rPr lang="en-US"/>
              <a:t> </a:t>
            </a:r>
          </a:p>
        </p:txBody>
      </p:sp>
      <p:sp>
        <p:nvSpPr>
          <p:cNvPr id="4" name="TextBox 3">
            <a:extLst>
              <a:ext uri="{FF2B5EF4-FFF2-40B4-BE49-F238E27FC236}">
                <a16:creationId xmlns:a16="http://schemas.microsoft.com/office/drawing/2014/main" id="{F954223A-2D77-02B6-5C27-0060894B0690}"/>
              </a:ext>
            </a:extLst>
          </p:cNvPr>
          <p:cNvSpPr txBox="1"/>
          <p:nvPr/>
        </p:nvSpPr>
        <p:spPr>
          <a:xfrm>
            <a:off x="798787" y="914400"/>
            <a:ext cx="8510106" cy="5632311"/>
          </a:xfrm>
          <a:prstGeom prst="rect">
            <a:avLst/>
          </a:prstGeom>
          <a:noFill/>
        </p:spPr>
        <p:txBody>
          <a:bodyPr wrap="square">
            <a:spAutoFit/>
          </a:bodyPr>
          <a:lstStyle/>
          <a:p>
            <a:endParaRPr lang="en-US" sz="2400"/>
          </a:p>
          <a:p>
            <a:pPr marL="342900" indent="-342900">
              <a:buFont typeface="Wingdings" pitchFamily="2" charset="2"/>
              <a:buChar char="Ø"/>
            </a:pPr>
            <a:r>
              <a:rPr lang="en-US" sz="2400"/>
              <a:t>Problem Definition</a:t>
            </a:r>
          </a:p>
          <a:p>
            <a:pPr marL="342900" indent="-342900">
              <a:buFont typeface="Wingdings" pitchFamily="2" charset="2"/>
              <a:buChar char="Ø"/>
            </a:pPr>
            <a:r>
              <a:rPr lang="en-US" sz="2400"/>
              <a:t>Background Study</a:t>
            </a:r>
          </a:p>
          <a:p>
            <a:pPr marL="342900" indent="-342900">
              <a:buFont typeface="Wingdings" pitchFamily="2" charset="2"/>
              <a:buChar char="Ø"/>
            </a:pPr>
            <a:r>
              <a:rPr lang="en-US" sz="2400"/>
              <a:t>Why are RFM Metrics important </a:t>
            </a:r>
          </a:p>
          <a:p>
            <a:pPr marL="342900" indent="-342900">
              <a:buFont typeface="Wingdings" pitchFamily="2" charset="2"/>
              <a:buChar char="Ø"/>
            </a:pPr>
            <a:r>
              <a:rPr lang="en-US" sz="2400"/>
              <a:t>Methodology </a:t>
            </a:r>
          </a:p>
          <a:p>
            <a:pPr marL="342900" indent="-342900">
              <a:buFont typeface="Wingdings" pitchFamily="2" charset="2"/>
              <a:buChar char="Ø"/>
            </a:pPr>
            <a:r>
              <a:rPr lang="en-US" sz="2400"/>
              <a:t>Dataset Overview</a:t>
            </a:r>
          </a:p>
          <a:p>
            <a:pPr marL="342900" indent="-342900">
              <a:buFont typeface="Wingdings" pitchFamily="2" charset="2"/>
              <a:buChar char="Ø"/>
            </a:pPr>
            <a:r>
              <a:rPr lang="en-US" sz="2400"/>
              <a:t>EDA Findings</a:t>
            </a:r>
          </a:p>
          <a:p>
            <a:pPr marL="342900" indent="-342900">
              <a:buFont typeface="Wingdings" pitchFamily="2" charset="2"/>
              <a:buChar char="Ø"/>
            </a:pPr>
            <a:r>
              <a:rPr lang="en-US" altLang="en-US" sz="2400">
                <a:latin typeface="Times New Roman" panose="02020603050405020304" pitchFamily="18" charset="0"/>
                <a:cs typeface="Times New Roman" panose="02020603050405020304" pitchFamily="18" charset="0"/>
              </a:rPr>
              <a:t>Feature Engineering, Outlier Detection &amp; Data Preparation</a:t>
            </a:r>
          </a:p>
          <a:p>
            <a:pPr marL="342900" indent="-342900">
              <a:buFont typeface="Wingdings" pitchFamily="2" charset="2"/>
              <a:buChar char="Ø"/>
            </a:pPr>
            <a:r>
              <a:rPr lang="en-US" sz="2400">
                <a:latin typeface="Times New Roman" panose="02020603050405020304" pitchFamily="18" charset="0"/>
                <a:cs typeface="Times New Roman" panose="02020603050405020304" pitchFamily="18" charset="0"/>
              </a:rPr>
              <a:t>Feature Selection Refinement and Refinement Journey</a:t>
            </a:r>
          </a:p>
          <a:p>
            <a:pPr marL="342900" indent="-342900">
              <a:buFont typeface="Wingdings" pitchFamily="2" charset="2"/>
              <a:buChar char="Ø"/>
            </a:pPr>
            <a:r>
              <a:rPr lang="en-US" sz="2400">
                <a:latin typeface="Times New Roman" panose="02020603050405020304" pitchFamily="18" charset="0"/>
                <a:cs typeface="Times New Roman" panose="02020603050405020304" pitchFamily="18" charset="0"/>
              </a:rPr>
              <a:t>Final Modelling Pipeline </a:t>
            </a:r>
          </a:p>
          <a:p>
            <a:pPr marL="342900" indent="-342900">
              <a:buFont typeface="Wingdings" pitchFamily="2" charset="2"/>
              <a:buChar char="Ø"/>
            </a:pPr>
            <a:r>
              <a:rPr lang="en-US" sz="2400"/>
              <a:t>Results</a:t>
            </a:r>
          </a:p>
          <a:p>
            <a:pPr marL="342900" indent="-342900">
              <a:buFont typeface="Wingdings" pitchFamily="2" charset="2"/>
              <a:buChar char="Ø"/>
            </a:pPr>
            <a:r>
              <a:rPr lang="en-US" sz="2400"/>
              <a:t>Insights</a:t>
            </a:r>
          </a:p>
          <a:p>
            <a:pPr marL="342900" indent="-342900">
              <a:buFont typeface="Wingdings" pitchFamily="2" charset="2"/>
              <a:buChar char="Ø"/>
            </a:pPr>
            <a:r>
              <a:rPr lang="en-US" sz="2400"/>
              <a:t>Conclusion</a:t>
            </a:r>
          </a:p>
          <a:p>
            <a:pPr marL="342900" indent="-342900">
              <a:buFont typeface="Wingdings" pitchFamily="2" charset="2"/>
              <a:buChar char="Ø"/>
            </a:pPr>
            <a:r>
              <a:rPr lang="en-US" sz="2400"/>
              <a:t>Future Scope</a:t>
            </a:r>
          </a:p>
          <a:p>
            <a:pPr marL="342900" indent="-342900">
              <a:buFont typeface="Wingdings" pitchFamily="2" charset="2"/>
              <a:buChar char="Ø"/>
            </a:pPr>
            <a:r>
              <a:rPr lang="en-US" sz="2400"/>
              <a:t>References </a:t>
            </a:r>
            <a:endParaRPr lang="en-US" altLang="en-US" sz="2400">
              <a:latin typeface="Arial" panose="020B0604020202020204" pitchFamily="34" charset="0"/>
            </a:endParaRPr>
          </a:p>
        </p:txBody>
      </p:sp>
    </p:spTree>
    <p:extLst>
      <p:ext uri="{BB962C8B-B14F-4D97-AF65-F5344CB8AC3E}">
        <p14:creationId xmlns:p14="http://schemas.microsoft.com/office/powerpoint/2010/main" val="122231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4B94ED6-9F5C-9558-6E78-8932083F3CEF}"/>
              </a:ext>
            </a:extLst>
          </p:cNvPr>
          <p:cNvSpPr txBox="1">
            <a:spLocks/>
          </p:cNvSpPr>
          <p:nvPr/>
        </p:nvSpPr>
        <p:spPr>
          <a:xfrm>
            <a:off x="684324" y="297559"/>
            <a:ext cx="9603275" cy="616841"/>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Problem Definition</a:t>
            </a:r>
            <a:r>
              <a:rPr lang="en-US"/>
              <a:t> </a:t>
            </a:r>
          </a:p>
        </p:txBody>
      </p:sp>
      <p:sp>
        <p:nvSpPr>
          <p:cNvPr id="4" name="Title 1">
            <a:extLst>
              <a:ext uri="{FF2B5EF4-FFF2-40B4-BE49-F238E27FC236}">
                <a16:creationId xmlns:a16="http://schemas.microsoft.com/office/drawing/2014/main" id="{035A0C57-2043-DE36-6013-DF3208CA5794}"/>
              </a:ext>
            </a:extLst>
          </p:cNvPr>
          <p:cNvSpPr txBox="1">
            <a:spLocks/>
          </p:cNvSpPr>
          <p:nvPr/>
        </p:nvSpPr>
        <p:spPr>
          <a:xfrm>
            <a:off x="684324" y="1227724"/>
            <a:ext cx="6168421" cy="616841"/>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marL="285750" indent="-285750" eaLnBrk="0" fontAlgn="base" hangingPunct="0">
              <a:lnSpc>
                <a:spcPct val="100000"/>
              </a:lnSpc>
              <a:spcAft>
                <a:spcPct val="0"/>
              </a:spcAft>
              <a:buFont typeface="Wingdings" pitchFamily="2" charset="2"/>
              <a:buChar char="Ø"/>
            </a:pPr>
            <a:endParaRPr lang="en-US" altLang="en-US" sz="1600">
              <a:solidFill>
                <a:schemeClr val="tx1"/>
              </a:solidFill>
              <a:latin typeface="Arial" panose="020B0604020202020204" pitchFamily="34" charset="0"/>
            </a:endParaRPr>
          </a:p>
          <a:p>
            <a:pPr marL="285750" lvl="0" indent="-285750" eaLnBrk="0" fontAlgn="base" hangingPunct="0">
              <a:lnSpc>
                <a:spcPct val="100000"/>
              </a:lnSpc>
              <a:spcAft>
                <a:spcPct val="0"/>
              </a:spcAft>
              <a:buFont typeface="Wingdings" pitchFamily="2" charset="2"/>
              <a:buChar char="Ø"/>
            </a:pPr>
            <a:endParaRPr lang="en-US" altLang="en-US" sz="1600">
              <a:solidFill>
                <a:srgbClr val="000000"/>
              </a:solidFill>
              <a:latin typeface="Arial" panose="020B0604020202020204" pitchFamily="34" charset="0"/>
            </a:endParaRPr>
          </a:p>
          <a:p>
            <a:pPr marL="285750" lvl="0" indent="-285750" eaLnBrk="0" fontAlgn="base" hangingPunct="0">
              <a:lnSpc>
                <a:spcPct val="100000"/>
              </a:lnSpc>
              <a:spcAft>
                <a:spcPct val="0"/>
              </a:spcAft>
              <a:buFont typeface="Wingdings" pitchFamily="2" charset="2"/>
              <a:buChar char="Ø"/>
            </a:pPr>
            <a:endParaRPr lang="en-US" altLang="en-US" sz="1600">
              <a:solidFill>
                <a:schemeClr val="tx1"/>
              </a:solidFill>
              <a:latin typeface="Arial" panose="020B0604020202020204" pitchFamily="34" charset="0"/>
            </a:endParaRPr>
          </a:p>
        </p:txBody>
      </p:sp>
      <p:sp>
        <p:nvSpPr>
          <p:cNvPr id="6" name="Rectangle 1">
            <a:extLst>
              <a:ext uri="{FF2B5EF4-FFF2-40B4-BE49-F238E27FC236}">
                <a16:creationId xmlns:a16="http://schemas.microsoft.com/office/drawing/2014/main" id="{0979490D-D0EE-02E3-9050-292489EA2B6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8CAB39A1-08C3-13D4-FDA5-17275B7C8617}"/>
              </a:ext>
            </a:extLst>
          </p:cNvPr>
          <p:cNvSpPr txBox="1"/>
          <p:nvPr/>
        </p:nvSpPr>
        <p:spPr>
          <a:xfrm>
            <a:off x="798786" y="914400"/>
            <a:ext cx="11256579" cy="6370975"/>
          </a:xfrm>
          <a:prstGeom prst="rect">
            <a:avLst/>
          </a:prstGeom>
          <a:noFill/>
        </p:spPr>
        <p:txBody>
          <a:bodyPr wrap="square">
            <a:spAutoFit/>
          </a:bodyPr>
          <a:lstStyle/>
          <a:p>
            <a:pPr marL="285750" indent="-285750">
              <a:buFont typeface="Wingdings" pitchFamily="2" charset="2"/>
              <a:buChar char="Ø"/>
            </a:pPr>
            <a:endParaRPr lang="en-US"/>
          </a:p>
          <a:p>
            <a:pPr marL="285750" indent="-285750">
              <a:buFont typeface="Wingdings" pitchFamily="2" charset="2"/>
              <a:buChar char="Ø"/>
            </a:pPr>
            <a:r>
              <a:rPr lang="en-US"/>
              <a:t>E-commerce companies face significant revenue loss due to customer churn (customers leaving or becoming inactive).</a:t>
            </a:r>
          </a:p>
          <a:p>
            <a:pPr marL="285750" indent="-285750">
              <a:buFont typeface="Wingdings" pitchFamily="2" charset="2"/>
              <a:buChar char="Ø"/>
            </a:pPr>
            <a:r>
              <a:rPr lang="en-US"/>
              <a:t>Retaining existing customers is more cost-effective than acquiring new ones.</a:t>
            </a:r>
          </a:p>
          <a:p>
            <a:endParaRPr lang="en-US"/>
          </a:p>
          <a:p>
            <a:r>
              <a:rPr lang="en-US" sz="2800" b="1"/>
              <a:t>Objective of the Project: Predict which customers are likely to churn using historical data.</a:t>
            </a:r>
            <a:br>
              <a:rPr lang="en-US"/>
            </a:br>
            <a:endParaRPr lang="en-US"/>
          </a:p>
          <a:p>
            <a:pPr lvl="0" defTabSz="914400" eaLnBrk="0" fontAlgn="base" hangingPunct="0">
              <a:spcBef>
                <a:spcPct val="0"/>
              </a:spcBef>
              <a:spcAft>
                <a:spcPct val="0"/>
              </a:spcAft>
            </a:pPr>
            <a:r>
              <a:rPr lang="en-US" altLang="en-US" b="1"/>
              <a:t>Revenue &amp; Profitability Impact:</a:t>
            </a:r>
          </a:p>
          <a:p>
            <a:pPr lvl="0" defTabSz="914400" eaLnBrk="0" fontAlgn="base" hangingPunct="0">
              <a:spcBef>
                <a:spcPct val="0"/>
              </a:spcBef>
              <a:spcAft>
                <a:spcPct val="0"/>
              </a:spcAft>
              <a:buFontTx/>
              <a:buChar char="•"/>
            </a:pPr>
            <a:r>
              <a:rPr lang="en-US" altLang="en-US"/>
              <a:t>E-commerce churn exceeds 60% annually </a:t>
            </a:r>
          </a:p>
          <a:p>
            <a:pPr lvl="0" defTabSz="914400" eaLnBrk="0" fontAlgn="base" hangingPunct="0">
              <a:spcBef>
                <a:spcPct val="0"/>
              </a:spcBef>
              <a:spcAft>
                <a:spcPct val="0"/>
              </a:spcAft>
              <a:buFontTx/>
              <a:buChar char="•"/>
            </a:pPr>
            <a:r>
              <a:rPr lang="en-US" altLang="en-US"/>
              <a:t>Repeat customers represent only 21% of customer base but generate 44% of total revenue</a:t>
            </a:r>
          </a:p>
          <a:p>
            <a:pPr lvl="0" defTabSz="914400" eaLnBrk="0" fontAlgn="base" hangingPunct="0">
              <a:spcBef>
                <a:spcPct val="0"/>
              </a:spcBef>
              <a:spcAft>
                <a:spcPct val="0"/>
              </a:spcAft>
              <a:buFontTx/>
              <a:buChar char="•"/>
            </a:pPr>
            <a:r>
              <a:rPr lang="en-US" altLang="en-US"/>
              <a:t>5% increase in retention → 25-95% increase in profit </a:t>
            </a:r>
          </a:p>
          <a:p>
            <a:pPr lvl="0" defTabSz="914400" eaLnBrk="0" fontAlgn="base" hangingPunct="0">
              <a:spcBef>
                <a:spcPct val="0"/>
              </a:spcBef>
              <a:spcAft>
                <a:spcPct val="0"/>
              </a:spcAft>
              <a:buFontTx/>
              <a:buChar char="•"/>
            </a:pPr>
            <a:r>
              <a:rPr lang="en-US" altLang="en-US"/>
              <a:t>Losing high-value customers directly impacts Customer Lifetime Value (CLV) </a:t>
            </a:r>
          </a:p>
          <a:p>
            <a:pPr lvl="0" defTabSz="914400" eaLnBrk="0" fontAlgn="base" hangingPunct="0">
              <a:spcBef>
                <a:spcPct val="0"/>
              </a:spcBef>
              <a:spcAft>
                <a:spcPct val="0"/>
              </a:spcAft>
            </a:pPr>
            <a:endParaRPr lang="en-US" altLang="en-US"/>
          </a:p>
          <a:p>
            <a:pPr lvl="0" defTabSz="914400" eaLnBrk="0" fontAlgn="base" hangingPunct="0">
              <a:spcBef>
                <a:spcPct val="0"/>
              </a:spcBef>
              <a:spcAft>
                <a:spcPct val="0"/>
              </a:spcAft>
            </a:pPr>
            <a:r>
              <a:rPr lang="en-US" altLang="en-US" b="1"/>
              <a:t>Acquisition vs. Retention Economics:</a:t>
            </a:r>
          </a:p>
          <a:p>
            <a:pPr lvl="0" defTabSz="914400" eaLnBrk="0" fontAlgn="base" hangingPunct="0">
              <a:spcBef>
                <a:spcPct val="0"/>
              </a:spcBef>
              <a:spcAft>
                <a:spcPct val="0"/>
              </a:spcAft>
              <a:buFontTx/>
              <a:buChar char="•"/>
            </a:pPr>
            <a:r>
              <a:rPr lang="en-US" altLang="en-US"/>
              <a:t>Acquiring new customers is 5-25× more expensive than retaining existing ones </a:t>
            </a:r>
          </a:p>
          <a:p>
            <a:pPr lvl="0" defTabSz="914400" eaLnBrk="0" fontAlgn="base" hangingPunct="0">
              <a:spcBef>
                <a:spcPct val="0"/>
              </a:spcBef>
              <a:spcAft>
                <a:spcPct val="0"/>
              </a:spcAft>
              <a:buFontTx/>
              <a:buChar char="•"/>
            </a:pPr>
            <a:r>
              <a:rPr lang="en-US" altLang="en-US"/>
              <a:t>Repeat customers spend 67% more than new customers </a:t>
            </a:r>
          </a:p>
          <a:p>
            <a:pPr lvl="0" defTabSz="914400" eaLnBrk="0" fontAlgn="base" hangingPunct="0">
              <a:spcBef>
                <a:spcPct val="0"/>
              </a:spcBef>
              <a:spcAft>
                <a:spcPct val="0"/>
              </a:spcAft>
              <a:buFontTx/>
              <a:buChar char="•"/>
            </a:pPr>
            <a:r>
              <a:rPr lang="en-US" altLang="en-US"/>
              <a:t>Probability of selling to existing customer: 60-70% – New prospects: only 5-20% success rate​</a:t>
            </a:r>
          </a:p>
          <a:p>
            <a:pPr lvl="0" defTabSz="914400" eaLnBrk="0" fontAlgn="base" hangingPunct="0">
              <a:spcBef>
                <a:spcPct val="0"/>
              </a:spcBef>
              <a:spcAft>
                <a:spcPct val="0"/>
              </a:spcAft>
              <a:buFontTx/>
              <a:buChar char="•"/>
            </a:pPr>
            <a:r>
              <a:rPr lang="en-US" altLang="en-US"/>
              <a:t>Existing customers are 50% more likely to try new products </a:t>
            </a:r>
          </a:p>
          <a:p>
            <a:pPr lvl="0" defTabSz="914400" eaLnBrk="0" fontAlgn="base" hangingPunct="0">
              <a:spcBef>
                <a:spcPct val="0"/>
              </a:spcBef>
              <a:spcAft>
                <a:spcPct val="0"/>
              </a:spcAft>
              <a:buFontTx/>
              <a:buChar char="•"/>
            </a:pPr>
            <a:r>
              <a:rPr lang="en-US" altLang="en-US"/>
              <a:t>Loyal customers spend 31% more on average </a:t>
            </a:r>
          </a:p>
          <a:p>
            <a:pPr lvl="0" defTabSz="914400" eaLnBrk="0" fontAlgn="base" hangingPunct="0">
              <a:spcBef>
                <a:spcPct val="0"/>
              </a:spcBef>
              <a:spcAft>
                <a:spcPct val="0"/>
              </a:spcAft>
            </a:pPr>
            <a:endParaRPr lang="en-US" altLang="en-US" sz="2800">
              <a:latin typeface="Arial" panose="020B0604020202020204" pitchFamily="34" charset="0"/>
            </a:endParaRPr>
          </a:p>
        </p:txBody>
      </p:sp>
      <p:sp>
        <p:nvSpPr>
          <p:cNvPr id="13" name="Rectangle 5">
            <a:extLst>
              <a:ext uri="{FF2B5EF4-FFF2-40B4-BE49-F238E27FC236}">
                <a16:creationId xmlns:a16="http://schemas.microsoft.com/office/drawing/2014/main" id="{8EDF06CA-8684-8EC4-81E9-52EF56B4D23D}"/>
              </a:ext>
            </a:extLst>
          </p:cNvPr>
          <p:cNvSpPr>
            <a:spLocks noChangeArrowheads="1"/>
          </p:cNvSpPr>
          <p:nvPr/>
        </p:nvSpPr>
        <p:spPr bwMode="auto">
          <a:xfrm>
            <a:off x="0" y="9010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0233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88E8A-23D1-CF63-BC8C-6331270C31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6C0C076-392D-FE87-4603-B3B22744AF9A}"/>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9F4877E4-3A5F-BD5C-14FA-C94434886CFC}"/>
              </a:ext>
            </a:extLst>
          </p:cNvPr>
          <p:cNvSpPr txBox="1">
            <a:spLocks/>
          </p:cNvSpPr>
          <p:nvPr/>
        </p:nvSpPr>
        <p:spPr>
          <a:xfrm>
            <a:off x="684324" y="87239"/>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Background Study </a:t>
            </a:r>
          </a:p>
          <a:p>
            <a:endParaRPr lang="en-US"/>
          </a:p>
        </p:txBody>
      </p:sp>
      <p:sp>
        <p:nvSpPr>
          <p:cNvPr id="5" name="TextBox 4">
            <a:extLst>
              <a:ext uri="{FF2B5EF4-FFF2-40B4-BE49-F238E27FC236}">
                <a16:creationId xmlns:a16="http://schemas.microsoft.com/office/drawing/2014/main" id="{7A4AB7EF-FCB1-D047-9A11-2C0039B2462C}"/>
              </a:ext>
            </a:extLst>
          </p:cNvPr>
          <p:cNvSpPr txBox="1"/>
          <p:nvPr/>
        </p:nvSpPr>
        <p:spPr>
          <a:xfrm>
            <a:off x="684324" y="756745"/>
            <a:ext cx="5937194" cy="2585323"/>
          </a:xfrm>
          <a:prstGeom prst="rect">
            <a:avLst/>
          </a:prstGeom>
          <a:noFill/>
        </p:spPr>
        <p:txBody>
          <a:bodyPr wrap="square">
            <a:spAutoFit/>
          </a:bodyPr>
          <a:lstStyle/>
          <a:p>
            <a:r>
              <a:rPr lang="en-US" b="0" i="0" u="none" strike="noStrike">
                <a:solidFill>
                  <a:srgbClr val="000000"/>
                </a:solidFill>
                <a:effectLst/>
              </a:rPr>
              <a:t>Customer Churn: Customer churn occurs when a customer stops engaging or making purchases for a certain period.</a:t>
            </a:r>
          </a:p>
          <a:p>
            <a:endParaRPr lang="en-US">
              <a:solidFill>
                <a:srgbClr val="000000"/>
              </a:solidFill>
            </a:endParaRPr>
          </a:p>
          <a:p>
            <a:pPr marL="285750" indent="-285750">
              <a:buFont typeface="Wingdings" pitchFamily="2" charset="2"/>
              <a:buChar char="Ø"/>
            </a:pPr>
            <a:r>
              <a:rPr lang="en-US"/>
              <a:t>Studies show that monthly churn rates in e-commerce are often between 5% and 10%, depending on the industry and customer type.</a:t>
            </a:r>
          </a:p>
          <a:p>
            <a:pPr marL="285750" indent="-285750">
              <a:buFont typeface="Wingdings" pitchFamily="2" charset="2"/>
              <a:buChar char="Ø"/>
            </a:pPr>
            <a:r>
              <a:rPr lang="en-US"/>
              <a:t>For annual churn, this can translate to 20–30% of customers leaving in a year.</a:t>
            </a:r>
          </a:p>
          <a:p>
            <a:endParaRPr lang="en-US"/>
          </a:p>
        </p:txBody>
      </p:sp>
      <p:sp>
        <p:nvSpPr>
          <p:cNvPr id="9" name="TextBox 8">
            <a:extLst>
              <a:ext uri="{FF2B5EF4-FFF2-40B4-BE49-F238E27FC236}">
                <a16:creationId xmlns:a16="http://schemas.microsoft.com/office/drawing/2014/main" id="{42665BA3-1C26-4AF2-8F04-52155EF0FACC}"/>
              </a:ext>
            </a:extLst>
          </p:cNvPr>
          <p:cNvSpPr txBox="1"/>
          <p:nvPr/>
        </p:nvSpPr>
        <p:spPr>
          <a:xfrm>
            <a:off x="684324" y="3515933"/>
            <a:ext cx="5758517" cy="2954655"/>
          </a:xfrm>
          <a:prstGeom prst="rect">
            <a:avLst/>
          </a:prstGeom>
          <a:noFill/>
        </p:spPr>
        <p:txBody>
          <a:bodyPr wrap="square">
            <a:spAutoFit/>
          </a:bodyPr>
          <a:lstStyle/>
          <a:p>
            <a:r>
              <a:rPr lang="en-US" sz="2400" b="1">
                <a:solidFill>
                  <a:srgbClr val="000000"/>
                </a:solidFill>
              </a:rPr>
              <a:t>Approaches to Churn Prediction:</a:t>
            </a:r>
            <a:br>
              <a:rPr lang="en-US" sz="2400"/>
            </a:br>
            <a:br>
              <a:rPr lang="en-US"/>
            </a:br>
            <a:r>
              <a:rPr lang="en-US" b="0" i="0" u="none" strike="noStrike">
                <a:solidFill>
                  <a:srgbClr val="000000"/>
                </a:solidFill>
                <a:effectLst/>
              </a:rPr>
              <a:t>Machine Learning Models: Logistic Regression, Random Forest, SVM, Gradient Boosting.</a:t>
            </a:r>
            <a:br>
              <a:rPr lang="en-US"/>
            </a:br>
            <a:br>
              <a:rPr lang="en-US"/>
            </a:br>
            <a:r>
              <a:rPr lang="en-US" b="0" i="0" u="none" strike="noStrike">
                <a:solidFill>
                  <a:srgbClr val="000000"/>
                </a:solidFill>
                <a:effectLst/>
              </a:rPr>
              <a:t>Feature Engineering: RFM analysis, temporal trends, behavioral metrics.</a:t>
            </a:r>
            <a:br>
              <a:rPr lang="en-US"/>
            </a:br>
            <a:br>
              <a:rPr lang="en-US"/>
            </a:br>
            <a:r>
              <a:rPr lang="en-US" b="0" i="0" u="none" strike="noStrike">
                <a:solidFill>
                  <a:srgbClr val="000000"/>
                </a:solidFill>
                <a:effectLst/>
              </a:rPr>
              <a:t>Evaluation Metrics: Accuracy, F1-score, Confusion Matrix, Cross-Validation.</a:t>
            </a:r>
            <a:endParaRPr lang="en-US"/>
          </a:p>
        </p:txBody>
      </p:sp>
      <p:sp>
        <p:nvSpPr>
          <p:cNvPr id="10" name="Oval 9">
            <a:extLst>
              <a:ext uri="{FF2B5EF4-FFF2-40B4-BE49-F238E27FC236}">
                <a16:creationId xmlns:a16="http://schemas.microsoft.com/office/drawing/2014/main" id="{66451827-C0E6-B29B-17F4-71CD9A015AC5}"/>
              </a:ext>
            </a:extLst>
          </p:cNvPr>
          <p:cNvSpPr/>
          <p:nvPr/>
        </p:nvSpPr>
        <p:spPr>
          <a:xfrm>
            <a:off x="6691814" y="3453380"/>
            <a:ext cx="1166649" cy="111409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Churn </a:t>
            </a:r>
          </a:p>
        </p:txBody>
      </p:sp>
      <p:cxnSp>
        <p:nvCxnSpPr>
          <p:cNvPr id="12" name="Straight Connector 11">
            <a:extLst>
              <a:ext uri="{FF2B5EF4-FFF2-40B4-BE49-F238E27FC236}">
                <a16:creationId xmlns:a16="http://schemas.microsoft.com/office/drawing/2014/main" id="{DF2C6119-79AD-5471-B423-BBD27EAABFDF}"/>
              </a:ext>
            </a:extLst>
          </p:cNvPr>
          <p:cNvCxnSpPr>
            <a:cxnSpLocks/>
          </p:cNvCxnSpPr>
          <p:nvPr/>
        </p:nvCxnSpPr>
        <p:spPr>
          <a:xfrm flipV="1">
            <a:off x="7853304" y="3469882"/>
            <a:ext cx="879961" cy="434709"/>
          </a:xfrm>
          <a:prstGeom prst="line">
            <a:avLst/>
          </a:prstGeom>
          <a:ln w="19050" cap="flat" cmpd="sng" algn="ctr">
            <a:solidFill>
              <a:schemeClr val="bg1">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Oval 13">
            <a:extLst>
              <a:ext uri="{FF2B5EF4-FFF2-40B4-BE49-F238E27FC236}">
                <a16:creationId xmlns:a16="http://schemas.microsoft.com/office/drawing/2014/main" id="{169A2322-8D84-E7E5-4840-8E5266F79B7D}"/>
              </a:ext>
            </a:extLst>
          </p:cNvPr>
          <p:cNvSpPr/>
          <p:nvPr/>
        </p:nvSpPr>
        <p:spPr>
          <a:xfrm>
            <a:off x="8601572" y="3106356"/>
            <a:ext cx="1426969" cy="735725"/>
          </a:xfrm>
          <a:prstGeom prst="ellipse">
            <a:avLst/>
          </a:prstGeom>
          <a:solidFill>
            <a:schemeClr val="bg1">
              <a:lumMod val="50000"/>
            </a:schemeClr>
          </a:solidFill>
          <a:ln>
            <a:solidFill>
              <a:schemeClr val="bg1">
                <a:lumMod val="5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Recency </a:t>
            </a:r>
          </a:p>
        </p:txBody>
      </p:sp>
      <p:sp>
        <p:nvSpPr>
          <p:cNvPr id="15" name="Oval 14">
            <a:extLst>
              <a:ext uri="{FF2B5EF4-FFF2-40B4-BE49-F238E27FC236}">
                <a16:creationId xmlns:a16="http://schemas.microsoft.com/office/drawing/2014/main" id="{836279B0-C1D0-57AD-59B5-0B37AC6A1DD7}"/>
              </a:ext>
            </a:extLst>
          </p:cNvPr>
          <p:cNvSpPr/>
          <p:nvPr/>
        </p:nvSpPr>
        <p:spPr>
          <a:xfrm>
            <a:off x="8378459" y="5239093"/>
            <a:ext cx="1722940" cy="735725"/>
          </a:xfrm>
          <a:prstGeom prst="ellipse">
            <a:avLst/>
          </a:prstGeom>
          <a:solidFill>
            <a:schemeClr val="bg1">
              <a:lumMod val="50000"/>
            </a:schemeClr>
          </a:solidFill>
          <a:ln>
            <a:solidFill>
              <a:schemeClr val="bg1">
                <a:lumMod val="5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Frequency</a:t>
            </a:r>
          </a:p>
        </p:txBody>
      </p:sp>
      <p:sp>
        <p:nvSpPr>
          <p:cNvPr id="16" name="Oval 15">
            <a:extLst>
              <a:ext uri="{FF2B5EF4-FFF2-40B4-BE49-F238E27FC236}">
                <a16:creationId xmlns:a16="http://schemas.microsoft.com/office/drawing/2014/main" id="{6C363A44-535B-4EBF-0A6F-10A1102DC83F}"/>
              </a:ext>
            </a:extLst>
          </p:cNvPr>
          <p:cNvSpPr/>
          <p:nvPr/>
        </p:nvSpPr>
        <p:spPr>
          <a:xfrm>
            <a:off x="8234194" y="3782681"/>
            <a:ext cx="1660561" cy="735725"/>
          </a:xfrm>
          <a:prstGeom prst="ellipse">
            <a:avLst/>
          </a:prstGeom>
          <a:solidFill>
            <a:schemeClr val="bg1">
              <a:lumMod val="50000"/>
            </a:schemeClr>
          </a:solidFill>
          <a:ln>
            <a:solidFill>
              <a:schemeClr val="bg1">
                <a:lumMod val="5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Monetary</a:t>
            </a:r>
          </a:p>
        </p:txBody>
      </p:sp>
      <p:sp>
        <p:nvSpPr>
          <p:cNvPr id="17" name="Oval 16">
            <a:extLst>
              <a:ext uri="{FF2B5EF4-FFF2-40B4-BE49-F238E27FC236}">
                <a16:creationId xmlns:a16="http://schemas.microsoft.com/office/drawing/2014/main" id="{BF614322-71A0-5182-6A95-C919B12A275E}"/>
              </a:ext>
            </a:extLst>
          </p:cNvPr>
          <p:cNvSpPr/>
          <p:nvPr/>
        </p:nvSpPr>
        <p:spPr>
          <a:xfrm>
            <a:off x="10048693" y="3486805"/>
            <a:ext cx="1076897" cy="698938"/>
          </a:xfrm>
          <a:prstGeom prst="ellipse">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Purchasing Patterns </a:t>
            </a:r>
          </a:p>
        </p:txBody>
      </p:sp>
      <p:sp>
        <p:nvSpPr>
          <p:cNvPr id="18" name="Oval 17">
            <a:extLst>
              <a:ext uri="{FF2B5EF4-FFF2-40B4-BE49-F238E27FC236}">
                <a16:creationId xmlns:a16="http://schemas.microsoft.com/office/drawing/2014/main" id="{85F75F93-57D3-7400-5D05-C7C51283ABA5}"/>
              </a:ext>
            </a:extLst>
          </p:cNvPr>
          <p:cNvSpPr/>
          <p:nvPr/>
        </p:nvSpPr>
        <p:spPr>
          <a:xfrm>
            <a:off x="7149162" y="5475887"/>
            <a:ext cx="1076897" cy="698938"/>
          </a:xfrm>
          <a:prstGeom prst="ellipse">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Session Activity</a:t>
            </a:r>
          </a:p>
        </p:txBody>
      </p:sp>
      <p:sp>
        <p:nvSpPr>
          <p:cNvPr id="19" name="Oval 18">
            <a:extLst>
              <a:ext uri="{FF2B5EF4-FFF2-40B4-BE49-F238E27FC236}">
                <a16:creationId xmlns:a16="http://schemas.microsoft.com/office/drawing/2014/main" id="{5C91D8A1-63DE-7D2F-6BEC-27896B0D9E70}"/>
              </a:ext>
            </a:extLst>
          </p:cNvPr>
          <p:cNvSpPr/>
          <p:nvPr/>
        </p:nvSpPr>
        <p:spPr>
          <a:xfrm>
            <a:off x="8885395" y="6094893"/>
            <a:ext cx="1076897" cy="698938"/>
          </a:xfrm>
          <a:prstGeom prst="ellipse">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CTRs</a:t>
            </a:r>
          </a:p>
        </p:txBody>
      </p:sp>
      <p:sp>
        <p:nvSpPr>
          <p:cNvPr id="20" name="Oval 19">
            <a:extLst>
              <a:ext uri="{FF2B5EF4-FFF2-40B4-BE49-F238E27FC236}">
                <a16:creationId xmlns:a16="http://schemas.microsoft.com/office/drawing/2014/main" id="{42B7D67F-67A1-B56E-542A-AA53824D43BF}"/>
              </a:ext>
            </a:extLst>
          </p:cNvPr>
          <p:cNvSpPr/>
          <p:nvPr/>
        </p:nvSpPr>
        <p:spPr>
          <a:xfrm>
            <a:off x="9423844" y="4356754"/>
            <a:ext cx="1076897" cy="698938"/>
          </a:xfrm>
          <a:prstGeom prst="ellipse">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ATCs</a:t>
            </a:r>
          </a:p>
        </p:txBody>
      </p:sp>
      <p:sp>
        <p:nvSpPr>
          <p:cNvPr id="21" name="Oval 20">
            <a:extLst>
              <a:ext uri="{FF2B5EF4-FFF2-40B4-BE49-F238E27FC236}">
                <a16:creationId xmlns:a16="http://schemas.microsoft.com/office/drawing/2014/main" id="{F0EB2B30-CD84-5970-6495-9C434618FE28}"/>
              </a:ext>
            </a:extLst>
          </p:cNvPr>
          <p:cNvSpPr/>
          <p:nvPr/>
        </p:nvSpPr>
        <p:spPr>
          <a:xfrm>
            <a:off x="8360355" y="2455250"/>
            <a:ext cx="1076897" cy="698938"/>
          </a:xfrm>
          <a:prstGeom prst="ellipse">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Time between purchases</a:t>
            </a:r>
          </a:p>
        </p:txBody>
      </p:sp>
      <p:sp>
        <p:nvSpPr>
          <p:cNvPr id="22" name="Oval 21">
            <a:extLst>
              <a:ext uri="{FF2B5EF4-FFF2-40B4-BE49-F238E27FC236}">
                <a16:creationId xmlns:a16="http://schemas.microsoft.com/office/drawing/2014/main" id="{7D69643D-26D7-55A5-5CB9-3ADE8EACD875}"/>
              </a:ext>
            </a:extLst>
          </p:cNvPr>
          <p:cNvSpPr/>
          <p:nvPr/>
        </p:nvSpPr>
        <p:spPr>
          <a:xfrm>
            <a:off x="7157297" y="2076339"/>
            <a:ext cx="1076897" cy="698938"/>
          </a:xfrm>
          <a:prstGeom prst="ellipse">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Time spent in sessions </a:t>
            </a:r>
          </a:p>
        </p:txBody>
      </p:sp>
      <p:sp>
        <p:nvSpPr>
          <p:cNvPr id="23" name="Oval 22">
            <a:extLst>
              <a:ext uri="{FF2B5EF4-FFF2-40B4-BE49-F238E27FC236}">
                <a16:creationId xmlns:a16="http://schemas.microsoft.com/office/drawing/2014/main" id="{7F7C75E5-5C5A-01FA-0BB5-D615BEC534E4}"/>
              </a:ext>
            </a:extLst>
          </p:cNvPr>
          <p:cNvSpPr/>
          <p:nvPr/>
        </p:nvSpPr>
        <p:spPr>
          <a:xfrm>
            <a:off x="8417162" y="1475179"/>
            <a:ext cx="1076897" cy="698938"/>
          </a:xfrm>
          <a:prstGeom prst="ellipse">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Cart Abandonment rate </a:t>
            </a:r>
          </a:p>
        </p:txBody>
      </p:sp>
      <p:sp>
        <p:nvSpPr>
          <p:cNvPr id="24" name="Oval 23">
            <a:extLst>
              <a:ext uri="{FF2B5EF4-FFF2-40B4-BE49-F238E27FC236}">
                <a16:creationId xmlns:a16="http://schemas.microsoft.com/office/drawing/2014/main" id="{0FDBC4C2-A134-9C2B-8D77-3BE56E6E62E3}"/>
              </a:ext>
            </a:extLst>
          </p:cNvPr>
          <p:cNvSpPr/>
          <p:nvPr/>
        </p:nvSpPr>
        <p:spPr>
          <a:xfrm>
            <a:off x="9784299" y="847000"/>
            <a:ext cx="1076897" cy="698938"/>
          </a:xfrm>
          <a:prstGeom prst="ellipse">
            <a:avLst/>
          </a:prstGeom>
          <a:solidFill>
            <a:schemeClr val="bg1">
              <a:lumMod val="85000"/>
            </a:schemeClr>
          </a:solidFill>
          <a:ln>
            <a:solidFill>
              <a:schemeClr val="bg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Location </a:t>
            </a:r>
          </a:p>
        </p:txBody>
      </p:sp>
      <p:sp>
        <p:nvSpPr>
          <p:cNvPr id="25" name="Oval 24">
            <a:extLst>
              <a:ext uri="{FF2B5EF4-FFF2-40B4-BE49-F238E27FC236}">
                <a16:creationId xmlns:a16="http://schemas.microsoft.com/office/drawing/2014/main" id="{166D41B6-1211-6A5F-AD7B-448617730621}"/>
              </a:ext>
            </a:extLst>
          </p:cNvPr>
          <p:cNvSpPr/>
          <p:nvPr/>
        </p:nvSpPr>
        <p:spPr>
          <a:xfrm>
            <a:off x="10800946" y="2762693"/>
            <a:ext cx="1076897" cy="698938"/>
          </a:xfrm>
          <a:prstGeom prst="ellipse">
            <a:avLst/>
          </a:prstGeom>
          <a:solidFill>
            <a:schemeClr val="bg1">
              <a:lumMod val="85000"/>
            </a:schemeClr>
          </a:solidFill>
          <a:ln>
            <a:solidFill>
              <a:schemeClr val="bg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Product Preferences  </a:t>
            </a:r>
          </a:p>
        </p:txBody>
      </p:sp>
      <p:sp>
        <p:nvSpPr>
          <p:cNvPr id="26" name="Oval 25">
            <a:extLst>
              <a:ext uri="{FF2B5EF4-FFF2-40B4-BE49-F238E27FC236}">
                <a16:creationId xmlns:a16="http://schemas.microsoft.com/office/drawing/2014/main" id="{9B4319C3-FBC5-8556-6625-F84A7A1587BD}"/>
              </a:ext>
            </a:extLst>
          </p:cNvPr>
          <p:cNvSpPr/>
          <p:nvPr/>
        </p:nvSpPr>
        <p:spPr>
          <a:xfrm>
            <a:off x="10378522" y="5257487"/>
            <a:ext cx="1076897" cy="698938"/>
          </a:xfrm>
          <a:prstGeom prst="ellipse">
            <a:avLst/>
          </a:prstGeom>
          <a:solidFill>
            <a:schemeClr val="bg1">
              <a:lumMod val="85000"/>
            </a:schemeClr>
          </a:solidFill>
          <a:ln>
            <a:solidFill>
              <a:schemeClr val="bg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a:t>CSAT </a:t>
            </a:r>
          </a:p>
        </p:txBody>
      </p:sp>
      <p:cxnSp>
        <p:nvCxnSpPr>
          <p:cNvPr id="28" name="Straight Connector 27">
            <a:extLst>
              <a:ext uri="{FF2B5EF4-FFF2-40B4-BE49-F238E27FC236}">
                <a16:creationId xmlns:a16="http://schemas.microsoft.com/office/drawing/2014/main" id="{CE5AB480-3D86-DE08-FF94-AE5713E9BC46}"/>
              </a:ext>
            </a:extLst>
          </p:cNvPr>
          <p:cNvCxnSpPr>
            <a:cxnSpLocks/>
            <a:stCxn id="10" idx="5"/>
            <a:endCxn id="15" idx="1"/>
          </p:cNvCxnSpPr>
          <p:nvPr/>
        </p:nvCxnSpPr>
        <p:spPr>
          <a:xfrm>
            <a:off x="7687611" y="4404320"/>
            <a:ext cx="943167" cy="942517"/>
          </a:xfrm>
          <a:prstGeom prst="line">
            <a:avLst/>
          </a:prstGeom>
          <a:ln w="19050" cap="flat" cmpd="sng" algn="ctr">
            <a:solidFill>
              <a:schemeClr val="bg1">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B8224C97-1218-9053-E889-0F1F3DDDB4B2}"/>
              </a:ext>
            </a:extLst>
          </p:cNvPr>
          <p:cNvCxnSpPr>
            <a:cxnSpLocks/>
            <a:stCxn id="10" idx="6"/>
            <a:endCxn id="16" idx="2"/>
          </p:cNvCxnSpPr>
          <p:nvPr/>
        </p:nvCxnSpPr>
        <p:spPr>
          <a:xfrm>
            <a:off x="7858463" y="4010428"/>
            <a:ext cx="375731" cy="140116"/>
          </a:xfrm>
          <a:prstGeom prst="line">
            <a:avLst/>
          </a:prstGeom>
          <a:ln w="19050" cap="flat" cmpd="sng" algn="ctr">
            <a:solidFill>
              <a:schemeClr val="bg1">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Connector 34">
            <a:extLst>
              <a:ext uri="{FF2B5EF4-FFF2-40B4-BE49-F238E27FC236}">
                <a16:creationId xmlns:a16="http://schemas.microsoft.com/office/drawing/2014/main" id="{0B58CAE1-609D-39FC-C1CC-7D57E021729F}"/>
              </a:ext>
            </a:extLst>
          </p:cNvPr>
          <p:cNvCxnSpPr>
            <a:cxnSpLocks/>
            <a:endCxn id="18" idx="0"/>
          </p:cNvCxnSpPr>
          <p:nvPr/>
        </p:nvCxnSpPr>
        <p:spPr>
          <a:xfrm>
            <a:off x="7390384" y="4562639"/>
            <a:ext cx="297227" cy="913248"/>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Straight Connector 36">
            <a:extLst>
              <a:ext uri="{FF2B5EF4-FFF2-40B4-BE49-F238E27FC236}">
                <a16:creationId xmlns:a16="http://schemas.microsoft.com/office/drawing/2014/main" id="{F2035366-6B06-7F90-EABB-A7C346190492}"/>
              </a:ext>
            </a:extLst>
          </p:cNvPr>
          <p:cNvCxnSpPr>
            <a:cxnSpLocks/>
            <a:stCxn id="10" idx="5"/>
            <a:endCxn id="19" idx="3"/>
          </p:cNvCxnSpPr>
          <p:nvPr/>
        </p:nvCxnSpPr>
        <p:spPr>
          <a:xfrm>
            <a:off x="7687611" y="4404320"/>
            <a:ext cx="1355492" cy="2287154"/>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DA35A086-C50A-B541-8E72-075324D9801B}"/>
              </a:ext>
            </a:extLst>
          </p:cNvPr>
          <p:cNvCxnSpPr>
            <a:cxnSpLocks/>
            <a:stCxn id="10" idx="5"/>
            <a:endCxn id="20" idx="2"/>
          </p:cNvCxnSpPr>
          <p:nvPr/>
        </p:nvCxnSpPr>
        <p:spPr>
          <a:xfrm>
            <a:off x="7687611" y="4404320"/>
            <a:ext cx="1736233" cy="301903"/>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1EB9BE31-3671-9A9C-7B41-5E5CA0787A63}"/>
              </a:ext>
            </a:extLst>
          </p:cNvPr>
          <p:cNvCxnSpPr>
            <a:cxnSpLocks/>
            <a:stCxn id="10" idx="6"/>
            <a:endCxn id="17" idx="1"/>
          </p:cNvCxnSpPr>
          <p:nvPr/>
        </p:nvCxnSpPr>
        <p:spPr>
          <a:xfrm flipV="1">
            <a:off x="7858463" y="3589162"/>
            <a:ext cx="2347938" cy="421266"/>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7D0385FB-5534-0F6C-8B7F-57BCCDD26511}"/>
              </a:ext>
            </a:extLst>
          </p:cNvPr>
          <p:cNvCxnSpPr>
            <a:cxnSpLocks/>
            <a:stCxn id="10" idx="0"/>
            <a:endCxn id="21" idx="2"/>
          </p:cNvCxnSpPr>
          <p:nvPr/>
        </p:nvCxnSpPr>
        <p:spPr>
          <a:xfrm flipV="1">
            <a:off x="7275139" y="2804719"/>
            <a:ext cx="1085216" cy="648661"/>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Straight Connector 49">
            <a:extLst>
              <a:ext uri="{FF2B5EF4-FFF2-40B4-BE49-F238E27FC236}">
                <a16:creationId xmlns:a16="http://schemas.microsoft.com/office/drawing/2014/main" id="{0900D20E-05CE-C5C1-2E37-8F2C13AD2597}"/>
              </a:ext>
            </a:extLst>
          </p:cNvPr>
          <p:cNvCxnSpPr>
            <a:cxnSpLocks/>
            <a:stCxn id="10" idx="0"/>
            <a:endCxn id="22" idx="2"/>
          </p:cNvCxnSpPr>
          <p:nvPr/>
        </p:nvCxnSpPr>
        <p:spPr>
          <a:xfrm flipH="1" flipV="1">
            <a:off x="7157297" y="2425808"/>
            <a:ext cx="117842" cy="1027572"/>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50AADD32-D1E6-C305-CB54-E85884D66FB5}"/>
              </a:ext>
            </a:extLst>
          </p:cNvPr>
          <p:cNvCxnSpPr>
            <a:cxnSpLocks/>
            <a:stCxn id="10" idx="0"/>
            <a:endCxn id="23" idx="3"/>
          </p:cNvCxnSpPr>
          <p:nvPr/>
        </p:nvCxnSpPr>
        <p:spPr>
          <a:xfrm flipV="1">
            <a:off x="7275139" y="2071760"/>
            <a:ext cx="1299731" cy="138162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a:extLst>
              <a:ext uri="{FF2B5EF4-FFF2-40B4-BE49-F238E27FC236}">
                <a16:creationId xmlns:a16="http://schemas.microsoft.com/office/drawing/2014/main" id="{06B791AE-50CF-8757-5D42-25EC77F4DCD8}"/>
              </a:ext>
            </a:extLst>
          </p:cNvPr>
          <p:cNvCxnSpPr>
            <a:cxnSpLocks/>
            <a:endCxn id="26" idx="2"/>
          </p:cNvCxnSpPr>
          <p:nvPr/>
        </p:nvCxnSpPr>
        <p:spPr>
          <a:xfrm>
            <a:off x="7840011" y="4556720"/>
            <a:ext cx="2538511" cy="1050236"/>
          </a:xfrm>
          <a:prstGeom prst="line">
            <a:avLst/>
          </a:prstGeom>
          <a:ln w="19050" cap="flat" cmpd="sng" algn="ctr">
            <a:solidFill>
              <a:schemeClr val="bg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04967663-8EE9-EB5C-9ED8-1CF2906FF125}"/>
              </a:ext>
            </a:extLst>
          </p:cNvPr>
          <p:cNvCxnSpPr>
            <a:cxnSpLocks/>
            <a:stCxn id="10" idx="0"/>
            <a:endCxn id="25" idx="2"/>
          </p:cNvCxnSpPr>
          <p:nvPr/>
        </p:nvCxnSpPr>
        <p:spPr>
          <a:xfrm flipV="1">
            <a:off x="7275139" y="3112162"/>
            <a:ext cx="3525807" cy="341218"/>
          </a:xfrm>
          <a:prstGeom prst="line">
            <a:avLst/>
          </a:prstGeom>
          <a:ln w="19050" cap="flat" cmpd="sng" algn="ctr">
            <a:solidFill>
              <a:schemeClr val="bg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Straight Connector 62">
            <a:extLst>
              <a:ext uri="{FF2B5EF4-FFF2-40B4-BE49-F238E27FC236}">
                <a16:creationId xmlns:a16="http://schemas.microsoft.com/office/drawing/2014/main" id="{E3188141-B9DE-0B56-196B-909DAF2D8549}"/>
              </a:ext>
            </a:extLst>
          </p:cNvPr>
          <p:cNvCxnSpPr>
            <a:cxnSpLocks/>
            <a:stCxn id="10" idx="0"/>
            <a:endCxn id="24" idx="2"/>
          </p:cNvCxnSpPr>
          <p:nvPr/>
        </p:nvCxnSpPr>
        <p:spPr>
          <a:xfrm flipV="1">
            <a:off x="7275139" y="1196469"/>
            <a:ext cx="2509160" cy="2256911"/>
          </a:xfrm>
          <a:prstGeom prst="line">
            <a:avLst/>
          </a:prstGeom>
          <a:ln w="19050" cap="flat" cmpd="sng" algn="ctr">
            <a:solidFill>
              <a:schemeClr val="bg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8" name="TextBox 67">
            <a:extLst>
              <a:ext uri="{FF2B5EF4-FFF2-40B4-BE49-F238E27FC236}">
                <a16:creationId xmlns:a16="http://schemas.microsoft.com/office/drawing/2014/main" id="{182A84DC-3703-2CC6-BEA1-B7E411BF1C03}"/>
              </a:ext>
            </a:extLst>
          </p:cNvPr>
          <p:cNvSpPr txBox="1"/>
          <p:nvPr/>
        </p:nvSpPr>
        <p:spPr>
          <a:xfrm>
            <a:off x="6622321" y="372889"/>
            <a:ext cx="6096000" cy="461665"/>
          </a:xfrm>
          <a:prstGeom prst="rect">
            <a:avLst/>
          </a:prstGeom>
          <a:noFill/>
        </p:spPr>
        <p:txBody>
          <a:bodyPr wrap="square">
            <a:spAutoFit/>
          </a:bodyPr>
          <a:lstStyle/>
          <a:p>
            <a:r>
              <a:rPr kumimoji="0" lang="en-US" sz="2400" b="1" i="0" u="none" strike="noStrike" kern="1200" cap="none" spc="0" normalizeH="0" baseline="0" noProof="0">
                <a:ln>
                  <a:noFill/>
                </a:ln>
                <a:solidFill>
                  <a:srgbClr val="000000"/>
                </a:solidFill>
                <a:effectLst/>
                <a:uLnTx/>
                <a:uFillTx/>
                <a:latin typeface="Franklin Gothic Book" panose="020B0503020102020204"/>
                <a:ea typeface="+mn-ea"/>
                <a:cs typeface="+mn-cs"/>
              </a:rPr>
              <a:t>Factors Affecting Churn</a:t>
            </a:r>
            <a:endParaRPr lang="en-US" sz="1400"/>
          </a:p>
        </p:txBody>
      </p:sp>
    </p:spTree>
    <p:extLst>
      <p:ext uri="{BB962C8B-B14F-4D97-AF65-F5344CB8AC3E}">
        <p14:creationId xmlns:p14="http://schemas.microsoft.com/office/powerpoint/2010/main" val="1559506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EF79E-C627-D941-7493-BF164319A5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4C8E49-6802-B5DB-B545-0A806E29A8BE}"/>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76A25E61-B865-C7F2-2857-7D9A685043ED}"/>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Why are RFM Metrics important?</a:t>
            </a: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r>
              <a:rPr lang="en-US" altLang="en-US" sz="1800" b="1">
                <a:solidFill>
                  <a:schemeClr val="tx1"/>
                </a:solidFill>
                <a:latin typeface="Times New Roman" panose="02020603050405020304" pitchFamily="18" charset="0"/>
                <a:cs typeface="Times New Roman" panose="02020603050405020304" pitchFamily="18" charset="0"/>
              </a:rPr>
              <a:t>What RFM Measures:</a:t>
            </a: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r>
              <a:rPr lang="en-US" altLang="en-US" sz="1800" b="1">
                <a:solidFill>
                  <a:schemeClr val="tx1"/>
                </a:solidFill>
                <a:latin typeface="Times New Roman" panose="02020603050405020304" pitchFamily="18" charset="0"/>
                <a:cs typeface="Times New Roman" panose="02020603050405020304" pitchFamily="18" charset="0"/>
              </a:rPr>
              <a:t>Helps in </a:t>
            </a:r>
          </a:p>
          <a:p>
            <a:pPr lvl="0" eaLnBrk="0" fontAlgn="base" hangingPunct="0">
              <a:lnSpc>
                <a:spcPct val="100000"/>
              </a:lnSpc>
              <a:spcAft>
                <a:spcPct val="0"/>
              </a:spcAft>
            </a:pPr>
            <a:endParaRPr lang="en-US" altLang="en-US" sz="1800" b="1">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lnSpc>
                <a:spcPct val="100000"/>
              </a:lnSpc>
              <a:spcAft>
                <a:spcPct val="0"/>
              </a:spcAft>
              <a:buFont typeface="Wingdings" pitchFamily="2" charset="2"/>
              <a:buChar char="v"/>
            </a:pPr>
            <a:r>
              <a:rPr lang="en-US" altLang="en-US" sz="1800">
                <a:solidFill>
                  <a:schemeClr val="tx1"/>
                </a:solidFill>
                <a:latin typeface="Times New Roman" panose="02020603050405020304" pitchFamily="18" charset="0"/>
                <a:cs typeface="Times New Roman" panose="02020603050405020304" pitchFamily="18" charset="0"/>
              </a:rPr>
              <a:t>Early warning signals for at-risk customers before they churn​</a:t>
            </a:r>
          </a:p>
          <a:p>
            <a:pPr marL="285750" lvl="0" indent="-285750" eaLnBrk="0" fontAlgn="base" hangingPunct="0">
              <a:lnSpc>
                <a:spcPct val="100000"/>
              </a:lnSpc>
              <a:spcAft>
                <a:spcPct val="0"/>
              </a:spcAft>
              <a:buFont typeface="Wingdings" pitchFamily="2" charset="2"/>
              <a:buChar char="v"/>
            </a:pPr>
            <a:r>
              <a:rPr lang="en-US" altLang="en-US" sz="1800">
                <a:solidFill>
                  <a:schemeClr val="tx1"/>
                </a:solidFill>
                <a:latin typeface="Times New Roman" panose="02020603050405020304" pitchFamily="18" charset="0"/>
                <a:cs typeface="Times New Roman" panose="02020603050405020304" pitchFamily="18" charset="0"/>
              </a:rPr>
              <a:t>Directly captures behavioral patterns that indicate churn likelihood</a:t>
            </a:r>
          </a:p>
          <a:p>
            <a:pPr lvl="0" eaLnBrk="0" fontAlgn="base" hangingPunct="0">
              <a:lnSpc>
                <a:spcPct val="100000"/>
              </a:lnSpc>
              <a:spcAft>
                <a:spcPct val="0"/>
              </a:spcAft>
              <a:buFontTx/>
              <a:buChar char="•"/>
            </a:pPr>
            <a:endParaRPr lang="en-US" altLang="en-US" sz="1800">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r>
              <a:rPr lang="en-US" altLang="en-US" sz="1800" b="1">
                <a:solidFill>
                  <a:schemeClr val="tx1"/>
                </a:solidFill>
                <a:latin typeface="Times New Roman" panose="02020603050405020304" pitchFamily="18" charset="0"/>
                <a:cs typeface="Times New Roman" panose="02020603050405020304" pitchFamily="18" charset="0"/>
              </a:rPr>
              <a:t>Actionable Segmentation</a:t>
            </a:r>
            <a:r>
              <a:rPr lang="en-US" altLang="en-US" sz="1800">
                <a:solidFill>
                  <a:schemeClr val="tx1"/>
                </a:solidFill>
                <a:latin typeface="Times New Roman" panose="02020603050405020304" pitchFamily="18" charset="0"/>
                <a:cs typeface="Times New Roman" panose="02020603050405020304" pitchFamily="18" charset="0"/>
              </a:rPr>
              <a:t>:</a:t>
            </a:r>
          </a:p>
          <a:p>
            <a:pPr marL="285750" lvl="0" indent="-285750" eaLnBrk="0" fontAlgn="base" hangingPunct="0">
              <a:lnSpc>
                <a:spcPct val="100000"/>
              </a:lnSpc>
              <a:spcAft>
                <a:spcPct val="0"/>
              </a:spcAft>
              <a:buFont typeface="Wingdings" pitchFamily="2" charset="2"/>
              <a:buChar char="ü"/>
            </a:pPr>
            <a:r>
              <a:rPr lang="en-US" altLang="en-US" sz="1800">
                <a:solidFill>
                  <a:schemeClr val="tx1"/>
                </a:solidFill>
                <a:latin typeface="Times New Roman" panose="02020603050405020304" pitchFamily="18" charset="0"/>
                <a:cs typeface="Times New Roman" panose="02020603050405020304" pitchFamily="18" charset="0"/>
              </a:rPr>
              <a:t>Creates distinct customer groups: Champions, At-Risk, Loyal, Lost​</a:t>
            </a:r>
          </a:p>
          <a:p>
            <a:pPr marL="285750" lvl="0" indent="-285750" eaLnBrk="0" fontAlgn="base" hangingPunct="0">
              <a:lnSpc>
                <a:spcPct val="100000"/>
              </a:lnSpc>
              <a:spcAft>
                <a:spcPct val="0"/>
              </a:spcAft>
              <a:buFont typeface="Wingdings" pitchFamily="2" charset="2"/>
              <a:buChar char="ü"/>
            </a:pPr>
            <a:r>
              <a:rPr lang="en-US" altLang="en-US" sz="1800">
                <a:solidFill>
                  <a:schemeClr val="tx1"/>
                </a:solidFill>
                <a:latin typeface="Times New Roman" panose="02020603050405020304" pitchFamily="18" charset="0"/>
                <a:cs typeface="Times New Roman" panose="02020603050405020304" pitchFamily="18" charset="0"/>
              </a:rPr>
              <a:t>Each segment receives targeted retention strategies based on its profile​</a:t>
            </a:r>
          </a:p>
          <a:p>
            <a:pPr lvl="0" eaLnBrk="0" fontAlgn="base" hangingPunct="0">
              <a:lnSpc>
                <a:spcPct val="100000"/>
              </a:lnSpc>
              <a:spcAft>
                <a:spcPct val="0"/>
              </a:spcAft>
            </a:pPr>
            <a:endParaRPr lang="en-US" altLang="en-US" sz="6000">
              <a:solidFill>
                <a:schemeClr val="tx1"/>
              </a:solidFill>
              <a:latin typeface="Arial" panose="020B0604020202020204" pitchFamily="34" charset="0"/>
            </a:endParaRPr>
          </a:p>
          <a:p>
            <a:endParaRPr lang="en-US"/>
          </a:p>
        </p:txBody>
      </p:sp>
      <p:graphicFrame>
        <p:nvGraphicFramePr>
          <p:cNvPr id="6" name="Table 5">
            <a:extLst>
              <a:ext uri="{FF2B5EF4-FFF2-40B4-BE49-F238E27FC236}">
                <a16:creationId xmlns:a16="http://schemas.microsoft.com/office/drawing/2014/main" id="{FE5BE8DB-8119-E688-5990-790619FBA915}"/>
              </a:ext>
            </a:extLst>
          </p:cNvPr>
          <p:cNvGraphicFramePr>
            <a:graphicFrameLocks noGrp="1"/>
          </p:cNvGraphicFramePr>
          <p:nvPr>
            <p:extLst>
              <p:ext uri="{D42A27DB-BD31-4B8C-83A1-F6EECF244321}">
                <p14:modId xmlns:p14="http://schemas.microsoft.com/office/powerpoint/2010/main" val="680829011"/>
              </p:ext>
            </p:extLst>
          </p:nvPr>
        </p:nvGraphicFramePr>
        <p:xfrm>
          <a:off x="791780" y="1681480"/>
          <a:ext cx="9960303" cy="1747520"/>
        </p:xfrm>
        <a:graphic>
          <a:graphicData uri="http://schemas.openxmlformats.org/drawingml/2006/table">
            <a:tbl>
              <a:tblPr firstRow="1" bandRow="1">
                <a:tableStyleId>{0505E3EF-67EA-436B-97B2-0124C06EBD24}</a:tableStyleId>
              </a:tblPr>
              <a:tblGrid>
                <a:gridCol w="1235039">
                  <a:extLst>
                    <a:ext uri="{9D8B030D-6E8A-4147-A177-3AD203B41FA5}">
                      <a16:colId xmlns:a16="http://schemas.microsoft.com/office/drawing/2014/main" val="1599224803"/>
                    </a:ext>
                  </a:extLst>
                </a:gridCol>
                <a:gridCol w="4031475">
                  <a:extLst>
                    <a:ext uri="{9D8B030D-6E8A-4147-A177-3AD203B41FA5}">
                      <a16:colId xmlns:a16="http://schemas.microsoft.com/office/drawing/2014/main" val="1934831070"/>
                    </a:ext>
                  </a:extLst>
                </a:gridCol>
                <a:gridCol w="4693789">
                  <a:extLst>
                    <a:ext uri="{9D8B030D-6E8A-4147-A177-3AD203B41FA5}">
                      <a16:colId xmlns:a16="http://schemas.microsoft.com/office/drawing/2014/main" val="2069996535"/>
                    </a:ext>
                  </a:extLst>
                </a:gridCol>
              </a:tblGrid>
              <a:tr h="0">
                <a:tc>
                  <a:txBody>
                    <a:bodyPr/>
                    <a:lstStyle/>
                    <a:p>
                      <a:r>
                        <a:rPr lang="en-US"/>
                        <a:t>Metric</a:t>
                      </a:r>
                    </a:p>
                  </a:txBody>
                  <a:tcPr/>
                </a:tc>
                <a:tc>
                  <a:txBody>
                    <a:bodyPr/>
                    <a:lstStyle/>
                    <a:p>
                      <a:r>
                        <a:rPr lang="en-US"/>
                        <a:t>What</a:t>
                      </a:r>
                    </a:p>
                  </a:txBody>
                  <a:tcPr/>
                </a:tc>
                <a:tc>
                  <a:txBody>
                    <a:bodyPr/>
                    <a:lstStyle/>
                    <a:p>
                      <a:r>
                        <a:rPr lang="en-US"/>
                        <a:t>Indication</a:t>
                      </a:r>
                    </a:p>
                  </a:txBody>
                  <a:tcPr/>
                </a:tc>
                <a:extLst>
                  <a:ext uri="{0D108BD9-81ED-4DB2-BD59-A6C34878D82A}">
                    <a16:rowId xmlns:a16="http://schemas.microsoft.com/office/drawing/2014/main" val="1411561920"/>
                  </a:ext>
                </a:extLst>
              </a:tr>
              <a:tr h="370840">
                <a:tc>
                  <a:txBody>
                    <a:bodyPr/>
                    <a:lstStyle/>
                    <a:p>
                      <a:r>
                        <a:rPr lang="en-US"/>
                        <a:t>Recency </a:t>
                      </a:r>
                    </a:p>
                  </a:txBody>
                  <a:tcPr/>
                </a:tc>
                <a:tc>
                  <a:txBody>
                    <a:bodyPr/>
                    <a:lstStyle/>
                    <a:p>
                      <a:r>
                        <a:rPr lang="en-US" altLang="en-US">
                          <a:solidFill>
                            <a:schemeClr val="tx1"/>
                          </a:solidFill>
                          <a:latin typeface="fkGroteskNeue"/>
                        </a:rPr>
                        <a:t>How recently did customer make a purchase?</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a:solidFill>
                            <a:schemeClr val="tx1"/>
                          </a:solidFill>
                          <a:latin typeface="fkGroteskNeue"/>
                        </a:rPr>
                        <a:t>Current engagement indicator​</a:t>
                      </a:r>
                    </a:p>
                  </a:txBody>
                  <a:tcPr/>
                </a:tc>
                <a:extLst>
                  <a:ext uri="{0D108BD9-81ED-4DB2-BD59-A6C34878D82A}">
                    <a16:rowId xmlns:a16="http://schemas.microsoft.com/office/drawing/2014/main" val="339854657"/>
                  </a:ext>
                </a:extLst>
              </a:tr>
              <a:tr h="370840">
                <a:tc>
                  <a:txBody>
                    <a:bodyPr/>
                    <a:lstStyle/>
                    <a:p>
                      <a:r>
                        <a:rPr lang="en-US"/>
                        <a:t>Frequency</a:t>
                      </a:r>
                    </a:p>
                  </a:txBody>
                  <a:tcPr/>
                </a:tc>
                <a:tc>
                  <a:txBody>
                    <a:bodyPr/>
                    <a:lstStyle/>
                    <a:p>
                      <a:r>
                        <a:rPr lang="en-US" altLang="en-US">
                          <a:solidFill>
                            <a:schemeClr val="tx1"/>
                          </a:solidFill>
                          <a:latin typeface="fkGroteskNeue"/>
                        </a:rPr>
                        <a:t>How often do they buy?</a:t>
                      </a:r>
                      <a:endParaRPr lang="en-US"/>
                    </a:p>
                  </a:txBody>
                  <a:tcPr/>
                </a:tc>
                <a:tc>
                  <a:txBody>
                    <a:bodyPr/>
                    <a:lstStyle/>
                    <a:p>
                      <a:r>
                        <a:rPr lang="en-US" altLang="en-US">
                          <a:solidFill>
                            <a:schemeClr val="tx1"/>
                          </a:solidFill>
                          <a:latin typeface="fkGroteskNeue"/>
                        </a:rPr>
                        <a:t>Loyalty &amp; repeat purchase behavior​</a:t>
                      </a:r>
                      <a:endParaRPr lang="en-US"/>
                    </a:p>
                  </a:txBody>
                  <a:tcPr/>
                </a:tc>
                <a:extLst>
                  <a:ext uri="{0D108BD9-81ED-4DB2-BD59-A6C34878D82A}">
                    <a16:rowId xmlns:a16="http://schemas.microsoft.com/office/drawing/2014/main" val="2059593942"/>
                  </a:ext>
                </a:extLst>
              </a:tr>
              <a:tr h="370840">
                <a:tc>
                  <a:txBody>
                    <a:bodyPr/>
                    <a:lstStyle/>
                    <a:p>
                      <a:r>
                        <a:rPr lang="en-US"/>
                        <a:t>Monetary </a:t>
                      </a:r>
                    </a:p>
                  </a:txBody>
                  <a:tcPr/>
                </a:tc>
                <a:tc>
                  <a:txBody>
                    <a:bodyPr/>
                    <a:lstStyle/>
                    <a:p>
                      <a:r>
                        <a:rPr lang="en-US" altLang="en-US">
                          <a:solidFill>
                            <a:schemeClr val="tx1"/>
                          </a:solidFill>
                          <a:latin typeface="fkGroteskNeue"/>
                        </a:rPr>
                        <a:t>How much revenue do they generate?</a:t>
                      </a:r>
                      <a:endParaRPr lang="en-US"/>
                    </a:p>
                  </a:txBody>
                  <a:tcPr/>
                </a:tc>
                <a:tc>
                  <a:txBody>
                    <a:bodyPr/>
                    <a:lstStyle/>
                    <a:p>
                      <a:r>
                        <a:rPr lang="en-US" altLang="en-US">
                          <a:solidFill>
                            <a:schemeClr val="tx1"/>
                          </a:solidFill>
                          <a:latin typeface="fkGroteskNeue"/>
                        </a:rPr>
                        <a:t>High-value customer identification​</a:t>
                      </a:r>
                      <a:endParaRPr lang="en-US"/>
                    </a:p>
                  </a:txBody>
                  <a:tcPr/>
                </a:tc>
                <a:extLst>
                  <a:ext uri="{0D108BD9-81ED-4DB2-BD59-A6C34878D82A}">
                    <a16:rowId xmlns:a16="http://schemas.microsoft.com/office/drawing/2014/main" val="780414329"/>
                  </a:ext>
                </a:extLst>
              </a:tr>
            </a:tbl>
          </a:graphicData>
        </a:graphic>
      </p:graphicFrame>
      <p:graphicFrame>
        <p:nvGraphicFramePr>
          <p:cNvPr id="7" name="Table 6">
            <a:extLst>
              <a:ext uri="{FF2B5EF4-FFF2-40B4-BE49-F238E27FC236}">
                <a16:creationId xmlns:a16="http://schemas.microsoft.com/office/drawing/2014/main" id="{FF2E006D-B2A1-3F98-5F86-BD8368E56C26}"/>
              </a:ext>
            </a:extLst>
          </p:cNvPr>
          <p:cNvGraphicFramePr>
            <a:graphicFrameLocks noGrp="1"/>
          </p:cNvGraphicFramePr>
          <p:nvPr>
            <p:extLst>
              <p:ext uri="{D42A27DB-BD31-4B8C-83A1-F6EECF244321}">
                <p14:modId xmlns:p14="http://schemas.microsoft.com/office/powerpoint/2010/main" val="1586892889"/>
              </p:ext>
            </p:extLst>
          </p:nvPr>
        </p:nvGraphicFramePr>
        <p:xfrm>
          <a:off x="7622980" y="3667760"/>
          <a:ext cx="4569020" cy="3017520"/>
        </p:xfrm>
        <a:graphic>
          <a:graphicData uri="http://schemas.openxmlformats.org/drawingml/2006/table">
            <a:tbl>
              <a:tblPr firstRow="1" bandRow="1">
                <a:tableStyleId>{F5AB1C69-6EDB-4FF4-983F-18BD219EF322}</a:tableStyleId>
              </a:tblPr>
              <a:tblGrid>
                <a:gridCol w="2128647">
                  <a:extLst>
                    <a:ext uri="{9D8B030D-6E8A-4147-A177-3AD203B41FA5}">
                      <a16:colId xmlns:a16="http://schemas.microsoft.com/office/drawing/2014/main" val="2743471060"/>
                    </a:ext>
                  </a:extLst>
                </a:gridCol>
                <a:gridCol w="2440373">
                  <a:extLst>
                    <a:ext uri="{9D8B030D-6E8A-4147-A177-3AD203B41FA5}">
                      <a16:colId xmlns:a16="http://schemas.microsoft.com/office/drawing/2014/main" val="2747574761"/>
                    </a:ext>
                  </a:extLst>
                </a:gridCol>
              </a:tblGrid>
              <a:tr h="370840">
                <a:tc>
                  <a:txBody>
                    <a:bodyPr/>
                    <a:lstStyle/>
                    <a:p>
                      <a:r>
                        <a:rPr lang="en-US"/>
                        <a:t>High value</a:t>
                      </a:r>
                    </a:p>
                    <a:p>
                      <a:r>
                        <a:rPr lang="en-US"/>
                        <a:t>High Frequency </a:t>
                      </a:r>
                    </a:p>
                  </a:txBody>
                  <a:tcPr/>
                </a:tc>
                <a:tc>
                  <a:txBody>
                    <a:bodyPr/>
                    <a:lstStyle/>
                    <a:p>
                      <a:pPr marL="0" indent="0">
                        <a:buFont typeface="Wingdings" pitchFamily="2" charset="2"/>
                        <a:buNone/>
                      </a:pPr>
                      <a:r>
                        <a:rPr lang="en-US"/>
                        <a:t>CAMPIONS</a:t>
                      </a:r>
                    </a:p>
                    <a:p>
                      <a:pPr marL="285750" indent="-285750">
                        <a:buFont typeface="Wingdings" pitchFamily="2" charset="2"/>
                        <a:buChar char="v"/>
                      </a:pPr>
                      <a:r>
                        <a:rPr lang="en-US"/>
                        <a:t>Highest Priority </a:t>
                      </a:r>
                    </a:p>
                    <a:p>
                      <a:pPr marL="285750" indent="-285750">
                        <a:buFont typeface="Wingdings" pitchFamily="2" charset="2"/>
                        <a:buChar char="v"/>
                      </a:pPr>
                      <a:r>
                        <a:rPr lang="en-US"/>
                        <a:t>Top Spenders</a:t>
                      </a:r>
                    </a:p>
                  </a:txBody>
                  <a:tcPr/>
                </a:tc>
                <a:extLst>
                  <a:ext uri="{0D108BD9-81ED-4DB2-BD59-A6C34878D82A}">
                    <a16:rowId xmlns:a16="http://schemas.microsoft.com/office/drawing/2014/main" val="3153704528"/>
                  </a:ext>
                </a:extLst>
              </a:tr>
              <a:tr h="370840">
                <a:tc>
                  <a:txBody>
                    <a:bodyPr/>
                    <a:lstStyle/>
                    <a:p>
                      <a:r>
                        <a:rPr lang="en-US"/>
                        <a:t>High value</a:t>
                      </a:r>
                    </a:p>
                    <a:p>
                      <a:r>
                        <a:rPr lang="en-US"/>
                        <a:t>Low Frequency </a:t>
                      </a:r>
                    </a:p>
                  </a:txBody>
                  <a:tcPr/>
                </a:tc>
                <a:tc>
                  <a:txBody>
                    <a:bodyPr/>
                    <a:lstStyle/>
                    <a:p>
                      <a:r>
                        <a:rPr lang="en-US"/>
                        <a:t>AT RISK</a:t>
                      </a:r>
                    </a:p>
                    <a:p>
                      <a:pPr marL="285750" indent="-285750">
                        <a:buFont typeface="Wingdings" pitchFamily="2" charset="2"/>
                        <a:buChar char="v"/>
                      </a:pPr>
                      <a:r>
                        <a:rPr lang="en-US"/>
                        <a:t>Declining Engagement </a:t>
                      </a:r>
                    </a:p>
                    <a:p>
                      <a:pPr marL="285750" indent="-285750">
                        <a:buFont typeface="Wingdings" pitchFamily="2" charset="2"/>
                        <a:buChar char="v"/>
                      </a:pPr>
                      <a:r>
                        <a:rPr lang="en-US"/>
                        <a:t>Critical Attention </a:t>
                      </a:r>
                    </a:p>
                  </a:txBody>
                  <a:tcPr/>
                </a:tc>
                <a:extLst>
                  <a:ext uri="{0D108BD9-81ED-4DB2-BD59-A6C34878D82A}">
                    <a16:rowId xmlns:a16="http://schemas.microsoft.com/office/drawing/2014/main" val="210824917"/>
                  </a:ext>
                </a:extLst>
              </a:tr>
              <a:tr h="370840">
                <a:tc>
                  <a:txBody>
                    <a:bodyPr/>
                    <a:lstStyle/>
                    <a:p>
                      <a:r>
                        <a:rPr lang="en-US"/>
                        <a:t>Low Value</a:t>
                      </a:r>
                    </a:p>
                    <a:p>
                      <a:r>
                        <a:rPr lang="en-US"/>
                        <a:t>Low Frequency</a:t>
                      </a:r>
                    </a:p>
                  </a:txBody>
                  <a:tcPr/>
                </a:tc>
                <a:tc>
                  <a:txBody>
                    <a:bodyPr/>
                    <a:lstStyle/>
                    <a:p>
                      <a:r>
                        <a:rPr lang="en-US"/>
                        <a:t>LOST CUSTOMERS</a:t>
                      </a:r>
                    </a:p>
                    <a:p>
                      <a:pPr marL="285750" indent="-285750">
                        <a:buFont typeface="Wingdings" pitchFamily="2" charset="2"/>
                        <a:buChar char="v"/>
                      </a:pPr>
                      <a:r>
                        <a:rPr lang="en-US"/>
                        <a:t>Nearly Churned</a:t>
                      </a:r>
                    </a:p>
                    <a:p>
                      <a:pPr marL="285750" indent="-285750">
                        <a:buFont typeface="Wingdings" pitchFamily="2" charset="2"/>
                        <a:buChar char="v"/>
                      </a:pPr>
                      <a:r>
                        <a:rPr lang="en-US"/>
                        <a:t>Low Retention Value </a:t>
                      </a:r>
                    </a:p>
                  </a:txBody>
                  <a:tcPr/>
                </a:tc>
                <a:extLst>
                  <a:ext uri="{0D108BD9-81ED-4DB2-BD59-A6C34878D82A}">
                    <a16:rowId xmlns:a16="http://schemas.microsoft.com/office/drawing/2014/main" val="3669801381"/>
                  </a:ext>
                </a:extLst>
              </a:tr>
            </a:tbl>
          </a:graphicData>
        </a:graphic>
      </p:graphicFrame>
    </p:spTree>
    <p:extLst>
      <p:ext uri="{BB962C8B-B14F-4D97-AF65-F5344CB8AC3E}">
        <p14:creationId xmlns:p14="http://schemas.microsoft.com/office/powerpoint/2010/main" val="1103016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2B80F-735B-C899-6EDA-2AE62BB7EA2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17D7D6A-8A22-75D4-CFCF-9EAEC4670968}"/>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Methodology </a:t>
            </a:r>
            <a:endParaRPr lang="en-US"/>
          </a:p>
        </p:txBody>
      </p:sp>
      <p:sp>
        <p:nvSpPr>
          <p:cNvPr id="60" name="Rectangle 1">
            <a:extLst>
              <a:ext uri="{FF2B5EF4-FFF2-40B4-BE49-F238E27FC236}">
                <a16:creationId xmlns:a16="http://schemas.microsoft.com/office/drawing/2014/main" id="{FF5E51B8-115F-3016-6F4D-8D22D72E95E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4D4D4C"/>
                </a:solidFill>
                <a:effectLst/>
                <a:latin typeface="berkeleyMono"/>
              </a:rPr>
              <a:t>1. DATA PREPARATION &amp; PREPROCESSING </a:t>
            </a: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Rounded Rectangle 60">
            <a:extLst>
              <a:ext uri="{FF2B5EF4-FFF2-40B4-BE49-F238E27FC236}">
                <a16:creationId xmlns:a16="http://schemas.microsoft.com/office/drawing/2014/main" id="{C763C222-7B1C-0649-90AD-3D34A62ADD49}"/>
              </a:ext>
            </a:extLst>
          </p:cNvPr>
          <p:cNvSpPr/>
          <p:nvPr/>
        </p:nvSpPr>
        <p:spPr>
          <a:xfrm>
            <a:off x="1143000" y="600069"/>
            <a:ext cx="1900237"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Graphic 66" descr="Arrow Up outline">
            <a:extLst>
              <a:ext uri="{FF2B5EF4-FFF2-40B4-BE49-F238E27FC236}">
                <a16:creationId xmlns:a16="http://schemas.microsoft.com/office/drawing/2014/main" id="{596D604D-BC88-1C91-0579-20503794EE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3037236" y="738517"/>
            <a:ext cx="871538" cy="594643"/>
          </a:xfrm>
          <a:prstGeom prst="rect">
            <a:avLst/>
          </a:prstGeom>
        </p:spPr>
      </p:pic>
      <p:sp>
        <p:nvSpPr>
          <p:cNvPr id="68" name="Rounded Rectangle 67">
            <a:extLst>
              <a:ext uri="{FF2B5EF4-FFF2-40B4-BE49-F238E27FC236}">
                <a16:creationId xmlns:a16="http://schemas.microsoft.com/office/drawing/2014/main" id="{AA35FDE1-4B23-3FBD-73C1-25C567937D83}"/>
              </a:ext>
            </a:extLst>
          </p:cNvPr>
          <p:cNvSpPr/>
          <p:nvPr/>
        </p:nvSpPr>
        <p:spPr>
          <a:xfrm>
            <a:off x="3902772" y="600065"/>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 name="Graphic 68" descr="Arrow Up outline">
            <a:extLst>
              <a:ext uri="{FF2B5EF4-FFF2-40B4-BE49-F238E27FC236}">
                <a16:creationId xmlns:a16="http://schemas.microsoft.com/office/drawing/2014/main" id="{3963AE48-2453-D7A8-F4D0-C2C38490C9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882733" y="738515"/>
            <a:ext cx="871538" cy="594643"/>
          </a:xfrm>
          <a:prstGeom prst="rect">
            <a:avLst/>
          </a:prstGeom>
        </p:spPr>
      </p:pic>
      <p:sp>
        <p:nvSpPr>
          <p:cNvPr id="70" name="Rounded Rectangle 69">
            <a:extLst>
              <a:ext uri="{FF2B5EF4-FFF2-40B4-BE49-F238E27FC236}">
                <a16:creationId xmlns:a16="http://schemas.microsoft.com/office/drawing/2014/main" id="{C78EC6B8-07AE-990C-7318-1C320C68AB0B}"/>
              </a:ext>
            </a:extLst>
          </p:cNvPr>
          <p:cNvSpPr/>
          <p:nvPr/>
        </p:nvSpPr>
        <p:spPr>
          <a:xfrm>
            <a:off x="6791132" y="600067"/>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Graphic 70" descr="Arrow Up outline">
            <a:extLst>
              <a:ext uri="{FF2B5EF4-FFF2-40B4-BE49-F238E27FC236}">
                <a16:creationId xmlns:a16="http://schemas.microsoft.com/office/drawing/2014/main" id="{D6AC5352-17C0-B966-0ADE-185AE97C34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8728230" y="738515"/>
            <a:ext cx="871538" cy="594643"/>
          </a:xfrm>
          <a:prstGeom prst="rect">
            <a:avLst/>
          </a:prstGeom>
        </p:spPr>
      </p:pic>
      <p:sp>
        <p:nvSpPr>
          <p:cNvPr id="72" name="Rounded Rectangle 71">
            <a:extLst>
              <a:ext uri="{FF2B5EF4-FFF2-40B4-BE49-F238E27FC236}">
                <a16:creationId xmlns:a16="http://schemas.microsoft.com/office/drawing/2014/main" id="{8E60150E-AF16-1956-84F0-A523FD30400D}"/>
              </a:ext>
            </a:extLst>
          </p:cNvPr>
          <p:cNvSpPr/>
          <p:nvPr/>
        </p:nvSpPr>
        <p:spPr>
          <a:xfrm>
            <a:off x="9593766" y="600065"/>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Graphic 72" descr="Arrow Up outline">
            <a:extLst>
              <a:ext uri="{FF2B5EF4-FFF2-40B4-BE49-F238E27FC236}">
                <a16:creationId xmlns:a16="http://schemas.microsoft.com/office/drawing/2014/main" id="{9C46506E-BB51-69BE-A78F-1B09DF1583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10387864" y="1726141"/>
            <a:ext cx="871538" cy="594643"/>
          </a:xfrm>
          <a:prstGeom prst="rect">
            <a:avLst/>
          </a:prstGeom>
        </p:spPr>
      </p:pic>
      <p:sp>
        <p:nvSpPr>
          <p:cNvPr id="74" name="Rounded Rectangle 73">
            <a:extLst>
              <a:ext uri="{FF2B5EF4-FFF2-40B4-BE49-F238E27FC236}">
                <a16:creationId xmlns:a16="http://schemas.microsoft.com/office/drawing/2014/main" id="{3FDC9174-B0F3-6F54-1879-7C014219B0C9}"/>
              </a:ext>
            </a:extLst>
          </p:cNvPr>
          <p:cNvSpPr/>
          <p:nvPr/>
        </p:nvSpPr>
        <p:spPr>
          <a:xfrm>
            <a:off x="1185863" y="2575322"/>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c 74" descr="Arrow Up outline">
            <a:extLst>
              <a:ext uri="{FF2B5EF4-FFF2-40B4-BE49-F238E27FC236}">
                <a16:creationId xmlns:a16="http://schemas.microsoft.com/office/drawing/2014/main" id="{856DB12A-2A6D-4C35-1AE8-E840D679F0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3122961" y="2713770"/>
            <a:ext cx="871538" cy="594643"/>
          </a:xfrm>
          <a:prstGeom prst="rect">
            <a:avLst/>
          </a:prstGeom>
        </p:spPr>
      </p:pic>
      <p:sp>
        <p:nvSpPr>
          <p:cNvPr id="76" name="Rounded Rectangle 75">
            <a:extLst>
              <a:ext uri="{FF2B5EF4-FFF2-40B4-BE49-F238E27FC236}">
                <a16:creationId xmlns:a16="http://schemas.microsoft.com/office/drawing/2014/main" id="{981A4D8F-BCFB-1D9C-DAE2-DA838DF63324}"/>
              </a:ext>
            </a:extLst>
          </p:cNvPr>
          <p:cNvSpPr/>
          <p:nvPr/>
        </p:nvSpPr>
        <p:spPr>
          <a:xfrm>
            <a:off x="3988497" y="2575318"/>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Graphic 76" descr="Arrow Up outline">
            <a:extLst>
              <a:ext uri="{FF2B5EF4-FFF2-40B4-BE49-F238E27FC236}">
                <a16:creationId xmlns:a16="http://schemas.microsoft.com/office/drawing/2014/main" id="{1D61EA89-2AC8-8FB0-D0CA-426F49D6CC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5968458" y="2713768"/>
            <a:ext cx="871538" cy="594643"/>
          </a:xfrm>
          <a:prstGeom prst="rect">
            <a:avLst/>
          </a:prstGeom>
        </p:spPr>
      </p:pic>
      <p:sp>
        <p:nvSpPr>
          <p:cNvPr id="78" name="Rounded Rectangle 77">
            <a:extLst>
              <a:ext uri="{FF2B5EF4-FFF2-40B4-BE49-F238E27FC236}">
                <a16:creationId xmlns:a16="http://schemas.microsoft.com/office/drawing/2014/main" id="{265CF6F1-F30D-0F8F-319C-0E104C26D859}"/>
              </a:ext>
            </a:extLst>
          </p:cNvPr>
          <p:cNvSpPr/>
          <p:nvPr/>
        </p:nvSpPr>
        <p:spPr>
          <a:xfrm>
            <a:off x="6876857" y="2575320"/>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Graphic 78" descr="Arrow Up outline">
            <a:extLst>
              <a:ext uri="{FF2B5EF4-FFF2-40B4-BE49-F238E27FC236}">
                <a16:creationId xmlns:a16="http://schemas.microsoft.com/office/drawing/2014/main" id="{A5B296B5-1856-F872-034B-8384FE2459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8813955" y="2713768"/>
            <a:ext cx="871538" cy="594643"/>
          </a:xfrm>
          <a:prstGeom prst="rect">
            <a:avLst/>
          </a:prstGeom>
        </p:spPr>
      </p:pic>
      <p:sp>
        <p:nvSpPr>
          <p:cNvPr id="80" name="Rounded Rectangle 79">
            <a:extLst>
              <a:ext uri="{FF2B5EF4-FFF2-40B4-BE49-F238E27FC236}">
                <a16:creationId xmlns:a16="http://schemas.microsoft.com/office/drawing/2014/main" id="{57F6885E-6486-6476-5ED7-C69021A2AB61}"/>
              </a:ext>
            </a:extLst>
          </p:cNvPr>
          <p:cNvSpPr/>
          <p:nvPr/>
        </p:nvSpPr>
        <p:spPr>
          <a:xfrm>
            <a:off x="9679491" y="2575318"/>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Graphic 80" descr="Arrow Up outline">
            <a:extLst>
              <a:ext uri="{FF2B5EF4-FFF2-40B4-BE49-F238E27FC236}">
                <a16:creationId xmlns:a16="http://schemas.microsoft.com/office/drawing/2014/main" id="{E10993F7-A508-C798-1285-5E2E279892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1635919" y="3707341"/>
            <a:ext cx="871538" cy="594643"/>
          </a:xfrm>
          <a:prstGeom prst="rect">
            <a:avLst/>
          </a:prstGeom>
        </p:spPr>
      </p:pic>
      <p:sp>
        <p:nvSpPr>
          <p:cNvPr id="82" name="Rounded Rectangle 81">
            <a:extLst>
              <a:ext uri="{FF2B5EF4-FFF2-40B4-BE49-F238E27FC236}">
                <a16:creationId xmlns:a16="http://schemas.microsoft.com/office/drawing/2014/main" id="{509349EF-590F-2F58-00C5-6AE17E71AD7A}"/>
              </a:ext>
            </a:extLst>
          </p:cNvPr>
          <p:cNvSpPr/>
          <p:nvPr/>
        </p:nvSpPr>
        <p:spPr>
          <a:xfrm>
            <a:off x="1143001" y="4579136"/>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Graphic 82" descr="Arrow Up outline">
            <a:extLst>
              <a:ext uri="{FF2B5EF4-FFF2-40B4-BE49-F238E27FC236}">
                <a16:creationId xmlns:a16="http://schemas.microsoft.com/office/drawing/2014/main" id="{9E991832-EAFB-0A42-D09F-44E16F1EB5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3080099" y="4717584"/>
            <a:ext cx="871538" cy="594643"/>
          </a:xfrm>
          <a:prstGeom prst="rect">
            <a:avLst/>
          </a:prstGeom>
        </p:spPr>
      </p:pic>
      <p:sp>
        <p:nvSpPr>
          <p:cNvPr id="84" name="Rounded Rectangle 83">
            <a:extLst>
              <a:ext uri="{FF2B5EF4-FFF2-40B4-BE49-F238E27FC236}">
                <a16:creationId xmlns:a16="http://schemas.microsoft.com/office/drawing/2014/main" id="{4BD8A28D-C8AC-EC68-7006-A54C1FFF813E}"/>
              </a:ext>
            </a:extLst>
          </p:cNvPr>
          <p:cNvSpPr/>
          <p:nvPr/>
        </p:nvSpPr>
        <p:spPr>
          <a:xfrm>
            <a:off x="3945635" y="4579132"/>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Graphic 84" descr="Arrow Up outline">
            <a:extLst>
              <a:ext uri="{FF2B5EF4-FFF2-40B4-BE49-F238E27FC236}">
                <a16:creationId xmlns:a16="http://schemas.microsoft.com/office/drawing/2014/main" id="{010AE143-3F9A-D169-6883-4DA1FC0FED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925596" y="4717582"/>
            <a:ext cx="871538" cy="594643"/>
          </a:xfrm>
          <a:prstGeom prst="rect">
            <a:avLst/>
          </a:prstGeom>
        </p:spPr>
      </p:pic>
      <p:sp>
        <p:nvSpPr>
          <p:cNvPr id="86" name="Rounded Rectangle 85">
            <a:extLst>
              <a:ext uri="{FF2B5EF4-FFF2-40B4-BE49-F238E27FC236}">
                <a16:creationId xmlns:a16="http://schemas.microsoft.com/office/drawing/2014/main" id="{8FA5F982-E3CC-C95B-727D-E39162371862}"/>
              </a:ext>
            </a:extLst>
          </p:cNvPr>
          <p:cNvSpPr/>
          <p:nvPr/>
        </p:nvSpPr>
        <p:spPr>
          <a:xfrm>
            <a:off x="6833995" y="4579134"/>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7" name="Graphic 86" descr="Arrow Up outline">
            <a:extLst>
              <a:ext uri="{FF2B5EF4-FFF2-40B4-BE49-F238E27FC236}">
                <a16:creationId xmlns:a16="http://schemas.microsoft.com/office/drawing/2014/main" id="{7A5BEDD9-33C3-A566-D64C-EC967F11AC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8771093" y="4717582"/>
            <a:ext cx="871538" cy="594643"/>
          </a:xfrm>
          <a:prstGeom prst="rect">
            <a:avLst/>
          </a:prstGeom>
        </p:spPr>
      </p:pic>
      <p:sp>
        <p:nvSpPr>
          <p:cNvPr id="88" name="Rounded Rectangle 87">
            <a:extLst>
              <a:ext uri="{FF2B5EF4-FFF2-40B4-BE49-F238E27FC236}">
                <a16:creationId xmlns:a16="http://schemas.microsoft.com/office/drawing/2014/main" id="{432F47D3-B938-762C-B1DD-A832D0AE0935}"/>
              </a:ext>
            </a:extLst>
          </p:cNvPr>
          <p:cNvSpPr/>
          <p:nvPr/>
        </p:nvSpPr>
        <p:spPr>
          <a:xfrm>
            <a:off x="9636629" y="4579132"/>
            <a:ext cx="1943100" cy="871537"/>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0" name="Graphic 89" descr="Arrow Up outline">
            <a:extLst>
              <a:ext uri="{FF2B5EF4-FFF2-40B4-BE49-F238E27FC236}">
                <a16:creationId xmlns:a16="http://schemas.microsoft.com/office/drawing/2014/main" id="{E69DE29E-6A00-AF48-564A-A30E07F405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10287599" y="5470388"/>
            <a:ext cx="871538" cy="594643"/>
          </a:xfrm>
          <a:prstGeom prst="rect">
            <a:avLst/>
          </a:prstGeom>
        </p:spPr>
      </p:pic>
      <p:pic>
        <p:nvPicPr>
          <p:cNvPr id="94" name="Picture 93">
            <a:extLst>
              <a:ext uri="{FF2B5EF4-FFF2-40B4-BE49-F238E27FC236}">
                <a16:creationId xmlns:a16="http://schemas.microsoft.com/office/drawing/2014/main" id="{73CE676C-1AFE-C92F-9FB4-A370D87C07FA}"/>
              </a:ext>
            </a:extLst>
          </p:cNvPr>
          <p:cNvPicPr>
            <a:picLocks noChangeAspect="1"/>
          </p:cNvPicPr>
          <p:nvPr/>
        </p:nvPicPr>
        <p:blipFill>
          <a:blip r:embed="rId4">
            <a:lum bright="70000" contrast="-70000"/>
          </a:blip>
          <a:stretch>
            <a:fillRect/>
          </a:stretch>
        </p:blipFill>
        <p:spPr>
          <a:xfrm flipH="1">
            <a:off x="1185863" y="702728"/>
            <a:ext cx="594643" cy="594643"/>
          </a:xfrm>
          <a:prstGeom prst="rect">
            <a:avLst/>
          </a:prstGeom>
        </p:spPr>
      </p:pic>
      <p:sp>
        <p:nvSpPr>
          <p:cNvPr id="91" name="Rounded Rectangle 90">
            <a:extLst>
              <a:ext uri="{FF2B5EF4-FFF2-40B4-BE49-F238E27FC236}">
                <a16:creationId xmlns:a16="http://schemas.microsoft.com/office/drawing/2014/main" id="{F8FE5659-1AB2-6CF4-0E5C-9D386805A760}"/>
              </a:ext>
            </a:extLst>
          </p:cNvPr>
          <p:cNvSpPr/>
          <p:nvPr/>
        </p:nvSpPr>
        <p:spPr>
          <a:xfrm>
            <a:off x="1185863" y="6065037"/>
            <a:ext cx="10436728" cy="435769"/>
          </a:xfrm>
          <a:prstGeom prst="roundRect">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Business Insights -&gt; Deployment and Monitoring  </a:t>
            </a:r>
          </a:p>
        </p:txBody>
      </p:sp>
      <p:sp>
        <p:nvSpPr>
          <p:cNvPr id="95" name="TextBox 94">
            <a:extLst>
              <a:ext uri="{FF2B5EF4-FFF2-40B4-BE49-F238E27FC236}">
                <a16:creationId xmlns:a16="http://schemas.microsoft.com/office/drawing/2014/main" id="{AF6787E0-5881-9CA3-C45B-1576C9CF63A8}"/>
              </a:ext>
            </a:extLst>
          </p:cNvPr>
          <p:cNvSpPr txBox="1"/>
          <p:nvPr/>
        </p:nvSpPr>
        <p:spPr>
          <a:xfrm>
            <a:off x="1838068" y="740228"/>
            <a:ext cx="1134143" cy="646331"/>
          </a:xfrm>
          <a:prstGeom prst="rect">
            <a:avLst/>
          </a:prstGeom>
          <a:noFill/>
        </p:spPr>
        <p:txBody>
          <a:bodyPr wrap="square" rtlCol="0">
            <a:spAutoFit/>
          </a:bodyPr>
          <a:lstStyle/>
          <a:p>
            <a:r>
              <a:rPr lang="en-US">
                <a:solidFill>
                  <a:schemeClr val="bg1"/>
                </a:solidFill>
              </a:rPr>
              <a:t>Data Ingestion</a:t>
            </a:r>
          </a:p>
        </p:txBody>
      </p:sp>
      <p:pic>
        <p:nvPicPr>
          <p:cNvPr id="96" name="Picture 95">
            <a:extLst>
              <a:ext uri="{FF2B5EF4-FFF2-40B4-BE49-F238E27FC236}">
                <a16:creationId xmlns:a16="http://schemas.microsoft.com/office/drawing/2014/main" id="{C34D635E-A4C7-F08A-4929-06A62FEDC290}"/>
              </a:ext>
            </a:extLst>
          </p:cNvPr>
          <p:cNvPicPr>
            <a:picLocks noChangeAspect="1"/>
          </p:cNvPicPr>
          <p:nvPr/>
        </p:nvPicPr>
        <p:blipFill>
          <a:blip r:embed="rId5">
            <a:lum bright="70000" contrast="-70000"/>
          </a:blip>
          <a:stretch>
            <a:fillRect/>
          </a:stretch>
        </p:blipFill>
        <p:spPr>
          <a:xfrm>
            <a:off x="3938062" y="800675"/>
            <a:ext cx="594360" cy="594360"/>
          </a:xfrm>
          <a:prstGeom prst="rect">
            <a:avLst/>
          </a:prstGeom>
        </p:spPr>
      </p:pic>
      <p:sp>
        <p:nvSpPr>
          <p:cNvPr id="97" name="TextBox 96">
            <a:extLst>
              <a:ext uri="{FF2B5EF4-FFF2-40B4-BE49-F238E27FC236}">
                <a16:creationId xmlns:a16="http://schemas.microsoft.com/office/drawing/2014/main" id="{8B07C0AD-3A6B-E445-F058-0CD99794FB23}"/>
              </a:ext>
            </a:extLst>
          </p:cNvPr>
          <p:cNvSpPr txBox="1"/>
          <p:nvPr/>
        </p:nvSpPr>
        <p:spPr>
          <a:xfrm>
            <a:off x="4414621" y="754605"/>
            <a:ext cx="1606558" cy="646331"/>
          </a:xfrm>
          <a:prstGeom prst="rect">
            <a:avLst/>
          </a:prstGeom>
          <a:noFill/>
        </p:spPr>
        <p:txBody>
          <a:bodyPr wrap="square" rtlCol="0">
            <a:spAutoFit/>
          </a:bodyPr>
          <a:lstStyle/>
          <a:p>
            <a:r>
              <a:rPr lang="en-US">
                <a:solidFill>
                  <a:schemeClr val="bg1"/>
                </a:solidFill>
              </a:rPr>
              <a:t>Data Preprocessing</a:t>
            </a:r>
          </a:p>
        </p:txBody>
      </p:sp>
      <p:pic>
        <p:nvPicPr>
          <p:cNvPr id="98" name="Picture 97">
            <a:extLst>
              <a:ext uri="{FF2B5EF4-FFF2-40B4-BE49-F238E27FC236}">
                <a16:creationId xmlns:a16="http://schemas.microsoft.com/office/drawing/2014/main" id="{BCF94E05-FB52-3AE4-E06D-8B959116DF42}"/>
              </a:ext>
            </a:extLst>
          </p:cNvPr>
          <p:cNvPicPr>
            <a:picLocks noChangeAspect="1"/>
          </p:cNvPicPr>
          <p:nvPr/>
        </p:nvPicPr>
        <p:blipFill>
          <a:blip r:embed="rId6">
            <a:lum bright="70000" contrast="-70000"/>
          </a:blip>
          <a:stretch>
            <a:fillRect/>
          </a:stretch>
        </p:blipFill>
        <p:spPr>
          <a:xfrm>
            <a:off x="6916004" y="703011"/>
            <a:ext cx="594360" cy="594360"/>
          </a:xfrm>
          <a:prstGeom prst="rect">
            <a:avLst/>
          </a:prstGeom>
        </p:spPr>
      </p:pic>
      <p:sp>
        <p:nvSpPr>
          <p:cNvPr id="99" name="TextBox 98">
            <a:extLst>
              <a:ext uri="{FF2B5EF4-FFF2-40B4-BE49-F238E27FC236}">
                <a16:creationId xmlns:a16="http://schemas.microsoft.com/office/drawing/2014/main" id="{BE37E6AD-CF21-D03B-8FEC-D2AE26A48151}"/>
              </a:ext>
            </a:extLst>
          </p:cNvPr>
          <p:cNvSpPr txBox="1"/>
          <p:nvPr/>
        </p:nvSpPr>
        <p:spPr>
          <a:xfrm>
            <a:off x="7617410" y="722718"/>
            <a:ext cx="1606558" cy="369332"/>
          </a:xfrm>
          <a:prstGeom prst="rect">
            <a:avLst/>
          </a:prstGeom>
          <a:noFill/>
        </p:spPr>
        <p:txBody>
          <a:bodyPr wrap="square" rtlCol="0">
            <a:spAutoFit/>
          </a:bodyPr>
          <a:lstStyle/>
          <a:p>
            <a:r>
              <a:rPr lang="en-US">
                <a:solidFill>
                  <a:schemeClr val="bg1"/>
                </a:solidFill>
              </a:rPr>
              <a:t>EDA</a:t>
            </a:r>
          </a:p>
        </p:txBody>
      </p:sp>
      <p:pic>
        <p:nvPicPr>
          <p:cNvPr id="100" name="Picture 99">
            <a:extLst>
              <a:ext uri="{FF2B5EF4-FFF2-40B4-BE49-F238E27FC236}">
                <a16:creationId xmlns:a16="http://schemas.microsoft.com/office/drawing/2014/main" id="{4FBD92AD-3336-738E-0B43-4ABFE8C5B890}"/>
              </a:ext>
            </a:extLst>
          </p:cNvPr>
          <p:cNvPicPr>
            <a:picLocks noChangeAspect="1"/>
          </p:cNvPicPr>
          <p:nvPr/>
        </p:nvPicPr>
        <p:blipFill>
          <a:blip r:embed="rId7">
            <a:lum bright="70000" contrast="-70000"/>
          </a:blip>
          <a:stretch>
            <a:fillRect/>
          </a:stretch>
        </p:blipFill>
        <p:spPr>
          <a:xfrm>
            <a:off x="9669200" y="661318"/>
            <a:ext cx="594360" cy="594360"/>
          </a:xfrm>
          <a:prstGeom prst="rect">
            <a:avLst/>
          </a:prstGeom>
        </p:spPr>
      </p:pic>
      <p:sp>
        <p:nvSpPr>
          <p:cNvPr id="102" name="TextBox 101">
            <a:extLst>
              <a:ext uri="{FF2B5EF4-FFF2-40B4-BE49-F238E27FC236}">
                <a16:creationId xmlns:a16="http://schemas.microsoft.com/office/drawing/2014/main" id="{2EAD3405-5FF3-2D63-4E7B-FE5256AFCF9C}"/>
              </a:ext>
            </a:extLst>
          </p:cNvPr>
          <p:cNvSpPr txBox="1"/>
          <p:nvPr/>
        </p:nvSpPr>
        <p:spPr>
          <a:xfrm>
            <a:off x="10244735" y="734280"/>
            <a:ext cx="1606558" cy="646331"/>
          </a:xfrm>
          <a:prstGeom prst="rect">
            <a:avLst/>
          </a:prstGeom>
          <a:noFill/>
        </p:spPr>
        <p:txBody>
          <a:bodyPr wrap="square" rtlCol="0">
            <a:spAutoFit/>
          </a:bodyPr>
          <a:lstStyle/>
          <a:p>
            <a:r>
              <a:rPr lang="en-US">
                <a:solidFill>
                  <a:schemeClr val="bg1"/>
                </a:solidFill>
              </a:rPr>
              <a:t>Feature Engineering</a:t>
            </a:r>
          </a:p>
        </p:txBody>
      </p:sp>
      <p:pic>
        <p:nvPicPr>
          <p:cNvPr id="103" name="Picture 102">
            <a:extLst>
              <a:ext uri="{FF2B5EF4-FFF2-40B4-BE49-F238E27FC236}">
                <a16:creationId xmlns:a16="http://schemas.microsoft.com/office/drawing/2014/main" id="{5F8D8EA9-1595-BBB3-744B-5E5E05C57550}"/>
              </a:ext>
            </a:extLst>
          </p:cNvPr>
          <p:cNvPicPr>
            <a:picLocks noChangeAspect="1"/>
          </p:cNvPicPr>
          <p:nvPr/>
        </p:nvPicPr>
        <p:blipFill>
          <a:blip r:embed="rId8">
            <a:lum bright="70000" contrast="-70000"/>
          </a:blip>
          <a:stretch>
            <a:fillRect/>
          </a:stretch>
        </p:blipFill>
        <p:spPr>
          <a:xfrm>
            <a:off x="9812220" y="2696029"/>
            <a:ext cx="594360" cy="594360"/>
          </a:xfrm>
          <a:prstGeom prst="rect">
            <a:avLst/>
          </a:prstGeom>
        </p:spPr>
      </p:pic>
      <p:sp>
        <p:nvSpPr>
          <p:cNvPr id="104" name="TextBox 103">
            <a:extLst>
              <a:ext uri="{FF2B5EF4-FFF2-40B4-BE49-F238E27FC236}">
                <a16:creationId xmlns:a16="http://schemas.microsoft.com/office/drawing/2014/main" id="{4CFC9254-0CBB-B1AE-2918-0F0E24C87872}"/>
              </a:ext>
            </a:extLst>
          </p:cNvPr>
          <p:cNvSpPr txBox="1"/>
          <p:nvPr/>
        </p:nvSpPr>
        <p:spPr>
          <a:xfrm>
            <a:off x="10399146" y="2670043"/>
            <a:ext cx="1606558" cy="646331"/>
          </a:xfrm>
          <a:prstGeom prst="rect">
            <a:avLst/>
          </a:prstGeom>
          <a:noFill/>
        </p:spPr>
        <p:txBody>
          <a:bodyPr wrap="square" rtlCol="0">
            <a:spAutoFit/>
          </a:bodyPr>
          <a:lstStyle/>
          <a:p>
            <a:r>
              <a:rPr lang="en-US">
                <a:solidFill>
                  <a:schemeClr val="bg1"/>
                </a:solidFill>
              </a:rPr>
              <a:t>Outlier Detection</a:t>
            </a:r>
          </a:p>
        </p:txBody>
      </p:sp>
      <p:pic>
        <p:nvPicPr>
          <p:cNvPr id="105" name="Picture 104">
            <a:extLst>
              <a:ext uri="{FF2B5EF4-FFF2-40B4-BE49-F238E27FC236}">
                <a16:creationId xmlns:a16="http://schemas.microsoft.com/office/drawing/2014/main" id="{0714BAD3-B710-5216-77ED-278B7401D808}"/>
              </a:ext>
            </a:extLst>
          </p:cNvPr>
          <p:cNvPicPr>
            <a:picLocks noChangeAspect="1"/>
          </p:cNvPicPr>
          <p:nvPr/>
        </p:nvPicPr>
        <p:blipFill>
          <a:blip r:embed="rId9">
            <a:lum bright="70000" contrast="-70000"/>
          </a:blip>
          <a:stretch>
            <a:fillRect/>
          </a:stretch>
        </p:blipFill>
        <p:spPr>
          <a:xfrm>
            <a:off x="6935435" y="2704017"/>
            <a:ext cx="594360" cy="594360"/>
          </a:xfrm>
          <a:prstGeom prst="rect">
            <a:avLst/>
          </a:prstGeom>
        </p:spPr>
      </p:pic>
      <p:sp>
        <p:nvSpPr>
          <p:cNvPr id="106" name="TextBox 105">
            <a:extLst>
              <a:ext uri="{FF2B5EF4-FFF2-40B4-BE49-F238E27FC236}">
                <a16:creationId xmlns:a16="http://schemas.microsoft.com/office/drawing/2014/main" id="{08F47123-8AA5-6E63-F04B-D1E50D8B12F3}"/>
              </a:ext>
            </a:extLst>
          </p:cNvPr>
          <p:cNvSpPr txBox="1"/>
          <p:nvPr/>
        </p:nvSpPr>
        <p:spPr>
          <a:xfrm>
            <a:off x="7325972" y="2548155"/>
            <a:ext cx="1583566" cy="923330"/>
          </a:xfrm>
          <a:prstGeom prst="rect">
            <a:avLst/>
          </a:prstGeom>
          <a:noFill/>
        </p:spPr>
        <p:txBody>
          <a:bodyPr wrap="square" rtlCol="0">
            <a:spAutoFit/>
          </a:bodyPr>
          <a:lstStyle/>
          <a:p>
            <a:r>
              <a:rPr lang="en-US">
                <a:solidFill>
                  <a:schemeClr val="bg1"/>
                </a:solidFill>
              </a:rPr>
              <a:t>Data Cleaning &amp; Normalization</a:t>
            </a:r>
          </a:p>
        </p:txBody>
      </p:sp>
      <p:pic>
        <p:nvPicPr>
          <p:cNvPr id="107" name="Picture 106">
            <a:extLst>
              <a:ext uri="{FF2B5EF4-FFF2-40B4-BE49-F238E27FC236}">
                <a16:creationId xmlns:a16="http://schemas.microsoft.com/office/drawing/2014/main" id="{E2438353-3A0E-2501-E711-0457AC0AF585}"/>
              </a:ext>
            </a:extLst>
          </p:cNvPr>
          <p:cNvPicPr>
            <a:picLocks noChangeAspect="1"/>
          </p:cNvPicPr>
          <p:nvPr/>
        </p:nvPicPr>
        <p:blipFill>
          <a:blip r:embed="rId10">
            <a:lum bright="70000" contrast="-70000"/>
          </a:blip>
          <a:stretch>
            <a:fillRect/>
          </a:stretch>
        </p:blipFill>
        <p:spPr>
          <a:xfrm>
            <a:off x="3981347" y="2722014"/>
            <a:ext cx="594360" cy="594360"/>
          </a:xfrm>
          <a:prstGeom prst="rect">
            <a:avLst/>
          </a:prstGeom>
        </p:spPr>
      </p:pic>
      <p:sp>
        <p:nvSpPr>
          <p:cNvPr id="109" name="TextBox 108">
            <a:extLst>
              <a:ext uri="{FF2B5EF4-FFF2-40B4-BE49-F238E27FC236}">
                <a16:creationId xmlns:a16="http://schemas.microsoft.com/office/drawing/2014/main" id="{EF60440B-1357-9983-37D7-DE69F389ECE7}"/>
              </a:ext>
            </a:extLst>
          </p:cNvPr>
          <p:cNvSpPr txBox="1"/>
          <p:nvPr/>
        </p:nvSpPr>
        <p:spPr>
          <a:xfrm>
            <a:off x="4566202" y="2670043"/>
            <a:ext cx="1583566" cy="646331"/>
          </a:xfrm>
          <a:prstGeom prst="rect">
            <a:avLst/>
          </a:prstGeom>
          <a:noFill/>
        </p:spPr>
        <p:txBody>
          <a:bodyPr wrap="square" rtlCol="0">
            <a:spAutoFit/>
          </a:bodyPr>
          <a:lstStyle/>
          <a:p>
            <a:r>
              <a:rPr lang="en-US">
                <a:solidFill>
                  <a:schemeClr val="bg1"/>
                </a:solidFill>
              </a:rPr>
              <a:t>Train &amp; Test Split</a:t>
            </a:r>
          </a:p>
        </p:txBody>
      </p:sp>
      <p:pic>
        <p:nvPicPr>
          <p:cNvPr id="110" name="Picture 109">
            <a:extLst>
              <a:ext uri="{FF2B5EF4-FFF2-40B4-BE49-F238E27FC236}">
                <a16:creationId xmlns:a16="http://schemas.microsoft.com/office/drawing/2014/main" id="{E5261FF7-06AC-87B8-8E20-D852ECF8AB82}"/>
              </a:ext>
            </a:extLst>
          </p:cNvPr>
          <p:cNvPicPr>
            <a:picLocks noChangeAspect="1"/>
          </p:cNvPicPr>
          <p:nvPr/>
        </p:nvPicPr>
        <p:blipFill>
          <a:blip r:embed="rId11">
            <a:lum bright="70000" contrast="-70000"/>
          </a:blip>
          <a:stretch>
            <a:fillRect/>
          </a:stretch>
        </p:blipFill>
        <p:spPr>
          <a:xfrm>
            <a:off x="1229809" y="2722014"/>
            <a:ext cx="594360" cy="594360"/>
          </a:xfrm>
          <a:prstGeom prst="rect">
            <a:avLst/>
          </a:prstGeom>
        </p:spPr>
      </p:pic>
      <p:sp>
        <p:nvSpPr>
          <p:cNvPr id="111" name="TextBox 110">
            <a:extLst>
              <a:ext uri="{FF2B5EF4-FFF2-40B4-BE49-F238E27FC236}">
                <a16:creationId xmlns:a16="http://schemas.microsoft.com/office/drawing/2014/main" id="{A11BF0BC-A684-A92B-B372-62812E92598B}"/>
              </a:ext>
            </a:extLst>
          </p:cNvPr>
          <p:cNvSpPr txBox="1"/>
          <p:nvPr/>
        </p:nvSpPr>
        <p:spPr>
          <a:xfrm>
            <a:off x="1778025" y="2696028"/>
            <a:ext cx="1583566" cy="646331"/>
          </a:xfrm>
          <a:prstGeom prst="rect">
            <a:avLst/>
          </a:prstGeom>
          <a:noFill/>
        </p:spPr>
        <p:txBody>
          <a:bodyPr wrap="square" rtlCol="0">
            <a:spAutoFit/>
          </a:bodyPr>
          <a:lstStyle/>
          <a:p>
            <a:r>
              <a:rPr lang="en-US">
                <a:solidFill>
                  <a:schemeClr val="bg1"/>
                </a:solidFill>
              </a:rPr>
              <a:t>Feature Selection</a:t>
            </a:r>
          </a:p>
        </p:txBody>
      </p:sp>
      <p:pic>
        <p:nvPicPr>
          <p:cNvPr id="112" name="Picture 111">
            <a:extLst>
              <a:ext uri="{FF2B5EF4-FFF2-40B4-BE49-F238E27FC236}">
                <a16:creationId xmlns:a16="http://schemas.microsoft.com/office/drawing/2014/main" id="{D38FD757-7174-0DCA-F9DF-5E6466742B0E}"/>
              </a:ext>
            </a:extLst>
          </p:cNvPr>
          <p:cNvPicPr>
            <a:picLocks noChangeAspect="1"/>
          </p:cNvPicPr>
          <p:nvPr/>
        </p:nvPicPr>
        <p:blipFill>
          <a:blip r:embed="rId12">
            <a:lum bright="70000" contrast="-70000"/>
          </a:blip>
          <a:stretch>
            <a:fillRect/>
          </a:stretch>
        </p:blipFill>
        <p:spPr>
          <a:xfrm>
            <a:off x="1159572" y="4671279"/>
            <a:ext cx="594360" cy="594360"/>
          </a:xfrm>
          <a:prstGeom prst="rect">
            <a:avLst/>
          </a:prstGeom>
        </p:spPr>
      </p:pic>
      <p:sp>
        <p:nvSpPr>
          <p:cNvPr id="113" name="TextBox 112">
            <a:extLst>
              <a:ext uri="{FF2B5EF4-FFF2-40B4-BE49-F238E27FC236}">
                <a16:creationId xmlns:a16="http://schemas.microsoft.com/office/drawing/2014/main" id="{5792A0F9-D3BC-0472-1038-9F3495896BDB}"/>
              </a:ext>
            </a:extLst>
          </p:cNvPr>
          <p:cNvSpPr txBox="1"/>
          <p:nvPr/>
        </p:nvSpPr>
        <p:spPr>
          <a:xfrm>
            <a:off x="1793316" y="4671279"/>
            <a:ext cx="1583566" cy="646331"/>
          </a:xfrm>
          <a:prstGeom prst="rect">
            <a:avLst/>
          </a:prstGeom>
          <a:noFill/>
        </p:spPr>
        <p:txBody>
          <a:bodyPr wrap="square" rtlCol="0">
            <a:spAutoFit/>
          </a:bodyPr>
          <a:lstStyle/>
          <a:p>
            <a:r>
              <a:rPr lang="en-US">
                <a:solidFill>
                  <a:schemeClr val="bg1"/>
                </a:solidFill>
              </a:rPr>
              <a:t>Model Selection</a:t>
            </a:r>
          </a:p>
        </p:txBody>
      </p:sp>
      <p:sp>
        <p:nvSpPr>
          <p:cNvPr id="114" name="TextBox 113">
            <a:extLst>
              <a:ext uri="{FF2B5EF4-FFF2-40B4-BE49-F238E27FC236}">
                <a16:creationId xmlns:a16="http://schemas.microsoft.com/office/drawing/2014/main" id="{5BD9E290-EC9A-221C-FD80-395215168279}"/>
              </a:ext>
            </a:extLst>
          </p:cNvPr>
          <p:cNvSpPr txBox="1"/>
          <p:nvPr/>
        </p:nvSpPr>
        <p:spPr>
          <a:xfrm>
            <a:off x="4509936" y="4506794"/>
            <a:ext cx="1583566" cy="923330"/>
          </a:xfrm>
          <a:prstGeom prst="rect">
            <a:avLst/>
          </a:prstGeom>
          <a:noFill/>
        </p:spPr>
        <p:txBody>
          <a:bodyPr wrap="square" rtlCol="0">
            <a:spAutoFit/>
          </a:bodyPr>
          <a:lstStyle/>
          <a:p>
            <a:r>
              <a:rPr lang="en-US">
                <a:solidFill>
                  <a:schemeClr val="bg1"/>
                </a:solidFill>
              </a:rPr>
              <a:t>Model Evaluation &amp; Validation</a:t>
            </a:r>
          </a:p>
        </p:txBody>
      </p:sp>
      <p:pic>
        <p:nvPicPr>
          <p:cNvPr id="115" name="Picture 114">
            <a:extLst>
              <a:ext uri="{FF2B5EF4-FFF2-40B4-BE49-F238E27FC236}">
                <a16:creationId xmlns:a16="http://schemas.microsoft.com/office/drawing/2014/main" id="{BC2E7EFC-7F2E-C6F0-F93A-15816DF5D91C}"/>
              </a:ext>
            </a:extLst>
          </p:cNvPr>
          <p:cNvPicPr>
            <a:picLocks noChangeAspect="1"/>
          </p:cNvPicPr>
          <p:nvPr/>
        </p:nvPicPr>
        <p:blipFill>
          <a:blip r:embed="rId13">
            <a:lum bright="70000" contrast="-70000"/>
          </a:blip>
          <a:stretch>
            <a:fillRect/>
          </a:stretch>
        </p:blipFill>
        <p:spPr>
          <a:xfrm>
            <a:off x="4014627" y="4645292"/>
            <a:ext cx="594360" cy="594360"/>
          </a:xfrm>
          <a:prstGeom prst="rect">
            <a:avLst/>
          </a:prstGeom>
        </p:spPr>
      </p:pic>
      <p:pic>
        <p:nvPicPr>
          <p:cNvPr id="118" name="Picture 117">
            <a:extLst>
              <a:ext uri="{FF2B5EF4-FFF2-40B4-BE49-F238E27FC236}">
                <a16:creationId xmlns:a16="http://schemas.microsoft.com/office/drawing/2014/main" id="{5FF62D26-F8A8-61FF-3D3D-034B938149C0}"/>
              </a:ext>
            </a:extLst>
          </p:cNvPr>
          <p:cNvPicPr>
            <a:picLocks noChangeAspect="1"/>
          </p:cNvPicPr>
          <p:nvPr/>
        </p:nvPicPr>
        <p:blipFill>
          <a:blip r:embed="rId8">
            <a:lum bright="70000" contrast="-70000"/>
          </a:blip>
          <a:stretch>
            <a:fillRect/>
          </a:stretch>
        </p:blipFill>
        <p:spPr>
          <a:xfrm>
            <a:off x="6848881" y="4697264"/>
            <a:ext cx="594360" cy="594360"/>
          </a:xfrm>
          <a:prstGeom prst="rect">
            <a:avLst/>
          </a:prstGeom>
        </p:spPr>
      </p:pic>
      <p:sp>
        <p:nvSpPr>
          <p:cNvPr id="119" name="TextBox 118">
            <a:extLst>
              <a:ext uri="{FF2B5EF4-FFF2-40B4-BE49-F238E27FC236}">
                <a16:creationId xmlns:a16="http://schemas.microsoft.com/office/drawing/2014/main" id="{BC2DECAD-BF3F-19C7-99DA-F4D6EED609C0}"/>
              </a:ext>
            </a:extLst>
          </p:cNvPr>
          <p:cNvSpPr txBox="1"/>
          <p:nvPr/>
        </p:nvSpPr>
        <p:spPr>
          <a:xfrm>
            <a:off x="7302248" y="4575199"/>
            <a:ext cx="1606558"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solidFill>
                  <a:schemeClr val="bg1"/>
                </a:solidFill>
              </a:rPr>
              <a:t>Outlier Detection &amp; performance</a:t>
            </a: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pic>
        <p:nvPicPr>
          <p:cNvPr id="120" name="Picture 119">
            <a:extLst>
              <a:ext uri="{FF2B5EF4-FFF2-40B4-BE49-F238E27FC236}">
                <a16:creationId xmlns:a16="http://schemas.microsoft.com/office/drawing/2014/main" id="{B3225A5A-69E1-429C-9F93-592B43C8E45F}"/>
              </a:ext>
            </a:extLst>
          </p:cNvPr>
          <p:cNvPicPr>
            <a:picLocks noChangeAspect="1"/>
          </p:cNvPicPr>
          <p:nvPr/>
        </p:nvPicPr>
        <p:blipFill>
          <a:blip r:embed="rId14">
            <a:lum bright="70000" contrast="-70000"/>
          </a:blip>
          <a:stretch>
            <a:fillRect/>
          </a:stretch>
        </p:blipFill>
        <p:spPr>
          <a:xfrm>
            <a:off x="9653401" y="4697264"/>
            <a:ext cx="594360" cy="594360"/>
          </a:xfrm>
          <a:prstGeom prst="rect">
            <a:avLst/>
          </a:prstGeom>
        </p:spPr>
      </p:pic>
      <p:sp>
        <p:nvSpPr>
          <p:cNvPr id="121" name="TextBox 120">
            <a:extLst>
              <a:ext uri="{FF2B5EF4-FFF2-40B4-BE49-F238E27FC236}">
                <a16:creationId xmlns:a16="http://schemas.microsoft.com/office/drawing/2014/main" id="{76095AD1-DECF-AD91-A535-3C8625C31DDA}"/>
              </a:ext>
            </a:extLst>
          </p:cNvPr>
          <p:cNvSpPr txBox="1"/>
          <p:nvPr/>
        </p:nvSpPr>
        <p:spPr>
          <a:xfrm>
            <a:off x="10092353" y="4521677"/>
            <a:ext cx="1606558"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rPr>
              <a:t>Model Comparison &amp; Interpretation </a:t>
            </a:r>
          </a:p>
        </p:txBody>
      </p:sp>
      <p:pic>
        <p:nvPicPr>
          <p:cNvPr id="122" name="Picture 121">
            <a:extLst>
              <a:ext uri="{FF2B5EF4-FFF2-40B4-BE49-F238E27FC236}">
                <a16:creationId xmlns:a16="http://schemas.microsoft.com/office/drawing/2014/main" id="{BA69987E-6B79-47BA-1464-7CBE99818DEC}"/>
              </a:ext>
            </a:extLst>
          </p:cNvPr>
          <p:cNvPicPr>
            <a:picLocks noChangeAspect="1"/>
          </p:cNvPicPr>
          <p:nvPr/>
        </p:nvPicPr>
        <p:blipFill>
          <a:blip r:embed="rId15"/>
          <a:stretch>
            <a:fillRect/>
          </a:stretch>
        </p:blipFill>
        <p:spPr>
          <a:xfrm>
            <a:off x="3086101" y="6068602"/>
            <a:ext cx="435769" cy="435769"/>
          </a:xfrm>
          <a:prstGeom prst="rect">
            <a:avLst/>
          </a:prstGeom>
        </p:spPr>
      </p:pic>
    </p:spTree>
    <p:extLst>
      <p:ext uri="{BB962C8B-B14F-4D97-AF65-F5344CB8AC3E}">
        <p14:creationId xmlns:p14="http://schemas.microsoft.com/office/powerpoint/2010/main" val="198095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39081-497F-0A20-541C-06EBB94A26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D0BAE8-3EAB-CF9B-8232-03DA32A634E9}"/>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12BCE704-68D6-B331-8324-36129AE20B5E}"/>
              </a:ext>
            </a:extLst>
          </p:cNvPr>
          <p:cNvSpPr txBox="1">
            <a:spLocks/>
          </p:cNvSpPr>
          <p:nvPr/>
        </p:nvSpPr>
        <p:spPr>
          <a:xfrm>
            <a:off x="684325" y="76842"/>
            <a:ext cx="7215076"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Dataset Overview</a:t>
            </a:r>
          </a:p>
        </p:txBody>
      </p:sp>
      <p:graphicFrame>
        <p:nvGraphicFramePr>
          <p:cNvPr id="4" name="Table 3">
            <a:extLst>
              <a:ext uri="{FF2B5EF4-FFF2-40B4-BE49-F238E27FC236}">
                <a16:creationId xmlns:a16="http://schemas.microsoft.com/office/drawing/2014/main" id="{1E6FB007-75E3-A0BE-A08E-3801C424C3C3}"/>
              </a:ext>
            </a:extLst>
          </p:cNvPr>
          <p:cNvGraphicFramePr>
            <a:graphicFrameLocks noGrp="1"/>
          </p:cNvGraphicFramePr>
          <p:nvPr>
            <p:extLst>
              <p:ext uri="{D42A27DB-BD31-4B8C-83A1-F6EECF244321}">
                <p14:modId xmlns:p14="http://schemas.microsoft.com/office/powerpoint/2010/main" val="2874728641"/>
              </p:ext>
            </p:extLst>
          </p:nvPr>
        </p:nvGraphicFramePr>
        <p:xfrm>
          <a:off x="684324" y="601459"/>
          <a:ext cx="7008814" cy="6009592"/>
        </p:xfrm>
        <a:graphic>
          <a:graphicData uri="http://schemas.openxmlformats.org/drawingml/2006/table">
            <a:tbl>
              <a:tblPr firstRow="1" bandRow="1">
                <a:tableStyleId>{0E3FDE45-AF77-4B5C-9715-49D594BDF05E}</a:tableStyleId>
              </a:tblPr>
              <a:tblGrid>
                <a:gridCol w="2132014">
                  <a:extLst>
                    <a:ext uri="{9D8B030D-6E8A-4147-A177-3AD203B41FA5}">
                      <a16:colId xmlns:a16="http://schemas.microsoft.com/office/drawing/2014/main" val="1649559582"/>
                    </a:ext>
                  </a:extLst>
                </a:gridCol>
                <a:gridCol w="4876800">
                  <a:extLst>
                    <a:ext uri="{9D8B030D-6E8A-4147-A177-3AD203B41FA5}">
                      <a16:colId xmlns:a16="http://schemas.microsoft.com/office/drawing/2014/main" val="1146675991"/>
                    </a:ext>
                  </a:extLst>
                </a:gridCol>
              </a:tblGrid>
              <a:tr h="589794">
                <a:tc>
                  <a:txBody>
                    <a:bodyPr/>
                    <a:lstStyle/>
                    <a:p>
                      <a:r>
                        <a:rPr lang="en-US"/>
                        <a:t>Source</a:t>
                      </a:r>
                    </a:p>
                  </a:txBody>
                  <a:tcPr/>
                </a:tc>
                <a:tc>
                  <a:txBody>
                    <a:bodyPr/>
                    <a:lstStyle/>
                    <a:p>
                      <a:r>
                        <a:rPr lang="en-US"/>
                        <a:t>A Kaggle dataset of UK ecommerce platform</a:t>
                      </a:r>
                    </a:p>
                  </a:txBody>
                  <a:tcPr/>
                </a:tc>
                <a:extLst>
                  <a:ext uri="{0D108BD9-81ED-4DB2-BD59-A6C34878D82A}">
                    <a16:rowId xmlns:a16="http://schemas.microsoft.com/office/drawing/2014/main" val="4243164956"/>
                  </a:ext>
                </a:extLst>
              </a:tr>
              <a:tr h="341706">
                <a:tc>
                  <a:txBody>
                    <a:bodyPr/>
                    <a:lstStyle/>
                    <a:p>
                      <a:r>
                        <a:rPr lang="en-US"/>
                        <a:t>Rows</a:t>
                      </a:r>
                    </a:p>
                  </a:txBody>
                  <a:tcPr/>
                </a:tc>
                <a:tc>
                  <a:txBody>
                    <a:bodyPr/>
                    <a:lstStyle/>
                    <a:p>
                      <a:r>
                        <a:rPr lang="en-US" sz="1800" b="0" u="none" strike="noStrike" kern="1200">
                          <a:solidFill>
                            <a:schemeClr val="dk1"/>
                          </a:solidFill>
                          <a:effectLst/>
                        </a:rPr>
                        <a:t>112,610</a:t>
                      </a:r>
                      <a:endParaRPr lang="en-US"/>
                    </a:p>
                  </a:txBody>
                  <a:tcPr/>
                </a:tc>
                <a:extLst>
                  <a:ext uri="{0D108BD9-81ED-4DB2-BD59-A6C34878D82A}">
                    <a16:rowId xmlns:a16="http://schemas.microsoft.com/office/drawing/2014/main" val="3909594851"/>
                  </a:ext>
                </a:extLst>
              </a:tr>
              <a:tr h="341706">
                <a:tc>
                  <a:txBody>
                    <a:bodyPr/>
                    <a:lstStyle/>
                    <a:p>
                      <a:r>
                        <a:rPr lang="en-US"/>
                        <a:t>Columns</a:t>
                      </a:r>
                    </a:p>
                  </a:txBody>
                  <a:tcPr/>
                </a:tc>
                <a:tc>
                  <a:txBody>
                    <a:bodyPr/>
                    <a:lstStyle/>
                    <a:p>
                      <a:r>
                        <a:rPr lang="en-US" sz="1800" b="0" u="none" strike="noStrike" kern="1200">
                          <a:solidFill>
                            <a:schemeClr val="dk1"/>
                          </a:solidFill>
                          <a:effectLst/>
                        </a:rPr>
                        <a:t>276</a:t>
                      </a:r>
                      <a:endParaRPr lang="en-US"/>
                    </a:p>
                  </a:txBody>
                  <a:tcPr/>
                </a:tc>
                <a:extLst>
                  <a:ext uri="{0D108BD9-81ED-4DB2-BD59-A6C34878D82A}">
                    <a16:rowId xmlns:a16="http://schemas.microsoft.com/office/drawing/2014/main" val="3394232434"/>
                  </a:ext>
                </a:extLst>
              </a:tr>
              <a:tr h="2611945">
                <a:tc>
                  <a:txBody>
                    <a:bodyPr/>
                    <a:lstStyle/>
                    <a:p>
                      <a:r>
                        <a:rPr lang="en-US"/>
                        <a:t>Key Data Fields</a:t>
                      </a:r>
                    </a:p>
                  </a:txBody>
                  <a:tcPr/>
                </a:tc>
                <a:tc>
                  <a:txBody>
                    <a:bodyPr/>
                    <a:lstStyle/>
                    <a:p>
                      <a:pPr algn="l">
                        <a:buFont typeface="Arial" panose="020B0604020202020204" pitchFamily="34" charset="0"/>
                        <a:buChar char="•"/>
                      </a:pPr>
                      <a:r>
                        <a:rPr lang="en-US" b="0" u="none" strike="noStrike" err="1">
                          <a:effectLst/>
                        </a:rPr>
                        <a:t>user_id</a:t>
                      </a:r>
                      <a:endParaRPr lang="en-US" b="0" u="none" strike="noStrike">
                        <a:effectLst/>
                      </a:endParaRPr>
                    </a:p>
                    <a:p>
                      <a:pPr algn="l">
                        <a:buFont typeface="Arial" panose="020B0604020202020204" pitchFamily="34" charset="0"/>
                        <a:buChar char="•"/>
                      </a:pPr>
                      <a:r>
                        <a:rPr lang="en-US" b="0" u="none" strike="noStrike" err="1">
                          <a:effectLst/>
                        </a:rPr>
                        <a:t>target_event</a:t>
                      </a:r>
                      <a:r>
                        <a:rPr lang="en-US" b="0" u="none" strike="noStrike">
                          <a:effectLst/>
                        </a:rPr>
                        <a:t> </a:t>
                      </a:r>
                    </a:p>
                    <a:p>
                      <a:pPr algn="l">
                        <a:buFont typeface="Arial" panose="020B0604020202020204" pitchFamily="34" charset="0"/>
                        <a:buChar char="•"/>
                      </a:pPr>
                      <a:r>
                        <a:rPr lang="en-US" b="0" u="none" strike="noStrike" err="1">
                          <a:effectLst/>
                        </a:rPr>
                        <a:t>purchase_recency_mean</a:t>
                      </a:r>
                      <a:endParaRPr lang="en-US" b="0" u="none" strike="noStrike">
                        <a:effectLst/>
                      </a:endParaRPr>
                    </a:p>
                    <a:p>
                      <a:pPr algn="l">
                        <a:buFont typeface="Arial" panose="020B0604020202020204" pitchFamily="34" charset="0"/>
                        <a:buChar char="•"/>
                      </a:pPr>
                      <a:r>
                        <a:rPr lang="en-US" b="0" u="none" strike="noStrike" err="1">
                          <a:effectLst/>
                        </a:rPr>
                        <a:t>session_recency_mean</a:t>
                      </a:r>
                      <a:endParaRPr lang="en-US" b="0" u="none" strike="noStrike">
                        <a:effectLst/>
                      </a:endParaRPr>
                    </a:p>
                    <a:p>
                      <a:pPr algn="l">
                        <a:buFont typeface="Arial" panose="020B0604020202020204" pitchFamily="34" charset="0"/>
                        <a:buChar char="•"/>
                      </a:pPr>
                      <a:r>
                        <a:rPr lang="en-US" b="0" u="none" strike="noStrike" err="1">
                          <a:effectLst/>
                        </a:rPr>
                        <a:t>inter_purchase_time_mean</a:t>
                      </a:r>
                      <a:r>
                        <a:rPr lang="en-US" b="0" u="none" strike="noStrike">
                          <a:effectLst/>
                        </a:rPr>
                        <a:t> </a:t>
                      </a:r>
                    </a:p>
                    <a:p>
                      <a:pPr algn="l">
                        <a:buFont typeface="Arial" panose="020B0604020202020204" pitchFamily="34" charset="0"/>
                        <a:buChar char="•"/>
                      </a:pPr>
                      <a:r>
                        <a:rPr lang="en-US" b="0" u="none" strike="noStrike" err="1">
                          <a:effectLst/>
                        </a:rPr>
                        <a:t>purchase_count_sum</a:t>
                      </a:r>
                      <a:endParaRPr lang="en-US" b="0" u="none" strike="noStrike">
                        <a:effectLst/>
                      </a:endParaRPr>
                    </a:p>
                    <a:p>
                      <a:pPr algn="l">
                        <a:buFont typeface="Arial" panose="020B0604020202020204" pitchFamily="34" charset="0"/>
                        <a:buChar char="•"/>
                      </a:pPr>
                      <a:r>
                        <a:rPr lang="en-US" b="0" u="none" strike="noStrike" err="1">
                          <a:effectLst/>
                        </a:rPr>
                        <a:t>session_number_sum</a:t>
                      </a:r>
                      <a:r>
                        <a:rPr lang="en-US" b="0" u="none" strike="noStrike">
                          <a:effectLst/>
                        </a:rPr>
                        <a:t> </a:t>
                      </a:r>
                    </a:p>
                    <a:p>
                      <a:pPr algn="l">
                        <a:buFont typeface="Arial" panose="020B0604020202020204" pitchFamily="34" charset="0"/>
                        <a:buChar char="•"/>
                      </a:pPr>
                      <a:r>
                        <a:rPr lang="en-US" b="0" u="none" strike="noStrike" err="1">
                          <a:effectLst/>
                        </a:rPr>
                        <a:t>click_count_sum</a:t>
                      </a:r>
                      <a:r>
                        <a:rPr lang="en-US" b="0" u="none" strike="noStrike">
                          <a:effectLst/>
                        </a:rPr>
                        <a:t> </a:t>
                      </a:r>
                    </a:p>
                    <a:p>
                      <a:pPr algn="l">
                        <a:buFont typeface="Arial" panose="020B0604020202020204" pitchFamily="34" charset="0"/>
                        <a:buChar char="•"/>
                      </a:pPr>
                      <a:r>
                        <a:rPr lang="en-US" b="0" u="none" strike="noStrike" err="1">
                          <a:effectLst/>
                        </a:rPr>
                        <a:t>purchase_revenue_sum</a:t>
                      </a:r>
                      <a:r>
                        <a:rPr lang="en-US" b="0" u="none" strike="noStrike">
                          <a:effectLst/>
                        </a:rPr>
                        <a:t> </a:t>
                      </a:r>
                    </a:p>
                    <a:p>
                      <a:pPr algn="l">
                        <a:buFont typeface="Arial" panose="020B0604020202020204" pitchFamily="34" charset="0"/>
                        <a:buChar char="•"/>
                      </a:pPr>
                      <a:r>
                        <a:rPr lang="en-US" b="0" u="none" strike="noStrike" err="1">
                          <a:effectLst/>
                        </a:rPr>
                        <a:t>target_customer_value</a:t>
                      </a:r>
                      <a:r>
                        <a:rPr lang="en-US" b="0" u="none" strike="noStrike">
                          <a:effectLst/>
                        </a:rPr>
                        <a:t> </a:t>
                      </a:r>
                      <a:endParaRPr lang="en-US"/>
                    </a:p>
                  </a:txBody>
                  <a:tcPr/>
                </a:tc>
                <a:extLst>
                  <a:ext uri="{0D108BD9-81ED-4DB2-BD59-A6C34878D82A}">
                    <a16:rowId xmlns:a16="http://schemas.microsoft.com/office/drawing/2014/main" val="3380566827"/>
                  </a:ext>
                </a:extLst>
              </a:tr>
              <a:tr h="1853638">
                <a:tc>
                  <a:txBody>
                    <a:bodyPr/>
                    <a:lstStyle/>
                    <a:p>
                      <a:r>
                        <a:rPr lang="en-US"/>
                        <a:t>Findings from EDA</a:t>
                      </a:r>
                    </a:p>
                    <a:p>
                      <a:endParaRPr lang="en-US"/>
                    </a:p>
                    <a:p>
                      <a:endParaRPr lang="en-US"/>
                    </a:p>
                  </a:txBody>
                  <a:tcPr/>
                </a:tc>
                <a:tc>
                  <a:txBody>
                    <a:bodyPr/>
                    <a:lstStyle/>
                    <a:p>
                      <a:endParaRPr lang="en-US"/>
                    </a:p>
                  </a:txBody>
                  <a:tcPr/>
                </a:tc>
                <a:extLst>
                  <a:ext uri="{0D108BD9-81ED-4DB2-BD59-A6C34878D82A}">
                    <a16:rowId xmlns:a16="http://schemas.microsoft.com/office/drawing/2014/main" val="3211511806"/>
                  </a:ext>
                </a:extLst>
              </a:tr>
            </a:tbl>
          </a:graphicData>
        </a:graphic>
      </p:graphicFrame>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0BC7940E-3CE9-E393-8A8D-9EEB0DE8D984}"/>
                  </a:ext>
                </a:extLst>
              </p:cNvPr>
              <p:cNvGraphicFramePr>
                <a:graphicFrameLocks noChangeAspect="1"/>
              </p:cNvGraphicFramePr>
              <p:nvPr>
                <p:extLst>
                  <p:ext uri="{D42A27DB-BD31-4B8C-83A1-F6EECF244321}">
                    <p14:modId xmlns:p14="http://schemas.microsoft.com/office/powerpoint/2010/main" val="3232130595"/>
                  </p:ext>
                </p:extLst>
              </p:nvPr>
            </p:nvGraphicFramePr>
            <p:xfrm>
              <a:off x="3048000" y="4781550"/>
              <a:ext cx="3048000" cy="1714500"/>
            </p:xfrm>
            <a:graphic>
              <a:graphicData uri="http://schemas.microsoft.com/office/powerpoint/2016/slidezoom">
                <pslz:sldZm>
                  <pslz:sldZmObj sldId="268" cId="4074364784">
                    <pslz:zmPr id="{67F60405-A19A-C04F-8C96-A59CC80C8894}"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8" name="Slide Zoom 7">
                <a:hlinkClick r:id="rId3" action="ppaction://hlinksldjump"/>
                <a:extLst>
                  <a:ext uri="{FF2B5EF4-FFF2-40B4-BE49-F238E27FC236}">
                    <a16:creationId xmlns:a16="http://schemas.microsoft.com/office/drawing/2014/main" id="{0BC7940E-3CE9-E393-8A8D-9EEB0DE8D984}"/>
                  </a:ext>
                </a:extLst>
              </p:cNvPr>
              <p:cNvPicPr>
                <a:picLocks noGrp="1" noRot="1" noChangeAspect="1" noMove="1" noResize="1" noEditPoints="1" noAdjustHandles="1" noChangeArrowheads="1" noChangeShapeType="1"/>
              </p:cNvPicPr>
              <p:nvPr/>
            </p:nvPicPr>
            <p:blipFill>
              <a:blip r:embed="rId4"/>
              <a:stretch>
                <a:fillRect/>
              </a:stretch>
            </p:blipFill>
            <p:spPr>
              <a:xfrm>
                <a:off x="3048000" y="4781550"/>
                <a:ext cx="3048000" cy="1714500"/>
              </a:xfrm>
              <a:prstGeom prst="rect">
                <a:avLst/>
              </a:prstGeom>
              <a:ln w="3175">
                <a:solidFill>
                  <a:prstClr val="ltGray"/>
                </a:solidFill>
              </a:ln>
            </p:spPr>
          </p:pic>
        </mc:Fallback>
      </mc:AlternateContent>
      <p:sp>
        <p:nvSpPr>
          <p:cNvPr id="9" name="Rectangle 8">
            <a:extLst>
              <a:ext uri="{FF2B5EF4-FFF2-40B4-BE49-F238E27FC236}">
                <a16:creationId xmlns:a16="http://schemas.microsoft.com/office/drawing/2014/main" id="{7F4127CF-5E8B-B2C0-FC37-5FFE9E93F673}"/>
              </a:ext>
            </a:extLst>
          </p:cNvPr>
          <p:cNvSpPr/>
          <p:nvPr/>
        </p:nvSpPr>
        <p:spPr>
          <a:xfrm>
            <a:off x="7899400" y="76842"/>
            <a:ext cx="4292600" cy="6858000"/>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t>
            </a:r>
          </a:p>
        </p:txBody>
      </p:sp>
      <p:sp>
        <p:nvSpPr>
          <p:cNvPr id="10" name="Title 1">
            <a:extLst>
              <a:ext uri="{FF2B5EF4-FFF2-40B4-BE49-F238E27FC236}">
                <a16:creationId xmlns:a16="http://schemas.microsoft.com/office/drawing/2014/main" id="{B29AAA2A-1B02-995B-D4CB-A9CAA3237659}"/>
              </a:ext>
            </a:extLst>
          </p:cNvPr>
          <p:cNvSpPr txBox="1">
            <a:spLocks/>
          </p:cNvSpPr>
          <p:nvPr/>
        </p:nvSpPr>
        <p:spPr>
          <a:xfrm>
            <a:off x="7899399" y="76842"/>
            <a:ext cx="7215076" cy="524617"/>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solidFill>
                  <a:schemeClr val="bg1"/>
                </a:solidFill>
                <a:latin typeface="Times New Roman" panose="02020603050405020304" pitchFamily="18" charset="0"/>
                <a:cs typeface="Times New Roman" panose="02020603050405020304" pitchFamily="18" charset="0"/>
              </a:rPr>
              <a:t>Dataset Preprocessing</a:t>
            </a:r>
          </a:p>
        </p:txBody>
      </p:sp>
      <p:sp>
        <p:nvSpPr>
          <p:cNvPr id="12" name="Title 1">
            <a:extLst>
              <a:ext uri="{FF2B5EF4-FFF2-40B4-BE49-F238E27FC236}">
                <a16:creationId xmlns:a16="http://schemas.microsoft.com/office/drawing/2014/main" id="{E734A469-9DEC-E0CD-BCCB-01E792ECBA42}"/>
              </a:ext>
            </a:extLst>
          </p:cNvPr>
          <p:cNvSpPr txBox="1">
            <a:spLocks/>
          </p:cNvSpPr>
          <p:nvPr/>
        </p:nvSpPr>
        <p:spPr>
          <a:xfrm>
            <a:off x="7899398" y="601459"/>
            <a:ext cx="4064001" cy="6179699"/>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lvl="0" eaLnBrk="0" fontAlgn="base" hangingPunct="0">
              <a:lnSpc>
                <a:spcPct val="100000"/>
              </a:lnSpc>
              <a:spcAft>
                <a:spcPct val="0"/>
              </a:spcAft>
              <a:buFontTx/>
              <a:buChar char="•"/>
            </a:pPr>
            <a:r>
              <a:rPr lang="en-US" altLang="en-US" sz="1600" b="1">
                <a:solidFill>
                  <a:schemeClr val="bg1"/>
                </a:solidFill>
                <a:latin typeface="Arial" panose="020B0604020202020204" pitchFamily="34" charset="0"/>
              </a:rPr>
              <a:t>Aggregation:</a:t>
            </a:r>
            <a:r>
              <a:rPr lang="en-US" altLang="en-US" sz="1600">
                <a:solidFill>
                  <a:schemeClr val="bg1"/>
                </a:solidFill>
                <a:latin typeface="Arial" panose="020B0604020202020204" pitchFamily="34" charset="0"/>
              </a:rPr>
              <a:t> Computed user-level statistics (mean, sum, min, max, standard deviation, coefficient of variation) across all transactions for each user; analysis is performed at user level.</a:t>
            </a:r>
          </a:p>
          <a:p>
            <a:pPr lvl="0" eaLnBrk="0" fontAlgn="base" hangingPunct="0">
              <a:lnSpc>
                <a:spcPct val="100000"/>
              </a:lnSpc>
              <a:spcAft>
                <a:spcPct val="0"/>
              </a:spcAft>
              <a:buFontTx/>
              <a:buChar char="•"/>
            </a:pPr>
            <a:r>
              <a:rPr lang="en-US" altLang="en-US" sz="1600" b="1">
                <a:solidFill>
                  <a:schemeClr val="bg1"/>
                </a:solidFill>
                <a:latin typeface="Arial" panose="020B0604020202020204" pitchFamily="34" charset="0"/>
              </a:rPr>
              <a:t>Last Transaction Consideration:</a:t>
            </a:r>
            <a:r>
              <a:rPr lang="en-US" altLang="en-US" sz="1600">
                <a:solidFill>
                  <a:schemeClr val="bg1"/>
                </a:solidFill>
                <a:latin typeface="Arial" panose="020B0604020202020204" pitchFamily="34" charset="0"/>
              </a:rPr>
              <a:t> For every user, the most recent transaction is identified and used to define the churn label and target-period outcomes.</a:t>
            </a:r>
          </a:p>
          <a:p>
            <a:pPr lvl="0" eaLnBrk="0" fontAlgn="base" hangingPunct="0">
              <a:lnSpc>
                <a:spcPct val="100000"/>
              </a:lnSpc>
              <a:spcAft>
                <a:spcPct val="0"/>
              </a:spcAft>
              <a:buFontTx/>
              <a:buChar char="•"/>
            </a:pPr>
            <a:r>
              <a:rPr lang="en-US" altLang="en-US" sz="1600" b="1">
                <a:solidFill>
                  <a:schemeClr val="bg1"/>
                </a:solidFill>
                <a:latin typeface="Arial" panose="020B0604020202020204" pitchFamily="34" charset="0"/>
              </a:rPr>
              <a:t>Target Label Extraction:</a:t>
            </a:r>
            <a:r>
              <a:rPr lang="en-US" altLang="en-US" sz="1600">
                <a:solidFill>
                  <a:schemeClr val="bg1"/>
                </a:solidFill>
                <a:latin typeface="Arial" panose="020B0604020202020204" pitchFamily="34" charset="0"/>
              </a:rPr>
              <a:t> Churn label (</a:t>
            </a:r>
            <a:r>
              <a:rPr lang="en-US" altLang="en-US" sz="1600" err="1">
                <a:solidFill>
                  <a:schemeClr val="bg1"/>
                </a:solidFill>
                <a:latin typeface="Arial Unicode MS" panose="020B0604020202020204" pitchFamily="34" charset="-128"/>
              </a:rPr>
              <a:t>target_event</a:t>
            </a:r>
            <a:r>
              <a:rPr lang="en-US" altLang="en-US" sz="1600">
                <a:solidFill>
                  <a:schemeClr val="bg1"/>
                </a:solidFill>
              </a:rPr>
              <a:t>) is extracted from the last transaction per user.</a:t>
            </a:r>
            <a:endParaRPr lang="en-US" altLang="en-US" sz="1600">
              <a:solidFill>
                <a:schemeClr val="bg1"/>
              </a:solidFill>
              <a:latin typeface="Arial" panose="020B0604020202020204" pitchFamily="34" charset="0"/>
            </a:endParaRPr>
          </a:p>
          <a:p>
            <a:pPr lvl="0" eaLnBrk="0" fontAlgn="base" hangingPunct="0">
              <a:lnSpc>
                <a:spcPct val="100000"/>
              </a:lnSpc>
              <a:spcAft>
                <a:spcPct val="0"/>
              </a:spcAft>
              <a:buFontTx/>
              <a:buChar char="•"/>
            </a:pPr>
            <a:r>
              <a:rPr lang="en-US" altLang="en-US" sz="1600" b="1">
                <a:solidFill>
                  <a:schemeClr val="bg1"/>
                </a:solidFill>
                <a:latin typeface="Arial" panose="020B0604020202020204" pitchFamily="34" charset="0"/>
              </a:rPr>
              <a:t>Feature Merge:</a:t>
            </a:r>
            <a:r>
              <a:rPr lang="en-US" altLang="en-US" sz="1600">
                <a:solidFill>
                  <a:schemeClr val="bg1"/>
                </a:solidFill>
                <a:latin typeface="Arial" panose="020B0604020202020204" pitchFamily="34" charset="0"/>
              </a:rPr>
              <a:t> Aggregated RFM and behavioral features are merged with the target label by </a:t>
            </a:r>
            <a:r>
              <a:rPr lang="en-US" altLang="en-US" sz="1600" err="1">
                <a:solidFill>
                  <a:schemeClr val="bg1"/>
                </a:solidFill>
                <a:latin typeface="Arial Unicode MS" panose="020B0604020202020204" pitchFamily="34" charset="-128"/>
              </a:rPr>
              <a:t>user_id</a:t>
            </a:r>
            <a:r>
              <a:rPr lang="en-US" altLang="en-US" sz="1600">
                <a:solidFill>
                  <a:schemeClr val="bg1"/>
                </a:solidFill>
              </a:rPr>
              <a:t>.</a:t>
            </a:r>
            <a:endParaRPr lang="en-US" altLang="en-US" sz="1600">
              <a:solidFill>
                <a:schemeClr val="bg1"/>
              </a:solidFill>
              <a:latin typeface="Arial" panose="020B0604020202020204" pitchFamily="34" charset="0"/>
            </a:endParaRPr>
          </a:p>
          <a:p>
            <a:pPr lvl="0" eaLnBrk="0" fontAlgn="base" hangingPunct="0">
              <a:lnSpc>
                <a:spcPct val="100000"/>
              </a:lnSpc>
              <a:spcAft>
                <a:spcPct val="0"/>
              </a:spcAft>
              <a:buFontTx/>
              <a:buChar char="•"/>
            </a:pPr>
            <a:r>
              <a:rPr lang="en-US" altLang="en-US" sz="1600" b="1">
                <a:solidFill>
                  <a:schemeClr val="bg1"/>
                </a:solidFill>
                <a:latin typeface="Arial" panose="020B0604020202020204" pitchFamily="34" charset="0"/>
              </a:rPr>
              <a:t>Resulting Dataset:</a:t>
            </a:r>
            <a:r>
              <a:rPr lang="en-US" altLang="en-US" sz="1600">
                <a:solidFill>
                  <a:schemeClr val="bg1"/>
                </a:solidFill>
                <a:latin typeface="Arial" panose="020B0604020202020204" pitchFamily="34" charset="0"/>
              </a:rPr>
              <a:t> 21,605 user-level rows with 275 modeling features (excluding identifiers, time fields, and target).</a:t>
            </a:r>
          </a:p>
          <a:p>
            <a:pPr lvl="0" eaLnBrk="0" fontAlgn="base" hangingPunct="0">
              <a:lnSpc>
                <a:spcPct val="100000"/>
              </a:lnSpc>
              <a:spcAft>
                <a:spcPct val="0"/>
              </a:spcAft>
              <a:buFontTx/>
              <a:buChar char="•"/>
            </a:pPr>
            <a:r>
              <a:rPr lang="en-US" altLang="en-US" sz="1600" b="1">
                <a:solidFill>
                  <a:schemeClr val="bg1"/>
                </a:solidFill>
                <a:latin typeface="Arial" panose="020B0604020202020204" pitchFamily="34" charset="0"/>
              </a:rPr>
              <a:t>Data Quality:</a:t>
            </a:r>
            <a:r>
              <a:rPr lang="en-US" altLang="en-US" sz="1600">
                <a:solidFill>
                  <a:schemeClr val="bg1"/>
                </a:solidFill>
                <a:latin typeface="Arial" panose="020B0604020202020204" pitchFamily="34" charset="0"/>
              </a:rPr>
              <a:t> No major missing values observed, so the dataset is ready for further analysis and modeling.</a:t>
            </a:r>
          </a:p>
          <a:p>
            <a:pPr lvl="0" eaLnBrk="0" fontAlgn="base" hangingPunct="0">
              <a:lnSpc>
                <a:spcPct val="100000"/>
              </a:lnSpc>
              <a:spcAft>
                <a:spcPct val="0"/>
              </a:spcAft>
              <a:buFontTx/>
              <a:buChar char="•"/>
            </a:pPr>
            <a:endParaRPr lang="en-US" altLang="en-US" sz="1600">
              <a:solidFill>
                <a:schemeClr val="bg1"/>
              </a:solidFill>
              <a:latin typeface="Arial" panose="020B0604020202020204" pitchFamily="34" charset="0"/>
            </a:endParaRPr>
          </a:p>
          <a:p>
            <a:pPr lvl="0" eaLnBrk="0" fontAlgn="base" hangingPunct="0">
              <a:lnSpc>
                <a:spcPct val="100000"/>
              </a:lnSpc>
              <a:spcAft>
                <a:spcPct val="0"/>
              </a:spcAft>
            </a:pPr>
            <a:r>
              <a:rPr lang="en-US" altLang="en-US" sz="1200" b="1" i="1">
                <a:solidFill>
                  <a:schemeClr val="bg1"/>
                </a:solidFill>
                <a:latin typeface="Arial" panose="020B0604020202020204" pitchFamily="34" charset="0"/>
              </a:rPr>
              <a:t>TARGET VARIABLE WAS CHOSEN BASED ON THE LAST TXN OF THE USER AND SO WERE THE FEATURES. </a:t>
            </a:r>
          </a:p>
          <a:p>
            <a:pPr lvl="0" eaLnBrk="0" fontAlgn="base" hangingPunct="0">
              <a:lnSpc>
                <a:spcPct val="100000"/>
              </a:lnSpc>
              <a:spcAft>
                <a:spcPct val="0"/>
              </a:spcAft>
            </a:pPr>
            <a:endParaRPr lang="en-US" altLang="en-US" sz="1200" b="1" i="1">
              <a:solidFill>
                <a:schemeClr val="bg1"/>
              </a:solidFill>
              <a:latin typeface="Arial" panose="020B0604020202020204" pitchFamily="34" charset="0"/>
            </a:endParaRPr>
          </a:p>
          <a:p>
            <a:pPr lvl="0" eaLnBrk="0" fontAlgn="base" hangingPunct="0">
              <a:lnSpc>
                <a:spcPct val="100000"/>
              </a:lnSpc>
              <a:spcAft>
                <a:spcPct val="0"/>
              </a:spcAft>
            </a:pPr>
            <a:endParaRPr lang="en-US" altLang="en-US" sz="1600">
              <a:solidFill>
                <a:schemeClr val="bg1"/>
              </a:solidFill>
              <a:latin typeface="Arial" panose="020B0604020202020204" pitchFamily="34" charset="0"/>
            </a:endParaRPr>
          </a:p>
        </p:txBody>
      </p:sp>
    </p:spTree>
    <p:extLst>
      <p:ext uri="{BB962C8B-B14F-4D97-AF65-F5344CB8AC3E}">
        <p14:creationId xmlns:p14="http://schemas.microsoft.com/office/powerpoint/2010/main" val="1083442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DC878-4BA3-6715-4E90-9B875B47B4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CB28E9-8D5D-1F5D-ADC8-C4FFEB1B7BF2}"/>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AB5A17B8-BE94-86BB-849E-BAAF28F3AC2F}"/>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EDA Findings </a:t>
            </a:r>
            <a:endParaRPr lang="en-US"/>
          </a:p>
        </p:txBody>
      </p:sp>
      <p:pic>
        <p:nvPicPr>
          <p:cNvPr id="5" name="Picture 4" descr="A screenshot of a graph&#10;&#10;AI-generated content may be incorrect.">
            <a:extLst>
              <a:ext uri="{FF2B5EF4-FFF2-40B4-BE49-F238E27FC236}">
                <a16:creationId xmlns:a16="http://schemas.microsoft.com/office/drawing/2014/main" id="{1581859B-D610-6219-26F8-3E2C098AE50D}"/>
              </a:ext>
            </a:extLst>
          </p:cNvPr>
          <p:cNvPicPr>
            <a:picLocks noChangeAspect="1"/>
          </p:cNvPicPr>
          <p:nvPr/>
        </p:nvPicPr>
        <p:blipFill>
          <a:blip r:embed="rId3"/>
          <a:stretch>
            <a:fillRect/>
          </a:stretch>
        </p:blipFill>
        <p:spPr>
          <a:xfrm>
            <a:off x="808038" y="784827"/>
            <a:ext cx="7772400" cy="3264208"/>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81621D9E-1F9C-AD84-7365-310B408DFFE5}"/>
              </a:ext>
            </a:extLst>
          </p:cNvPr>
          <p:cNvPicPr>
            <a:picLocks noChangeAspect="1"/>
          </p:cNvPicPr>
          <p:nvPr/>
        </p:nvPicPr>
        <p:blipFill>
          <a:blip r:embed="rId4"/>
          <a:stretch>
            <a:fillRect/>
          </a:stretch>
        </p:blipFill>
        <p:spPr>
          <a:xfrm>
            <a:off x="808038" y="4077611"/>
            <a:ext cx="7772400" cy="2636712"/>
          </a:xfrm>
          <a:prstGeom prst="rect">
            <a:avLst/>
          </a:prstGeom>
        </p:spPr>
      </p:pic>
      <p:graphicFrame>
        <p:nvGraphicFramePr>
          <p:cNvPr id="13" name="Table 12">
            <a:extLst>
              <a:ext uri="{FF2B5EF4-FFF2-40B4-BE49-F238E27FC236}">
                <a16:creationId xmlns:a16="http://schemas.microsoft.com/office/drawing/2014/main" id="{B69E1BD7-FBB5-A362-ECE8-B3F91AEFFB39}"/>
              </a:ext>
            </a:extLst>
          </p:cNvPr>
          <p:cNvGraphicFramePr>
            <a:graphicFrameLocks noGrp="1"/>
          </p:cNvGraphicFramePr>
          <p:nvPr>
            <p:extLst>
              <p:ext uri="{D42A27DB-BD31-4B8C-83A1-F6EECF244321}">
                <p14:modId xmlns:p14="http://schemas.microsoft.com/office/powerpoint/2010/main" val="1417236830"/>
              </p:ext>
            </p:extLst>
          </p:nvPr>
        </p:nvGraphicFramePr>
        <p:xfrm>
          <a:off x="8704152" y="827197"/>
          <a:ext cx="3556674" cy="5887124"/>
        </p:xfrm>
        <a:graphic>
          <a:graphicData uri="http://schemas.openxmlformats.org/drawingml/2006/table">
            <a:tbl>
              <a:tblPr firstRow="1" bandRow="1">
                <a:tableStyleId>{5C22544A-7EE6-4342-B048-85BDC9FD1C3A}</a:tableStyleId>
              </a:tblPr>
              <a:tblGrid>
                <a:gridCol w="898894">
                  <a:extLst>
                    <a:ext uri="{9D8B030D-6E8A-4147-A177-3AD203B41FA5}">
                      <a16:colId xmlns:a16="http://schemas.microsoft.com/office/drawing/2014/main" val="1653215665"/>
                    </a:ext>
                  </a:extLst>
                </a:gridCol>
                <a:gridCol w="2657780">
                  <a:extLst>
                    <a:ext uri="{9D8B030D-6E8A-4147-A177-3AD203B41FA5}">
                      <a16:colId xmlns:a16="http://schemas.microsoft.com/office/drawing/2014/main" val="2911414270"/>
                    </a:ext>
                  </a:extLst>
                </a:gridCol>
              </a:tblGrid>
              <a:tr h="428315">
                <a:tc>
                  <a:txBody>
                    <a:bodyPr/>
                    <a:lstStyle/>
                    <a:p>
                      <a:pPr algn="l" fontAlgn="b">
                        <a:buNone/>
                      </a:pPr>
                      <a:r>
                        <a:rPr lang="en-US" sz="1050" b="0" i="0" u="none" strike="noStrike">
                          <a:solidFill>
                            <a:srgbClr val="000000"/>
                          </a:solidFill>
                          <a:effectLst/>
                          <a:latin typeface="Helvetica Neue" panose="02000503000000020004" pitchFamily="2" charset="0"/>
                        </a:rPr>
                        <a:t>Graph name</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Findings</a:t>
                      </a:r>
                    </a:p>
                  </a:txBody>
                  <a:tcPr marL="9525" marR="9525" marT="9525" marB="0" anchor="ctr"/>
                </a:tc>
                <a:extLst>
                  <a:ext uri="{0D108BD9-81ED-4DB2-BD59-A6C34878D82A}">
                    <a16:rowId xmlns:a16="http://schemas.microsoft.com/office/drawing/2014/main" val="2115856905"/>
                  </a:ext>
                </a:extLst>
              </a:tr>
              <a:tr h="565463">
                <a:tc>
                  <a:txBody>
                    <a:bodyPr/>
                    <a:lstStyle/>
                    <a:p>
                      <a:pPr algn="l" fontAlgn="b">
                        <a:buNone/>
                      </a:pPr>
                      <a:r>
                        <a:rPr lang="en-US" sz="1050" b="0" i="0" u="none" strike="noStrike">
                          <a:solidFill>
                            <a:srgbClr val="000000"/>
                          </a:solidFill>
                          <a:effectLst/>
                          <a:latin typeface="Helvetica Neue" panose="02000503000000020004" pitchFamily="2" charset="0"/>
                        </a:rPr>
                        <a:t>Churn Rate Distribution</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Around 60% of users are churned and 40% retained, indicating a relatively high churn rate in the dataset. ​</a:t>
                      </a:r>
                    </a:p>
                  </a:txBody>
                  <a:tcPr marL="9525" marR="9525" marT="9525" marB="0" anchor="ctr"/>
                </a:tc>
                <a:extLst>
                  <a:ext uri="{0D108BD9-81ED-4DB2-BD59-A6C34878D82A}">
                    <a16:rowId xmlns:a16="http://schemas.microsoft.com/office/drawing/2014/main" val="3959872762"/>
                  </a:ext>
                </a:extLst>
              </a:tr>
              <a:tr h="750284">
                <a:tc>
                  <a:txBody>
                    <a:bodyPr/>
                    <a:lstStyle/>
                    <a:p>
                      <a:pPr algn="l" fontAlgn="b">
                        <a:buNone/>
                      </a:pPr>
                      <a:r>
                        <a:rPr lang="en-US" sz="1050" b="0" i="0" u="none" strike="noStrike">
                          <a:solidFill>
                            <a:srgbClr val="000000"/>
                          </a:solidFill>
                          <a:effectLst/>
                          <a:latin typeface="Helvetica Neue" panose="02000503000000020004" pitchFamily="2" charset="0"/>
                        </a:rPr>
                        <a:t>Class Imbalance</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There is a moderate imbalance with more churned than retained users, but it is not extreme enough to prevent effective modeling. ​</a:t>
                      </a:r>
                    </a:p>
                  </a:txBody>
                  <a:tcPr marL="9525" marR="9525" marT="9525" marB="0" anchor="ctr"/>
                </a:tc>
                <a:extLst>
                  <a:ext uri="{0D108BD9-81ED-4DB2-BD59-A6C34878D82A}">
                    <a16:rowId xmlns:a16="http://schemas.microsoft.com/office/drawing/2014/main" val="2640500100"/>
                  </a:ext>
                </a:extLst>
              </a:tr>
              <a:tr h="565463">
                <a:tc>
                  <a:txBody>
                    <a:bodyPr/>
                    <a:lstStyle/>
                    <a:p>
                      <a:pPr algn="l" fontAlgn="b">
                        <a:buNone/>
                      </a:pPr>
                      <a:r>
                        <a:rPr lang="en-US" sz="1050" b="0" i="0" u="none" strike="noStrike">
                          <a:solidFill>
                            <a:srgbClr val="000000"/>
                          </a:solidFill>
                          <a:effectLst/>
                          <a:latin typeface="Helvetica Neue" panose="02000503000000020004" pitchFamily="2" charset="0"/>
                        </a:rPr>
                        <a:t>Purchase Recency Distribution</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Purchase recency is centered roughly around 80–90 days, meaning many users have been inactive for several months. ​</a:t>
                      </a:r>
                    </a:p>
                  </a:txBody>
                  <a:tcPr marL="9525" marR="9525" marT="9525" marB="0" anchor="ctr"/>
                </a:tc>
                <a:extLst>
                  <a:ext uri="{0D108BD9-81ED-4DB2-BD59-A6C34878D82A}">
                    <a16:rowId xmlns:a16="http://schemas.microsoft.com/office/drawing/2014/main" val="3229279800"/>
                  </a:ext>
                </a:extLst>
              </a:tr>
              <a:tr h="565463">
                <a:tc>
                  <a:txBody>
                    <a:bodyPr/>
                    <a:lstStyle/>
                    <a:p>
                      <a:pPr algn="l" fontAlgn="b">
                        <a:buNone/>
                      </a:pPr>
                      <a:r>
                        <a:rPr lang="en-US" sz="1050" b="0" i="0" u="none" strike="noStrike">
                          <a:solidFill>
                            <a:srgbClr val="000000"/>
                          </a:solidFill>
                          <a:effectLst/>
                          <a:latin typeface="Helvetica Neue" panose="02000503000000020004" pitchFamily="2" charset="0"/>
                        </a:rPr>
                        <a:t>Purchase Frequency Distribution</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Most users make few purchases while a small group buys very frequently, producing a strongly right-skewed distribution. ​</a:t>
                      </a:r>
                    </a:p>
                  </a:txBody>
                  <a:tcPr marL="9525" marR="9525" marT="9525" marB="0" anchor="ctr"/>
                </a:tc>
                <a:extLst>
                  <a:ext uri="{0D108BD9-81ED-4DB2-BD59-A6C34878D82A}">
                    <a16:rowId xmlns:a16="http://schemas.microsoft.com/office/drawing/2014/main" val="1957883292"/>
                  </a:ext>
                </a:extLst>
              </a:tr>
              <a:tr h="565463">
                <a:tc>
                  <a:txBody>
                    <a:bodyPr/>
                    <a:lstStyle/>
                    <a:p>
                      <a:pPr algn="l" fontAlgn="b">
                        <a:buNone/>
                      </a:pPr>
                      <a:r>
                        <a:rPr lang="en-US" sz="1050" b="0" i="0" u="none" strike="noStrike">
                          <a:solidFill>
                            <a:srgbClr val="000000"/>
                          </a:solidFill>
                          <a:effectLst/>
                          <a:latin typeface="Helvetica Neue" panose="02000503000000020004" pitchFamily="2" charset="0"/>
                        </a:rPr>
                        <a:t>Purchase Revenue Distribution</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Revenue is highly right‑skewed, with many low spenders and a handful of very high‑revenue customers. ​</a:t>
                      </a:r>
                    </a:p>
                  </a:txBody>
                  <a:tcPr marL="9525" marR="9525" marT="9525" marB="0" anchor="ctr"/>
                </a:tc>
                <a:extLst>
                  <a:ext uri="{0D108BD9-81ED-4DB2-BD59-A6C34878D82A}">
                    <a16:rowId xmlns:a16="http://schemas.microsoft.com/office/drawing/2014/main" val="2236536305"/>
                  </a:ext>
                </a:extLst>
              </a:tr>
              <a:tr h="565463">
                <a:tc>
                  <a:txBody>
                    <a:bodyPr/>
                    <a:lstStyle/>
                    <a:p>
                      <a:pPr algn="l" fontAlgn="b">
                        <a:buNone/>
                      </a:pPr>
                      <a:r>
                        <a:rPr lang="en-US" sz="1050" b="0" i="0" u="none" strike="noStrike">
                          <a:solidFill>
                            <a:srgbClr val="000000"/>
                          </a:solidFill>
                          <a:effectLst/>
                          <a:latin typeface="Helvetica Neue" panose="02000503000000020004" pitchFamily="2" charset="0"/>
                        </a:rPr>
                        <a:t>Recency by Churn Status</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Churned users show higher recency values on average, confirming that longer inactivity is associated with churn. ​</a:t>
                      </a:r>
                    </a:p>
                  </a:txBody>
                  <a:tcPr marL="9525" marR="9525" marT="9525" marB="0" anchor="ctr"/>
                </a:tc>
                <a:extLst>
                  <a:ext uri="{0D108BD9-81ED-4DB2-BD59-A6C34878D82A}">
                    <a16:rowId xmlns:a16="http://schemas.microsoft.com/office/drawing/2014/main" val="823595650"/>
                  </a:ext>
                </a:extLst>
              </a:tr>
              <a:tr h="565463">
                <a:tc>
                  <a:txBody>
                    <a:bodyPr/>
                    <a:lstStyle/>
                    <a:p>
                      <a:pPr algn="l" fontAlgn="b">
                        <a:buNone/>
                      </a:pPr>
                      <a:r>
                        <a:rPr lang="en-US" sz="1050" b="0" i="0" u="none" strike="noStrike">
                          <a:solidFill>
                            <a:srgbClr val="000000"/>
                          </a:solidFill>
                          <a:effectLst/>
                          <a:latin typeface="Helvetica Neue" panose="02000503000000020004" pitchFamily="2" charset="0"/>
                        </a:rPr>
                        <a:t>Frequency by Churn Status</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Retained users tend to have slightly higher purchase counts, suggesting more frequent buyers are less likely to churn. ​</a:t>
                      </a:r>
                    </a:p>
                  </a:txBody>
                  <a:tcPr marL="9525" marR="9525" marT="9525" marB="0" anchor="ctr"/>
                </a:tc>
                <a:extLst>
                  <a:ext uri="{0D108BD9-81ED-4DB2-BD59-A6C34878D82A}">
                    <a16:rowId xmlns:a16="http://schemas.microsoft.com/office/drawing/2014/main" val="31256552"/>
                  </a:ext>
                </a:extLst>
              </a:tr>
              <a:tr h="565463">
                <a:tc>
                  <a:txBody>
                    <a:bodyPr/>
                    <a:lstStyle/>
                    <a:p>
                      <a:pPr algn="l" fontAlgn="b">
                        <a:buNone/>
                      </a:pPr>
                      <a:r>
                        <a:rPr lang="en-US" sz="1050" b="0" i="0" u="none" strike="noStrike">
                          <a:solidFill>
                            <a:srgbClr val="000000"/>
                          </a:solidFill>
                          <a:effectLst/>
                          <a:latin typeface="Helvetica Neue" panose="02000503000000020004" pitchFamily="2" charset="0"/>
                        </a:rPr>
                        <a:t>Revenue by Churn Status</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Retained users generally exhibit somewhat higher revenue, indicating high‑value customers are less prone to churn. ​</a:t>
                      </a:r>
                    </a:p>
                  </a:txBody>
                  <a:tcPr marL="9525" marR="9525" marT="9525" marB="0" anchor="ctr"/>
                </a:tc>
                <a:extLst>
                  <a:ext uri="{0D108BD9-81ED-4DB2-BD59-A6C34878D82A}">
                    <a16:rowId xmlns:a16="http://schemas.microsoft.com/office/drawing/2014/main" val="3008235094"/>
                  </a:ext>
                </a:extLst>
              </a:tr>
              <a:tr h="750284">
                <a:tc>
                  <a:txBody>
                    <a:bodyPr/>
                    <a:lstStyle/>
                    <a:p>
                      <a:pPr algn="l" fontAlgn="b">
                        <a:buNone/>
                      </a:pPr>
                      <a:r>
                        <a:rPr lang="en-US" sz="1050" b="0" i="0" u="none" strike="noStrike">
                          <a:solidFill>
                            <a:srgbClr val="000000"/>
                          </a:solidFill>
                          <a:effectLst/>
                          <a:latin typeface="Helvetica Neue" panose="02000503000000020004" pitchFamily="2" charset="0"/>
                        </a:rPr>
                        <a:t>RFM Features Correlation</a:t>
                      </a:r>
                    </a:p>
                  </a:txBody>
                  <a:tcPr marL="9525" marR="9525" marT="9525" marB="0" anchor="ctr"/>
                </a:tc>
                <a:tc>
                  <a:txBody>
                    <a:bodyPr/>
                    <a:lstStyle/>
                    <a:p>
                      <a:pPr algn="l" fontAlgn="b">
                        <a:buNone/>
                      </a:pPr>
                      <a:r>
                        <a:rPr lang="en-US" sz="1050" b="0" i="0" u="none" strike="noStrike">
                          <a:solidFill>
                            <a:srgbClr val="000000"/>
                          </a:solidFill>
                          <a:effectLst/>
                          <a:latin typeface="Helvetica Neue" panose="02000503000000020004" pitchFamily="2" charset="0"/>
                        </a:rPr>
                        <a:t>Several frequency and click-related RFM features are strongly correlated, implying redundancy and motivating feature selection</a:t>
                      </a:r>
                    </a:p>
                  </a:txBody>
                  <a:tcPr marL="9525" marR="9525" marT="9525" marB="0" anchor="ctr"/>
                </a:tc>
                <a:extLst>
                  <a:ext uri="{0D108BD9-81ED-4DB2-BD59-A6C34878D82A}">
                    <a16:rowId xmlns:a16="http://schemas.microsoft.com/office/drawing/2014/main" val="2068072866"/>
                  </a:ext>
                </a:extLst>
              </a:tr>
            </a:tbl>
          </a:graphicData>
        </a:graphic>
      </p:graphicFrame>
    </p:spTree>
    <p:extLst>
      <p:ext uri="{BB962C8B-B14F-4D97-AF65-F5344CB8AC3E}">
        <p14:creationId xmlns:p14="http://schemas.microsoft.com/office/powerpoint/2010/main" val="4074364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D850-9E5F-11F7-EA48-2C8AAE702D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8952D9-9A8D-1F53-CB46-125CF007AF28}"/>
              </a:ext>
            </a:extLst>
          </p:cNvPr>
          <p:cNvSpPr txBox="1"/>
          <p:nvPr/>
        </p:nvSpPr>
        <p:spPr>
          <a:xfrm>
            <a:off x="1576552" y="756745"/>
            <a:ext cx="184731" cy="369332"/>
          </a:xfrm>
          <a:prstGeom prst="rect">
            <a:avLst/>
          </a:prstGeom>
          <a:noFill/>
        </p:spPr>
        <p:txBody>
          <a:bodyPr wrap="none" rtlCol="0">
            <a:spAutoFit/>
          </a:bodyPr>
          <a:lstStyle/>
          <a:p>
            <a:endParaRPr lang="en-US">
              <a:solidFill>
                <a:schemeClr val="bg1"/>
              </a:solidFill>
            </a:endParaRPr>
          </a:p>
        </p:txBody>
      </p:sp>
      <p:sp>
        <p:nvSpPr>
          <p:cNvPr id="3" name="Title 1">
            <a:extLst>
              <a:ext uri="{FF2B5EF4-FFF2-40B4-BE49-F238E27FC236}">
                <a16:creationId xmlns:a16="http://schemas.microsoft.com/office/drawing/2014/main" id="{EA712690-72C1-062F-55BE-B32AD331B6B0}"/>
              </a:ext>
            </a:extLst>
          </p:cNvPr>
          <p:cNvSpPr txBox="1">
            <a:spLocks/>
          </p:cNvSpPr>
          <p:nvPr/>
        </p:nvSpPr>
        <p:spPr>
          <a:xfrm>
            <a:off x="684324" y="76842"/>
            <a:ext cx="11101146"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lvl="0" eaLnBrk="0" fontAlgn="base" hangingPunct="0">
              <a:lnSpc>
                <a:spcPct val="100000"/>
              </a:lnSpc>
              <a:spcAft>
                <a:spcPct val="0"/>
              </a:spcAft>
            </a:pPr>
            <a:r>
              <a:rPr lang="en-US" altLang="en-US" sz="3500">
                <a:latin typeface="Times New Roman" panose="02020603050405020304" pitchFamily="18" charset="0"/>
                <a:cs typeface="Times New Roman" panose="02020603050405020304" pitchFamily="18" charset="0"/>
              </a:rPr>
              <a:t>Feature Engineering, Outlier Detection &amp; Data Preparation</a:t>
            </a:r>
          </a:p>
          <a:p>
            <a:pPr lvl="0" eaLnBrk="0" fontAlgn="base" hangingPunct="0">
              <a:lnSpc>
                <a:spcPct val="100000"/>
              </a:lnSpc>
              <a:spcAft>
                <a:spcPct val="0"/>
              </a:spcAft>
            </a:pPr>
            <a:br>
              <a:rPr lang="en-US" altLang="en-US" sz="2400">
                <a:solidFill>
                  <a:schemeClr val="tx1"/>
                </a:solidFill>
              </a:rPr>
            </a:br>
            <a:endParaRPr lang="en-US" altLang="en-US" sz="6000">
              <a:solidFill>
                <a:schemeClr val="tx1"/>
              </a:solidFill>
              <a:latin typeface="Arial" panose="020B0604020202020204" pitchFamily="34" charset="0"/>
            </a:endParaRPr>
          </a:p>
          <a:p>
            <a:endParaRPr lang="en-US"/>
          </a:p>
        </p:txBody>
      </p:sp>
      <p:sp>
        <p:nvSpPr>
          <p:cNvPr id="10" name="Rounded Rectangle 9">
            <a:extLst>
              <a:ext uri="{FF2B5EF4-FFF2-40B4-BE49-F238E27FC236}">
                <a16:creationId xmlns:a16="http://schemas.microsoft.com/office/drawing/2014/main" id="{E82F3EEC-004C-C93F-2367-ABCCA3FC5899}"/>
              </a:ext>
            </a:extLst>
          </p:cNvPr>
          <p:cNvSpPr/>
          <p:nvPr/>
        </p:nvSpPr>
        <p:spPr>
          <a:xfrm>
            <a:off x="816760" y="1126077"/>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Data at the user level</a:t>
            </a:r>
          </a:p>
        </p:txBody>
      </p:sp>
      <p:cxnSp>
        <p:nvCxnSpPr>
          <p:cNvPr id="12" name="Straight Arrow Connector 11">
            <a:extLst>
              <a:ext uri="{FF2B5EF4-FFF2-40B4-BE49-F238E27FC236}">
                <a16:creationId xmlns:a16="http://schemas.microsoft.com/office/drawing/2014/main" id="{27D123AC-F92F-3D3C-DAD6-4E20E32F6E71}"/>
              </a:ext>
            </a:extLst>
          </p:cNvPr>
          <p:cNvCxnSpPr>
            <a:cxnSpLocks/>
          </p:cNvCxnSpPr>
          <p:nvPr/>
        </p:nvCxnSpPr>
        <p:spPr>
          <a:xfrm>
            <a:off x="1576552" y="2019462"/>
            <a:ext cx="0" cy="17522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705D3534-A0B3-6378-A0FF-ABD3FF37B1AD}"/>
              </a:ext>
            </a:extLst>
          </p:cNvPr>
          <p:cNvSpPr/>
          <p:nvPr/>
        </p:nvSpPr>
        <p:spPr>
          <a:xfrm>
            <a:off x="808077" y="2526689"/>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Feature </a:t>
            </a:r>
            <a:r>
              <a:rPr lang="en-US" err="1">
                <a:solidFill>
                  <a:schemeClr val="bg1"/>
                </a:solidFill>
              </a:rPr>
              <a:t>Engg</a:t>
            </a:r>
            <a:endParaRPr lang="en-US">
              <a:solidFill>
                <a:schemeClr val="bg1"/>
              </a:solidFill>
            </a:endParaRPr>
          </a:p>
        </p:txBody>
      </p:sp>
      <p:cxnSp>
        <p:nvCxnSpPr>
          <p:cNvPr id="20" name="Straight Connector 19">
            <a:extLst>
              <a:ext uri="{FF2B5EF4-FFF2-40B4-BE49-F238E27FC236}">
                <a16:creationId xmlns:a16="http://schemas.microsoft.com/office/drawing/2014/main" id="{A0FCB4BD-7FE9-0ADC-188B-2596E1843B79}"/>
              </a:ext>
            </a:extLst>
          </p:cNvPr>
          <p:cNvCxnSpPr/>
          <p:nvPr/>
        </p:nvCxnSpPr>
        <p:spPr>
          <a:xfrm>
            <a:off x="7232529" y="3012342"/>
            <a:ext cx="558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AD87309-45AF-AB74-02D5-89EB0B698980}"/>
              </a:ext>
            </a:extLst>
          </p:cNvPr>
          <p:cNvCxnSpPr>
            <a:cxnSpLocks/>
          </p:cNvCxnSpPr>
          <p:nvPr/>
        </p:nvCxnSpPr>
        <p:spPr>
          <a:xfrm>
            <a:off x="7796849" y="2687662"/>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02CBAC3-FA82-55C8-9311-F389DCDF2E4D}"/>
              </a:ext>
            </a:extLst>
          </p:cNvPr>
          <p:cNvCxnSpPr>
            <a:cxnSpLocks/>
          </p:cNvCxnSpPr>
          <p:nvPr/>
        </p:nvCxnSpPr>
        <p:spPr>
          <a:xfrm>
            <a:off x="7805679" y="3346154"/>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777999E-921E-7E3A-B839-2D0B81CC22EF}"/>
              </a:ext>
            </a:extLst>
          </p:cNvPr>
          <p:cNvCxnSpPr>
            <a:cxnSpLocks/>
          </p:cNvCxnSpPr>
          <p:nvPr/>
        </p:nvCxnSpPr>
        <p:spPr>
          <a:xfrm flipV="1">
            <a:off x="7801267" y="2686007"/>
            <a:ext cx="0" cy="664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7AA32956-A6BA-FD0D-D025-9A1B48BDD3FC}"/>
              </a:ext>
            </a:extLst>
          </p:cNvPr>
          <p:cNvSpPr/>
          <p:nvPr/>
        </p:nvSpPr>
        <p:spPr>
          <a:xfrm>
            <a:off x="3287017" y="3153003"/>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Remaining Behavioral features </a:t>
            </a:r>
          </a:p>
        </p:txBody>
      </p:sp>
      <p:sp>
        <p:nvSpPr>
          <p:cNvPr id="31" name="Rounded Rectangle 30">
            <a:extLst>
              <a:ext uri="{FF2B5EF4-FFF2-40B4-BE49-F238E27FC236}">
                <a16:creationId xmlns:a16="http://schemas.microsoft.com/office/drawing/2014/main" id="{93373B87-6FD2-BF3A-FD9A-87383A447DAD}"/>
              </a:ext>
            </a:extLst>
          </p:cNvPr>
          <p:cNvSpPr/>
          <p:nvPr/>
        </p:nvSpPr>
        <p:spPr>
          <a:xfrm>
            <a:off x="3287017" y="2194682"/>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RFM based features </a:t>
            </a:r>
          </a:p>
        </p:txBody>
      </p:sp>
      <p:cxnSp>
        <p:nvCxnSpPr>
          <p:cNvPr id="32" name="Straight Arrow Connector 31">
            <a:extLst>
              <a:ext uri="{FF2B5EF4-FFF2-40B4-BE49-F238E27FC236}">
                <a16:creationId xmlns:a16="http://schemas.microsoft.com/office/drawing/2014/main" id="{75FF8BF0-8260-9182-BE1D-65F00595C00E}"/>
              </a:ext>
            </a:extLst>
          </p:cNvPr>
          <p:cNvCxnSpPr>
            <a:cxnSpLocks/>
          </p:cNvCxnSpPr>
          <p:nvPr/>
        </p:nvCxnSpPr>
        <p:spPr>
          <a:xfrm flipH="1">
            <a:off x="4785776" y="2705252"/>
            <a:ext cx="372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D564686-9E57-B0A0-883C-4AF06864E8F0}"/>
              </a:ext>
            </a:extLst>
          </p:cNvPr>
          <p:cNvCxnSpPr>
            <a:cxnSpLocks/>
          </p:cNvCxnSpPr>
          <p:nvPr/>
        </p:nvCxnSpPr>
        <p:spPr>
          <a:xfrm flipH="1">
            <a:off x="4792945" y="3369264"/>
            <a:ext cx="372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564C621-21F7-0975-4950-A6F9A604666F}"/>
              </a:ext>
            </a:extLst>
          </p:cNvPr>
          <p:cNvCxnSpPr/>
          <p:nvPr/>
        </p:nvCxnSpPr>
        <p:spPr>
          <a:xfrm>
            <a:off x="5165101" y="3081835"/>
            <a:ext cx="558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69C0B17-14E2-C3D3-356A-29D100DB6B47}"/>
              </a:ext>
            </a:extLst>
          </p:cNvPr>
          <p:cNvCxnSpPr>
            <a:cxnSpLocks/>
          </p:cNvCxnSpPr>
          <p:nvPr/>
        </p:nvCxnSpPr>
        <p:spPr>
          <a:xfrm flipV="1">
            <a:off x="5165101" y="2705252"/>
            <a:ext cx="0" cy="664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42CF61AD-5464-ED9D-E4CF-07905A26340F}"/>
              </a:ext>
            </a:extLst>
          </p:cNvPr>
          <p:cNvSpPr/>
          <p:nvPr/>
        </p:nvSpPr>
        <p:spPr>
          <a:xfrm>
            <a:off x="5731070" y="2588382"/>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a:solidFill>
                  <a:schemeClr val="bg1"/>
                </a:solidFill>
              </a:rPr>
              <a:t>Stratified Train and Test Split (80 and 20)</a:t>
            </a:r>
          </a:p>
        </p:txBody>
      </p:sp>
      <p:cxnSp>
        <p:nvCxnSpPr>
          <p:cNvPr id="42" name="Straight Connector 41">
            <a:extLst>
              <a:ext uri="{FF2B5EF4-FFF2-40B4-BE49-F238E27FC236}">
                <a16:creationId xmlns:a16="http://schemas.microsoft.com/office/drawing/2014/main" id="{CC87B064-BC7D-129F-64A9-6862FDC670B3}"/>
              </a:ext>
            </a:extLst>
          </p:cNvPr>
          <p:cNvCxnSpPr/>
          <p:nvPr/>
        </p:nvCxnSpPr>
        <p:spPr>
          <a:xfrm>
            <a:off x="2190837" y="2942229"/>
            <a:ext cx="558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DAA58EA-E260-14FD-9B7B-7044AB4FAA3A}"/>
              </a:ext>
            </a:extLst>
          </p:cNvPr>
          <p:cNvCxnSpPr>
            <a:cxnSpLocks/>
          </p:cNvCxnSpPr>
          <p:nvPr/>
        </p:nvCxnSpPr>
        <p:spPr>
          <a:xfrm>
            <a:off x="2755157" y="2617549"/>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7224D67-A079-489E-625B-DEADFB1F2207}"/>
              </a:ext>
            </a:extLst>
          </p:cNvPr>
          <p:cNvCxnSpPr>
            <a:cxnSpLocks/>
          </p:cNvCxnSpPr>
          <p:nvPr/>
        </p:nvCxnSpPr>
        <p:spPr>
          <a:xfrm>
            <a:off x="2763987" y="3276041"/>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3C02C46-8DE9-4110-AAEC-3AA7CDA17124}"/>
              </a:ext>
            </a:extLst>
          </p:cNvPr>
          <p:cNvCxnSpPr>
            <a:cxnSpLocks/>
          </p:cNvCxnSpPr>
          <p:nvPr/>
        </p:nvCxnSpPr>
        <p:spPr>
          <a:xfrm flipV="1">
            <a:off x="2759575" y="2615894"/>
            <a:ext cx="0" cy="664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D8F409CC-35B7-7A14-7E2A-B835BEBD4E55}"/>
              </a:ext>
            </a:extLst>
          </p:cNvPr>
          <p:cNvSpPr/>
          <p:nvPr/>
        </p:nvSpPr>
        <p:spPr>
          <a:xfrm>
            <a:off x="8437426" y="3154808"/>
            <a:ext cx="1815851"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err="1">
                <a:solidFill>
                  <a:schemeClr val="bg1"/>
                </a:solidFill>
              </a:rPr>
              <a:t>StandardScaler.transform</a:t>
            </a:r>
            <a:r>
              <a:rPr lang="en-US">
                <a:solidFill>
                  <a:schemeClr val="bg1"/>
                </a:solidFill>
              </a:rPr>
              <a:t>()</a:t>
            </a:r>
          </a:p>
          <a:p>
            <a:pPr algn="ctr"/>
            <a:r>
              <a:rPr lang="en-US" err="1">
                <a:solidFill>
                  <a:schemeClr val="bg1"/>
                </a:solidFill>
              </a:rPr>
              <a:t>X_test_scaled</a:t>
            </a:r>
            <a:endParaRPr lang="en-US">
              <a:solidFill>
                <a:schemeClr val="bg1"/>
              </a:solidFill>
            </a:endParaRPr>
          </a:p>
        </p:txBody>
      </p:sp>
      <p:sp>
        <p:nvSpPr>
          <p:cNvPr id="47" name="Rounded Rectangle 46">
            <a:extLst>
              <a:ext uri="{FF2B5EF4-FFF2-40B4-BE49-F238E27FC236}">
                <a16:creationId xmlns:a16="http://schemas.microsoft.com/office/drawing/2014/main" id="{3251FA4C-77E4-A4FC-CD52-B16FAFF1740F}"/>
              </a:ext>
            </a:extLst>
          </p:cNvPr>
          <p:cNvSpPr/>
          <p:nvPr/>
        </p:nvSpPr>
        <p:spPr>
          <a:xfrm>
            <a:off x="8437427" y="2196487"/>
            <a:ext cx="181585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err="1">
                <a:solidFill>
                  <a:schemeClr val="bg1"/>
                </a:solidFill>
              </a:rPr>
              <a:t>StandardScaler.fit</a:t>
            </a:r>
            <a:r>
              <a:rPr lang="en-US">
                <a:solidFill>
                  <a:schemeClr val="bg1"/>
                </a:solidFill>
              </a:rPr>
              <a:t>()</a:t>
            </a:r>
            <a:br>
              <a:rPr lang="en-US">
                <a:solidFill>
                  <a:schemeClr val="bg1"/>
                </a:solidFill>
              </a:rPr>
            </a:br>
            <a:r>
              <a:rPr lang="en-US" err="1">
                <a:solidFill>
                  <a:schemeClr val="bg1"/>
                </a:solidFill>
              </a:rPr>
              <a:t>X_train_scaled</a:t>
            </a:r>
            <a:r>
              <a:rPr lang="en-US">
                <a:solidFill>
                  <a:schemeClr val="bg1"/>
                </a:solidFill>
              </a:rPr>
              <a:t> </a:t>
            </a:r>
          </a:p>
        </p:txBody>
      </p:sp>
      <p:sp>
        <p:nvSpPr>
          <p:cNvPr id="50" name="Rounded Rectangle 49">
            <a:extLst>
              <a:ext uri="{FF2B5EF4-FFF2-40B4-BE49-F238E27FC236}">
                <a16:creationId xmlns:a16="http://schemas.microsoft.com/office/drawing/2014/main" id="{D15C71D4-2E95-975A-2E81-FF1A0E32AD63}"/>
              </a:ext>
            </a:extLst>
          </p:cNvPr>
          <p:cNvSpPr/>
          <p:nvPr/>
        </p:nvSpPr>
        <p:spPr>
          <a:xfrm>
            <a:off x="10613036" y="601459"/>
            <a:ext cx="1542486" cy="2930801"/>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lvl="0" defTabSz="914400" eaLnBrk="0" fontAlgn="base" hangingPunct="0">
              <a:spcBef>
                <a:spcPct val="0"/>
              </a:spcBef>
              <a:spcAft>
                <a:spcPct val="0"/>
              </a:spcAft>
            </a:pPr>
            <a:r>
              <a:rPr lang="en-US" altLang="en-US">
                <a:solidFill>
                  <a:schemeClr val="bg1"/>
                </a:solidFill>
              </a:rPr>
              <a:t>CLASS WEIGHTS </a:t>
            </a:r>
            <a:r>
              <a:rPr lang="en-US">
                <a:solidFill>
                  <a:schemeClr val="bg1"/>
                </a:solidFill>
              </a:rPr>
              <a:t>Balanced weights for minority (churned) class applied during training</a:t>
            </a:r>
            <a:endParaRPr lang="en-US" altLang="en-US">
              <a:solidFill>
                <a:schemeClr val="bg1"/>
              </a:solidFill>
            </a:endParaRPr>
          </a:p>
        </p:txBody>
      </p:sp>
      <p:cxnSp>
        <p:nvCxnSpPr>
          <p:cNvPr id="52" name="Straight Arrow Connector 51">
            <a:extLst>
              <a:ext uri="{FF2B5EF4-FFF2-40B4-BE49-F238E27FC236}">
                <a16:creationId xmlns:a16="http://schemas.microsoft.com/office/drawing/2014/main" id="{C2A2284D-C48C-33AB-3A23-F2ED9F5AEF2C}"/>
              </a:ext>
            </a:extLst>
          </p:cNvPr>
          <p:cNvCxnSpPr>
            <a:cxnSpLocks/>
          </p:cNvCxnSpPr>
          <p:nvPr/>
        </p:nvCxnSpPr>
        <p:spPr>
          <a:xfrm flipV="1">
            <a:off x="10298247" y="2615894"/>
            <a:ext cx="314789" cy="18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7FFF011-3C80-2FBF-C82C-04ACCB691D7E}"/>
              </a:ext>
            </a:extLst>
          </p:cNvPr>
          <p:cNvCxnSpPr>
            <a:cxnSpLocks/>
          </p:cNvCxnSpPr>
          <p:nvPr/>
        </p:nvCxnSpPr>
        <p:spPr>
          <a:xfrm>
            <a:off x="9236444" y="3995426"/>
            <a:ext cx="0" cy="41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7BE956C2-F43E-A45B-6B8B-246A125B3768}"/>
              </a:ext>
            </a:extLst>
          </p:cNvPr>
          <p:cNvSpPr/>
          <p:nvPr/>
        </p:nvSpPr>
        <p:spPr>
          <a:xfrm>
            <a:off x="8710790" y="4414346"/>
            <a:ext cx="3444726" cy="1840390"/>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lvl="0" defTabSz="914400" eaLnBrk="0" fontAlgn="base" hangingPunct="0">
              <a:spcBef>
                <a:spcPct val="0"/>
              </a:spcBef>
              <a:spcAft>
                <a:spcPct val="0"/>
              </a:spcAft>
            </a:pPr>
            <a:r>
              <a:rPr lang="en-US" altLang="en-US">
                <a:solidFill>
                  <a:schemeClr val="bg1"/>
                </a:solidFill>
              </a:rPr>
              <a:t>Created 3 test Scenarios </a:t>
            </a:r>
            <a:br>
              <a:rPr lang="en-US" altLang="en-US">
                <a:solidFill>
                  <a:schemeClr val="bg1"/>
                </a:solidFill>
              </a:rPr>
            </a:br>
            <a:r>
              <a:rPr lang="en-US" altLang="en-US">
                <a:solidFill>
                  <a:schemeClr val="bg1"/>
                </a:solidFill>
              </a:rPr>
              <a:t>1. Clean Original data</a:t>
            </a:r>
          </a:p>
          <a:p>
            <a:pPr lvl="0" defTabSz="914400" eaLnBrk="0" fontAlgn="base" hangingPunct="0">
              <a:spcBef>
                <a:spcPct val="0"/>
              </a:spcBef>
              <a:spcAft>
                <a:spcPct val="0"/>
              </a:spcAft>
            </a:pPr>
            <a:r>
              <a:rPr lang="en-US" altLang="en-US">
                <a:solidFill>
                  <a:schemeClr val="bg1"/>
                </a:solidFill>
              </a:rPr>
              <a:t>2. With Outliers (100 with Gaussian Noise Sampler</a:t>
            </a:r>
            <a:br>
              <a:rPr lang="en-US" altLang="en-US">
                <a:solidFill>
                  <a:schemeClr val="bg1"/>
                </a:solidFill>
              </a:rPr>
            </a:br>
            <a:r>
              <a:rPr lang="en-US" altLang="en-US">
                <a:solidFill>
                  <a:schemeClr val="bg1"/>
                </a:solidFill>
              </a:rPr>
              <a:t>3. After removal of outliers using KNN</a:t>
            </a:r>
          </a:p>
        </p:txBody>
      </p:sp>
      <p:sp>
        <p:nvSpPr>
          <p:cNvPr id="62" name="Rounded Rectangle 61">
            <a:extLst>
              <a:ext uri="{FF2B5EF4-FFF2-40B4-BE49-F238E27FC236}">
                <a16:creationId xmlns:a16="http://schemas.microsoft.com/office/drawing/2014/main" id="{F2A51E0F-7095-50AD-3077-6056178708FB}"/>
              </a:ext>
            </a:extLst>
          </p:cNvPr>
          <p:cNvSpPr/>
          <p:nvPr/>
        </p:nvSpPr>
        <p:spPr>
          <a:xfrm>
            <a:off x="4577772" y="4381718"/>
            <a:ext cx="3444726" cy="1840390"/>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lvl="0" defTabSz="914400" eaLnBrk="0" fontAlgn="base" hangingPunct="0">
              <a:spcBef>
                <a:spcPct val="0"/>
              </a:spcBef>
              <a:spcAft>
                <a:spcPct val="0"/>
              </a:spcAft>
            </a:pPr>
            <a:r>
              <a:rPr lang="en-US" altLang="en-US">
                <a:solidFill>
                  <a:schemeClr val="bg1"/>
                </a:solidFill>
              </a:rPr>
              <a:t>Outlier Detection using KNN </a:t>
            </a:r>
            <a:br>
              <a:rPr lang="en-US" altLang="en-US">
                <a:solidFill>
                  <a:schemeClr val="bg1"/>
                </a:solidFill>
              </a:rPr>
            </a:br>
            <a:r>
              <a:rPr lang="en-US" altLang="en-US">
                <a:solidFill>
                  <a:schemeClr val="bg1"/>
                </a:solidFill>
              </a:rPr>
              <a:t>Threshold: Mean + 2 STD of neighbor distances </a:t>
            </a:r>
            <a:br>
              <a:rPr lang="en-US" altLang="en-US">
                <a:solidFill>
                  <a:schemeClr val="bg1"/>
                </a:solidFill>
              </a:rPr>
            </a:br>
            <a:r>
              <a:rPr lang="en-US" altLang="en-US">
                <a:solidFill>
                  <a:schemeClr val="bg1"/>
                </a:solidFill>
              </a:rPr>
              <a:t>Identified and removed ODD Samples </a:t>
            </a:r>
          </a:p>
        </p:txBody>
      </p:sp>
      <p:sp>
        <p:nvSpPr>
          <p:cNvPr id="63" name="Rounded Rectangle 62">
            <a:extLst>
              <a:ext uri="{FF2B5EF4-FFF2-40B4-BE49-F238E27FC236}">
                <a16:creationId xmlns:a16="http://schemas.microsoft.com/office/drawing/2014/main" id="{0D7DEF9F-637C-301C-2FC0-5505CC4C9C90}"/>
              </a:ext>
            </a:extLst>
          </p:cNvPr>
          <p:cNvSpPr/>
          <p:nvPr/>
        </p:nvSpPr>
        <p:spPr>
          <a:xfrm>
            <a:off x="816760" y="4433702"/>
            <a:ext cx="3072716" cy="1840390"/>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lvl="0" defTabSz="914400" eaLnBrk="0" fontAlgn="base" hangingPunct="0">
              <a:spcBef>
                <a:spcPct val="0"/>
              </a:spcBef>
              <a:spcAft>
                <a:spcPct val="0"/>
              </a:spcAft>
            </a:pPr>
            <a:r>
              <a:rPr lang="en-US" altLang="en-US">
                <a:solidFill>
                  <a:schemeClr val="bg1"/>
                </a:solidFill>
              </a:rPr>
              <a:t>Data Ready for next Stage </a:t>
            </a:r>
            <a:br>
              <a:rPr lang="en-US" altLang="en-US">
                <a:solidFill>
                  <a:schemeClr val="bg1"/>
                </a:solidFill>
              </a:rPr>
            </a:br>
            <a:r>
              <a:rPr lang="en-US" altLang="en-US">
                <a:solidFill>
                  <a:schemeClr val="bg1"/>
                </a:solidFill>
              </a:rPr>
              <a:t>1. Feature Selection </a:t>
            </a:r>
            <a:br>
              <a:rPr lang="en-US" altLang="en-US">
                <a:solidFill>
                  <a:schemeClr val="bg1"/>
                </a:solidFill>
              </a:rPr>
            </a:br>
            <a:r>
              <a:rPr lang="en-US" altLang="en-US">
                <a:solidFill>
                  <a:schemeClr val="bg1"/>
                </a:solidFill>
              </a:rPr>
              <a:t>2. Model Training and Evaluation </a:t>
            </a:r>
          </a:p>
        </p:txBody>
      </p:sp>
      <p:cxnSp>
        <p:nvCxnSpPr>
          <p:cNvPr id="64" name="Straight Arrow Connector 63">
            <a:extLst>
              <a:ext uri="{FF2B5EF4-FFF2-40B4-BE49-F238E27FC236}">
                <a16:creationId xmlns:a16="http://schemas.microsoft.com/office/drawing/2014/main" id="{D60DB010-B5E2-C325-D1D2-CEB28D044DB2}"/>
              </a:ext>
            </a:extLst>
          </p:cNvPr>
          <p:cNvCxnSpPr>
            <a:cxnSpLocks/>
          </p:cNvCxnSpPr>
          <p:nvPr/>
        </p:nvCxnSpPr>
        <p:spPr>
          <a:xfrm flipH="1">
            <a:off x="8079081" y="5301913"/>
            <a:ext cx="358345"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0F47194-D882-42E5-2D0D-336D4089919C}"/>
              </a:ext>
            </a:extLst>
          </p:cNvPr>
          <p:cNvCxnSpPr>
            <a:cxnSpLocks/>
          </p:cNvCxnSpPr>
          <p:nvPr/>
        </p:nvCxnSpPr>
        <p:spPr>
          <a:xfrm flipH="1">
            <a:off x="4066614" y="5319312"/>
            <a:ext cx="358345"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492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B54AA-EFB4-8804-6AC1-4B35EF85AB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7EDA66-4095-5135-C73B-E5D865796C19}"/>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B40C60CD-537B-0660-A332-CA68A90186FD}"/>
              </a:ext>
            </a:extLst>
          </p:cNvPr>
          <p:cNvSpPr txBox="1">
            <a:spLocks/>
          </p:cNvSpPr>
          <p:nvPr/>
        </p:nvSpPr>
        <p:spPr>
          <a:xfrm>
            <a:off x="684324" y="232127"/>
            <a:ext cx="10678220"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Feature Selection Refinement and Refinement Journey</a:t>
            </a:r>
            <a:endParaRPr lang="en-US"/>
          </a:p>
        </p:txBody>
      </p:sp>
      <p:sp>
        <p:nvSpPr>
          <p:cNvPr id="9" name="Rounded Rectangle 8">
            <a:extLst>
              <a:ext uri="{FF2B5EF4-FFF2-40B4-BE49-F238E27FC236}">
                <a16:creationId xmlns:a16="http://schemas.microsoft.com/office/drawing/2014/main" id="{29E90C15-DB2F-B555-E7EE-AB6073BC957C}"/>
              </a:ext>
            </a:extLst>
          </p:cNvPr>
          <p:cNvSpPr/>
          <p:nvPr/>
        </p:nvSpPr>
        <p:spPr>
          <a:xfrm>
            <a:off x="716629" y="913448"/>
            <a:ext cx="1943100" cy="5830392"/>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Feature Selection</a:t>
            </a:r>
          </a:p>
        </p:txBody>
      </p:sp>
      <p:sp>
        <p:nvSpPr>
          <p:cNvPr id="15" name="Rounded Rectangle 14">
            <a:extLst>
              <a:ext uri="{FF2B5EF4-FFF2-40B4-BE49-F238E27FC236}">
                <a16:creationId xmlns:a16="http://schemas.microsoft.com/office/drawing/2014/main" id="{4619AF90-D5D1-7757-1335-1EC66A73FD41}"/>
              </a:ext>
            </a:extLst>
          </p:cNvPr>
          <p:cNvSpPr/>
          <p:nvPr/>
        </p:nvSpPr>
        <p:spPr>
          <a:xfrm>
            <a:off x="9922558" y="881188"/>
            <a:ext cx="1958302" cy="4755114"/>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For all these methods across all models the accuracy was between 70%  to 75%</a:t>
            </a:r>
          </a:p>
        </p:txBody>
      </p:sp>
      <p:sp>
        <p:nvSpPr>
          <p:cNvPr id="16" name="Rectangle 15">
            <a:extLst>
              <a:ext uri="{FF2B5EF4-FFF2-40B4-BE49-F238E27FC236}">
                <a16:creationId xmlns:a16="http://schemas.microsoft.com/office/drawing/2014/main" id="{F7955AFE-9ED6-F40D-8301-15A595E00B5D}"/>
              </a:ext>
            </a:extLst>
          </p:cNvPr>
          <p:cNvSpPr/>
          <p:nvPr/>
        </p:nvSpPr>
        <p:spPr>
          <a:xfrm>
            <a:off x="7307704" y="1019331"/>
            <a:ext cx="1767499" cy="5724509"/>
          </a:xfrm>
          <a:prstGeom prst="rect">
            <a:avLst/>
          </a:prstGeom>
          <a:solidFill>
            <a:schemeClr val="bg2"/>
          </a:solidFill>
          <a:ln>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itchFamily="2" charset="2"/>
              <a:buChar char="v"/>
            </a:pPr>
            <a:r>
              <a:rPr lang="en-US">
                <a:solidFill>
                  <a:schemeClr val="tx1"/>
                </a:solidFill>
              </a:rPr>
              <a:t>Logistic Regression</a:t>
            </a:r>
          </a:p>
          <a:p>
            <a:pPr marL="342900" indent="-342900">
              <a:buFont typeface="Wingdings" pitchFamily="2" charset="2"/>
              <a:buChar char="v"/>
            </a:pPr>
            <a:r>
              <a:rPr lang="en-US">
                <a:solidFill>
                  <a:schemeClr val="tx1"/>
                </a:solidFill>
              </a:rPr>
              <a:t>Logistic Regression with SMOTE</a:t>
            </a:r>
          </a:p>
          <a:p>
            <a:pPr marL="342900" indent="-342900">
              <a:buFont typeface="Wingdings" pitchFamily="2" charset="2"/>
              <a:buChar char="v"/>
            </a:pPr>
            <a:r>
              <a:rPr lang="en-US">
                <a:solidFill>
                  <a:schemeClr val="tx1"/>
                </a:solidFill>
              </a:rPr>
              <a:t>SVM</a:t>
            </a:r>
          </a:p>
          <a:p>
            <a:pPr marL="342900" indent="-342900">
              <a:buFont typeface="Wingdings" pitchFamily="2" charset="2"/>
              <a:buChar char="v"/>
            </a:pPr>
            <a:r>
              <a:rPr lang="en-US">
                <a:solidFill>
                  <a:schemeClr val="tx1"/>
                </a:solidFill>
              </a:rPr>
              <a:t>Random Forest</a:t>
            </a:r>
          </a:p>
        </p:txBody>
      </p:sp>
      <p:pic>
        <p:nvPicPr>
          <p:cNvPr id="18" name="Graphic 17" descr="Chevron arrows outline">
            <a:extLst>
              <a:ext uri="{FF2B5EF4-FFF2-40B4-BE49-F238E27FC236}">
                <a16:creationId xmlns:a16="http://schemas.microsoft.com/office/drawing/2014/main" id="{34A4E9CF-AACA-AFE9-C6B3-1F4091C933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15790" y="3678244"/>
            <a:ext cx="914400" cy="914400"/>
          </a:xfrm>
          <a:prstGeom prst="rect">
            <a:avLst/>
          </a:prstGeom>
        </p:spPr>
      </p:pic>
      <p:pic>
        <p:nvPicPr>
          <p:cNvPr id="19" name="Graphic 18" descr="Chevron arrows outline">
            <a:extLst>
              <a:ext uri="{FF2B5EF4-FFF2-40B4-BE49-F238E27FC236}">
                <a16:creationId xmlns:a16="http://schemas.microsoft.com/office/drawing/2014/main" id="{0D7AB3AB-859C-BF39-F79D-95BD150D41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3432" y="3810263"/>
            <a:ext cx="914400" cy="914400"/>
          </a:xfrm>
          <a:prstGeom prst="rect">
            <a:avLst/>
          </a:prstGeom>
        </p:spPr>
      </p:pic>
      <p:pic>
        <p:nvPicPr>
          <p:cNvPr id="20" name="Graphic 19" descr="Chevron arrows outline">
            <a:extLst>
              <a:ext uri="{FF2B5EF4-FFF2-40B4-BE49-F238E27FC236}">
                <a16:creationId xmlns:a16="http://schemas.microsoft.com/office/drawing/2014/main" id="{9DB01DEA-FCDC-387F-1B17-49AF4839A7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52717" y="3678244"/>
            <a:ext cx="914400" cy="914400"/>
          </a:xfrm>
          <a:prstGeom prst="rect">
            <a:avLst/>
          </a:prstGeom>
        </p:spPr>
      </p:pic>
      <p:sp>
        <p:nvSpPr>
          <p:cNvPr id="21" name="Rounded Rectangle 20">
            <a:extLst>
              <a:ext uri="{FF2B5EF4-FFF2-40B4-BE49-F238E27FC236}">
                <a16:creationId xmlns:a16="http://schemas.microsoft.com/office/drawing/2014/main" id="{2CCF2688-7919-9108-63F5-EEBC6012DCD5}"/>
              </a:ext>
            </a:extLst>
          </p:cNvPr>
          <p:cNvSpPr/>
          <p:nvPr/>
        </p:nvSpPr>
        <p:spPr>
          <a:xfrm>
            <a:off x="3727832" y="2892576"/>
            <a:ext cx="2687958" cy="767028"/>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Using the Logistic Regression Equation to Assign weightage to RFM metrics </a:t>
            </a:r>
          </a:p>
        </p:txBody>
      </p:sp>
      <p:sp>
        <p:nvSpPr>
          <p:cNvPr id="22" name="Rounded Rectangle 21">
            <a:extLst>
              <a:ext uri="{FF2B5EF4-FFF2-40B4-BE49-F238E27FC236}">
                <a16:creationId xmlns:a16="http://schemas.microsoft.com/office/drawing/2014/main" id="{D6081947-B0CB-836A-CBBE-95EFEDF18085}"/>
              </a:ext>
            </a:extLst>
          </p:cNvPr>
          <p:cNvSpPr/>
          <p:nvPr/>
        </p:nvSpPr>
        <p:spPr>
          <a:xfrm>
            <a:off x="3727832" y="913447"/>
            <a:ext cx="2687958" cy="767028"/>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Only Using the RFM metrics (~9 Metrics)</a:t>
            </a:r>
          </a:p>
        </p:txBody>
      </p:sp>
      <p:sp>
        <p:nvSpPr>
          <p:cNvPr id="23" name="Rounded Rectangle 22">
            <a:extLst>
              <a:ext uri="{FF2B5EF4-FFF2-40B4-BE49-F238E27FC236}">
                <a16:creationId xmlns:a16="http://schemas.microsoft.com/office/drawing/2014/main" id="{E99EC369-B023-23DE-FF20-743523EB8486}"/>
              </a:ext>
            </a:extLst>
          </p:cNvPr>
          <p:cNvSpPr/>
          <p:nvPr/>
        </p:nvSpPr>
        <p:spPr>
          <a:xfrm>
            <a:off x="3756376" y="1903011"/>
            <a:ext cx="2687958" cy="767028"/>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Assigning Equal Weightage to all RFM Metrics</a:t>
            </a:r>
          </a:p>
        </p:txBody>
      </p:sp>
      <p:sp>
        <p:nvSpPr>
          <p:cNvPr id="24" name="Rounded Rectangle 23">
            <a:extLst>
              <a:ext uri="{FF2B5EF4-FFF2-40B4-BE49-F238E27FC236}">
                <a16:creationId xmlns:a16="http://schemas.microsoft.com/office/drawing/2014/main" id="{42D33099-35F0-AB38-C9A0-202DF8FEA87C}"/>
              </a:ext>
            </a:extLst>
          </p:cNvPr>
          <p:cNvSpPr/>
          <p:nvPr/>
        </p:nvSpPr>
        <p:spPr>
          <a:xfrm>
            <a:off x="3756376" y="3946029"/>
            <a:ext cx="2687958" cy="767028"/>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Considering Filtering Technique all on RFM metrics </a:t>
            </a:r>
          </a:p>
        </p:txBody>
      </p:sp>
      <p:sp>
        <p:nvSpPr>
          <p:cNvPr id="25" name="Rounded Rectangle 24">
            <a:extLst>
              <a:ext uri="{FF2B5EF4-FFF2-40B4-BE49-F238E27FC236}">
                <a16:creationId xmlns:a16="http://schemas.microsoft.com/office/drawing/2014/main" id="{C6415654-54C8-3605-4D27-2B7803CE08EE}"/>
              </a:ext>
            </a:extLst>
          </p:cNvPr>
          <p:cNvSpPr/>
          <p:nvPr/>
        </p:nvSpPr>
        <p:spPr>
          <a:xfrm>
            <a:off x="3800936" y="5006483"/>
            <a:ext cx="2687958" cy="767028"/>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Wrapping the RFM related metrics</a:t>
            </a:r>
          </a:p>
        </p:txBody>
      </p:sp>
      <p:sp>
        <p:nvSpPr>
          <p:cNvPr id="26" name="Rounded Rectangle 25">
            <a:extLst>
              <a:ext uri="{FF2B5EF4-FFF2-40B4-BE49-F238E27FC236}">
                <a16:creationId xmlns:a16="http://schemas.microsoft.com/office/drawing/2014/main" id="{7C82D015-1715-160F-7456-DE091C005884}"/>
              </a:ext>
            </a:extLst>
          </p:cNvPr>
          <p:cNvSpPr/>
          <p:nvPr/>
        </p:nvSpPr>
        <p:spPr>
          <a:xfrm>
            <a:off x="3800936" y="6066937"/>
            <a:ext cx="2687958" cy="767028"/>
          </a:xfrm>
          <a:prstGeom prst="roundRect">
            <a:avLst/>
          </a:prstGeom>
          <a:solidFill>
            <a:schemeClr val="bg1">
              <a:lumMod val="5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Wrapping on all metrics </a:t>
            </a:r>
          </a:p>
        </p:txBody>
      </p:sp>
      <p:sp>
        <p:nvSpPr>
          <p:cNvPr id="27" name="Rounded Rectangle 26">
            <a:extLst>
              <a:ext uri="{FF2B5EF4-FFF2-40B4-BE49-F238E27FC236}">
                <a16:creationId xmlns:a16="http://schemas.microsoft.com/office/drawing/2014/main" id="{CA3A87E0-7AD5-4AEF-5953-24AE21A01C71}"/>
              </a:ext>
            </a:extLst>
          </p:cNvPr>
          <p:cNvSpPr/>
          <p:nvPr/>
        </p:nvSpPr>
        <p:spPr>
          <a:xfrm>
            <a:off x="9394766" y="5976812"/>
            <a:ext cx="2687958" cy="767028"/>
          </a:xfrm>
          <a:prstGeom prst="roundRect">
            <a:avLst/>
          </a:prstGeom>
          <a:solidFill>
            <a:schemeClr val="bg1">
              <a:lumMod val="5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Next Slide for Results</a:t>
            </a:r>
          </a:p>
        </p:txBody>
      </p:sp>
    </p:spTree>
    <p:extLst>
      <p:ext uri="{BB962C8B-B14F-4D97-AF65-F5344CB8AC3E}">
        <p14:creationId xmlns:p14="http://schemas.microsoft.com/office/powerpoint/2010/main" val="175787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DE0A9-7D57-50E5-92E6-37F400288F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FE0752-7229-C8D1-AF0B-E432A201A07E}"/>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0CDC4669-3A47-3152-2F75-C582E90379A7}"/>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Final Modelling Pipeline </a:t>
            </a:r>
            <a:endParaRPr lang="en-US"/>
          </a:p>
        </p:txBody>
      </p:sp>
      <p:sp>
        <p:nvSpPr>
          <p:cNvPr id="4" name="Rounded Rectangle 3">
            <a:extLst>
              <a:ext uri="{FF2B5EF4-FFF2-40B4-BE49-F238E27FC236}">
                <a16:creationId xmlns:a16="http://schemas.microsoft.com/office/drawing/2014/main" id="{7830149B-6994-39B5-E74C-E04E7151ED59}"/>
              </a:ext>
            </a:extLst>
          </p:cNvPr>
          <p:cNvSpPr/>
          <p:nvPr/>
        </p:nvSpPr>
        <p:spPr>
          <a:xfrm>
            <a:off x="820802" y="1140561"/>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Data Level </a:t>
            </a:r>
          </a:p>
        </p:txBody>
      </p:sp>
      <p:sp>
        <p:nvSpPr>
          <p:cNvPr id="5" name="Rounded Rectangle 4">
            <a:extLst>
              <a:ext uri="{FF2B5EF4-FFF2-40B4-BE49-F238E27FC236}">
                <a16:creationId xmlns:a16="http://schemas.microsoft.com/office/drawing/2014/main" id="{7346D28D-2E93-A1D6-D225-F9DECDC944BA}"/>
              </a:ext>
            </a:extLst>
          </p:cNvPr>
          <p:cNvSpPr/>
          <p:nvPr/>
        </p:nvSpPr>
        <p:spPr>
          <a:xfrm>
            <a:off x="2786299" y="1127894"/>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Feature Selection</a:t>
            </a:r>
          </a:p>
        </p:txBody>
      </p:sp>
      <p:sp>
        <p:nvSpPr>
          <p:cNvPr id="6" name="Rounded Rectangle 5">
            <a:extLst>
              <a:ext uri="{FF2B5EF4-FFF2-40B4-BE49-F238E27FC236}">
                <a16:creationId xmlns:a16="http://schemas.microsoft.com/office/drawing/2014/main" id="{775DCF24-A30D-A2C1-402A-33D28B43DD13}"/>
              </a:ext>
            </a:extLst>
          </p:cNvPr>
          <p:cNvSpPr/>
          <p:nvPr/>
        </p:nvSpPr>
        <p:spPr>
          <a:xfrm>
            <a:off x="4888274" y="1127893"/>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Scaling &amp; Imbalance Handling</a:t>
            </a:r>
          </a:p>
        </p:txBody>
      </p:sp>
      <p:sp>
        <p:nvSpPr>
          <p:cNvPr id="7" name="Rounded Rectangle 6">
            <a:extLst>
              <a:ext uri="{FF2B5EF4-FFF2-40B4-BE49-F238E27FC236}">
                <a16:creationId xmlns:a16="http://schemas.microsoft.com/office/drawing/2014/main" id="{6B9F9E2D-9AE2-7E98-F12F-ABF9E82966FB}"/>
              </a:ext>
            </a:extLst>
          </p:cNvPr>
          <p:cNvSpPr/>
          <p:nvPr/>
        </p:nvSpPr>
        <p:spPr>
          <a:xfrm>
            <a:off x="6990249" y="1127892"/>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OOD/ Outlier Handling </a:t>
            </a:r>
          </a:p>
        </p:txBody>
      </p:sp>
      <p:sp>
        <p:nvSpPr>
          <p:cNvPr id="8" name="Rounded Rectangle 7">
            <a:extLst>
              <a:ext uri="{FF2B5EF4-FFF2-40B4-BE49-F238E27FC236}">
                <a16:creationId xmlns:a16="http://schemas.microsoft.com/office/drawing/2014/main" id="{293AFFF8-4E0A-2CC9-5E96-593C84DAB03B}"/>
              </a:ext>
            </a:extLst>
          </p:cNvPr>
          <p:cNvSpPr/>
          <p:nvPr/>
        </p:nvSpPr>
        <p:spPr>
          <a:xfrm>
            <a:off x="8964644" y="1140561"/>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Selected Features ~40</a:t>
            </a:r>
          </a:p>
        </p:txBody>
      </p:sp>
      <p:sp>
        <p:nvSpPr>
          <p:cNvPr id="9" name="Rectangle 8">
            <a:extLst>
              <a:ext uri="{FF2B5EF4-FFF2-40B4-BE49-F238E27FC236}">
                <a16:creationId xmlns:a16="http://schemas.microsoft.com/office/drawing/2014/main" id="{ACD2CB03-8BC0-B38B-E4DB-C91C779377A1}"/>
              </a:ext>
            </a:extLst>
          </p:cNvPr>
          <p:cNvSpPr/>
          <p:nvPr/>
        </p:nvSpPr>
        <p:spPr>
          <a:xfrm>
            <a:off x="10501301" y="434714"/>
            <a:ext cx="1690699" cy="2233535"/>
          </a:xfrm>
          <a:prstGeom prst="rect">
            <a:avLst/>
          </a:prstGeom>
          <a:solidFill>
            <a:schemeClr val="bg2"/>
          </a:solidFill>
          <a:ln>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itchFamily="2" charset="2"/>
              <a:buChar char="v"/>
            </a:pPr>
            <a:r>
              <a:rPr lang="en-US">
                <a:solidFill>
                  <a:schemeClr val="tx1"/>
                </a:solidFill>
              </a:rPr>
              <a:t>Recency</a:t>
            </a:r>
          </a:p>
          <a:p>
            <a:pPr marL="342900" indent="-342900">
              <a:buFont typeface="Wingdings" pitchFamily="2" charset="2"/>
              <a:buChar char="v"/>
            </a:pPr>
            <a:r>
              <a:rPr lang="en-US">
                <a:solidFill>
                  <a:schemeClr val="tx1"/>
                </a:solidFill>
              </a:rPr>
              <a:t>Frequency </a:t>
            </a:r>
          </a:p>
          <a:p>
            <a:pPr marL="342900" indent="-342900">
              <a:buFont typeface="Wingdings" pitchFamily="2" charset="2"/>
              <a:buChar char="v"/>
            </a:pPr>
            <a:r>
              <a:rPr lang="en-US">
                <a:solidFill>
                  <a:schemeClr val="tx1"/>
                </a:solidFill>
              </a:rPr>
              <a:t>Monetary </a:t>
            </a:r>
          </a:p>
          <a:p>
            <a:pPr marL="342900" indent="-342900">
              <a:buFont typeface="Wingdings" pitchFamily="2" charset="2"/>
              <a:buChar char="v"/>
            </a:pPr>
            <a:r>
              <a:rPr lang="en-US">
                <a:solidFill>
                  <a:schemeClr val="tx1"/>
                </a:solidFill>
              </a:rPr>
              <a:t>Target Period </a:t>
            </a:r>
          </a:p>
          <a:p>
            <a:pPr marL="342900" indent="-342900">
              <a:buFont typeface="Wingdings" pitchFamily="2" charset="2"/>
              <a:buChar char="v"/>
            </a:pPr>
            <a:r>
              <a:rPr lang="en-US">
                <a:solidFill>
                  <a:schemeClr val="tx1"/>
                </a:solidFill>
              </a:rPr>
              <a:t>Session </a:t>
            </a:r>
          </a:p>
        </p:txBody>
      </p:sp>
      <p:cxnSp>
        <p:nvCxnSpPr>
          <p:cNvPr id="10" name="Straight Arrow Connector 9">
            <a:extLst>
              <a:ext uri="{FF2B5EF4-FFF2-40B4-BE49-F238E27FC236}">
                <a16:creationId xmlns:a16="http://schemas.microsoft.com/office/drawing/2014/main" id="{82FAB9F6-13C4-85F2-2BD9-8DA772C564B1}"/>
              </a:ext>
            </a:extLst>
          </p:cNvPr>
          <p:cNvCxnSpPr>
            <a:cxnSpLocks/>
          </p:cNvCxnSpPr>
          <p:nvPr/>
        </p:nvCxnSpPr>
        <p:spPr>
          <a:xfrm>
            <a:off x="2305452" y="1592487"/>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586345C-E91C-5728-5984-E5D02ED8F675}"/>
              </a:ext>
            </a:extLst>
          </p:cNvPr>
          <p:cNvCxnSpPr>
            <a:cxnSpLocks/>
          </p:cNvCxnSpPr>
          <p:nvPr/>
        </p:nvCxnSpPr>
        <p:spPr>
          <a:xfrm>
            <a:off x="4361603" y="1565005"/>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731E750-46EA-FB8F-03D6-C42E392D3CE3}"/>
              </a:ext>
            </a:extLst>
          </p:cNvPr>
          <p:cNvCxnSpPr>
            <a:cxnSpLocks/>
          </p:cNvCxnSpPr>
          <p:nvPr/>
        </p:nvCxnSpPr>
        <p:spPr>
          <a:xfrm>
            <a:off x="6460227" y="1561773"/>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171E76E-1A1B-C564-B983-2E957FC2D8B9}"/>
              </a:ext>
            </a:extLst>
          </p:cNvPr>
          <p:cNvCxnSpPr>
            <a:cxnSpLocks/>
          </p:cNvCxnSpPr>
          <p:nvPr/>
        </p:nvCxnSpPr>
        <p:spPr>
          <a:xfrm>
            <a:off x="8573840" y="1568237"/>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CEF67B9B-4534-A3FA-51FA-9B82D871D47D}"/>
              </a:ext>
            </a:extLst>
          </p:cNvPr>
          <p:cNvSpPr/>
          <p:nvPr/>
        </p:nvSpPr>
        <p:spPr>
          <a:xfrm>
            <a:off x="8459258" y="3160187"/>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SVM was chosen</a:t>
            </a:r>
          </a:p>
        </p:txBody>
      </p:sp>
      <p:cxnSp>
        <p:nvCxnSpPr>
          <p:cNvPr id="15" name="Straight Arrow Connector 14">
            <a:extLst>
              <a:ext uri="{FF2B5EF4-FFF2-40B4-BE49-F238E27FC236}">
                <a16:creationId xmlns:a16="http://schemas.microsoft.com/office/drawing/2014/main" id="{A33AF142-ADA4-D392-C84A-EB69E7DD1AEC}"/>
              </a:ext>
            </a:extLst>
          </p:cNvPr>
          <p:cNvCxnSpPr>
            <a:cxnSpLocks/>
          </p:cNvCxnSpPr>
          <p:nvPr/>
        </p:nvCxnSpPr>
        <p:spPr>
          <a:xfrm flipH="1">
            <a:off x="10098184" y="3428999"/>
            <a:ext cx="3262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0088D438-9BF2-1C4B-80C3-CC161A5BCBCF}"/>
              </a:ext>
            </a:extLst>
          </p:cNvPr>
          <p:cNvSpPr/>
          <p:nvPr/>
        </p:nvSpPr>
        <p:spPr>
          <a:xfrm>
            <a:off x="10653701" y="3160188"/>
            <a:ext cx="1409700" cy="842423"/>
          </a:xfrm>
          <a:prstGeom prst="roundRect">
            <a:avLst/>
          </a:prstGeom>
          <a:solidFill>
            <a:schemeClr val="tx1">
              <a:lumMod val="50000"/>
              <a:lumOff val="50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bg1"/>
                </a:solidFill>
              </a:rPr>
              <a:t>After Running Classifiers </a:t>
            </a:r>
          </a:p>
        </p:txBody>
      </p:sp>
      <p:sp>
        <p:nvSpPr>
          <p:cNvPr id="20" name="Rectangle 19">
            <a:extLst>
              <a:ext uri="{FF2B5EF4-FFF2-40B4-BE49-F238E27FC236}">
                <a16:creationId xmlns:a16="http://schemas.microsoft.com/office/drawing/2014/main" id="{28291B73-7A37-F1A6-789C-6C78B89A6E29}"/>
              </a:ext>
            </a:extLst>
          </p:cNvPr>
          <p:cNvSpPr/>
          <p:nvPr/>
        </p:nvSpPr>
        <p:spPr>
          <a:xfrm>
            <a:off x="961506" y="5680043"/>
            <a:ext cx="11077731" cy="842424"/>
          </a:xfrm>
          <a:prstGeom prst="rect">
            <a:avLst/>
          </a:prstGeom>
          <a:solidFill>
            <a:schemeClr val="bg2"/>
          </a:solidFill>
          <a:ln>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Performance is marginally lower than RF/LR but still extremely high; SVM is chosen as the final model to illustrate a strong non-linear classifier.</a:t>
            </a:r>
          </a:p>
        </p:txBody>
      </p:sp>
      <p:sp>
        <p:nvSpPr>
          <p:cNvPr id="21" name="TextBox 20">
            <a:extLst>
              <a:ext uri="{FF2B5EF4-FFF2-40B4-BE49-F238E27FC236}">
                <a16:creationId xmlns:a16="http://schemas.microsoft.com/office/drawing/2014/main" id="{89C050FA-3F94-3A6B-9E16-B6AE96621708}"/>
              </a:ext>
            </a:extLst>
          </p:cNvPr>
          <p:cNvSpPr txBox="1"/>
          <p:nvPr/>
        </p:nvSpPr>
        <p:spPr>
          <a:xfrm>
            <a:off x="911450" y="6488668"/>
            <a:ext cx="6540380" cy="307777"/>
          </a:xfrm>
          <a:prstGeom prst="rect">
            <a:avLst/>
          </a:prstGeom>
          <a:noFill/>
        </p:spPr>
        <p:txBody>
          <a:bodyPr wrap="none" rtlCol="0">
            <a:spAutoFit/>
          </a:bodyPr>
          <a:lstStyle/>
          <a:p>
            <a:r>
              <a:rPr lang="en-US" sz="1400" i="1"/>
              <a:t>Wrapper-based forward selection reduced 275 features to 40 high-impact variables.</a:t>
            </a:r>
          </a:p>
        </p:txBody>
      </p:sp>
      <p:graphicFrame>
        <p:nvGraphicFramePr>
          <p:cNvPr id="24" name="Table 23">
            <a:extLst>
              <a:ext uri="{FF2B5EF4-FFF2-40B4-BE49-F238E27FC236}">
                <a16:creationId xmlns:a16="http://schemas.microsoft.com/office/drawing/2014/main" id="{DE07F203-B490-9C6B-2883-D01DDB49FBBF}"/>
              </a:ext>
            </a:extLst>
          </p:cNvPr>
          <p:cNvGraphicFramePr>
            <a:graphicFrameLocks noGrp="1"/>
          </p:cNvGraphicFramePr>
          <p:nvPr>
            <p:extLst>
              <p:ext uri="{D42A27DB-BD31-4B8C-83A1-F6EECF244321}">
                <p14:modId xmlns:p14="http://schemas.microsoft.com/office/powerpoint/2010/main" val="2471337091"/>
              </p:ext>
            </p:extLst>
          </p:nvPr>
        </p:nvGraphicFramePr>
        <p:xfrm>
          <a:off x="861677" y="2328274"/>
          <a:ext cx="9462893" cy="3316154"/>
        </p:xfrm>
        <a:graphic>
          <a:graphicData uri="http://schemas.openxmlformats.org/drawingml/2006/table">
            <a:tbl>
              <a:tblPr firstRow="1" bandRow="1">
                <a:tableStyleId>{5C22544A-7EE6-4342-B048-85BDC9FD1C3A}</a:tableStyleId>
              </a:tblPr>
              <a:tblGrid>
                <a:gridCol w="1819884">
                  <a:extLst>
                    <a:ext uri="{9D8B030D-6E8A-4147-A177-3AD203B41FA5}">
                      <a16:colId xmlns:a16="http://schemas.microsoft.com/office/drawing/2014/main" val="4200115711"/>
                    </a:ext>
                  </a:extLst>
                </a:gridCol>
                <a:gridCol w="881296">
                  <a:extLst>
                    <a:ext uri="{9D8B030D-6E8A-4147-A177-3AD203B41FA5}">
                      <a16:colId xmlns:a16="http://schemas.microsoft.com/office/drawing/2014/main" val="4019032704"/>
                    </a:ext>
                  </a:extLst>
                </a:gridCol>
                <a:gridCol w="1364104">
                  <a:extLst>
                    <a:ext uri="{9D8B030D-6E8A-4147-A177-3AD203B41FA5}">
                      <a16:colId xmlns:a16="http://schemas.microsoft.com/office/drawing/2014/main" val="530255824"/>
                    </a:ext>
                  </a:extLst>
                </a:gridCol>
                <a:gridCol w="1169233">
                  <a:extLst>
                    <a:ext uri="{9D8B030D-6E8A-4147-A177-3AD203B41FA5}">
                      <a16:colId xmlns:a16="http://schemas.microsoft.com/office/drawing/2014/main" val="4213263759"/>
                    </a:ext>
                  </a:extLst>
                </a:gridCol>
                <a:gridCol w="4228376">
                  <a:extLst>
                    <a:ext uri="{9D8B030D-6E8A-4147-A177-3AD203B41FA5}">
                      <a16:colId xmlns:a16="http://schemas.microsoft.com/office/drawing/2014/main" val="3646590207"/>
                    </a:ext>
                  </a:extLst>
                </a:gridCol>
              </a:tblGrid>
              <a:tr h="800161">
                <a:tc>
                  <a:txBody>
                    <a:bodyPr/>
                    <a:lstStyle/>
                    <a:p>
                      <a:pPr algn="l" fontAlgn="t" latinLnBrk="0">
                        <a:buNone/>
                      </a:pPr>
                      <a:r>
                        <a:rPr lang="en-US" sz="1600" b="0">
                          <a:effectLst/>
                        </a:rPr>
                        <a:t>Model</a:t>
                      </a:r>
                    </a:p>
                  </a:txBody>
                  <a:tcPr/>
                </a:tc>
                <a:tc>
                  <a:txBody>
                    <a:bodyPr/>
                    <a:lstStyle/>
                    <a:p>
                      <a:pPr algn="l" fontAlgn="t" latinLnBrk="0">
                        <a:buNone/>
                      </a:pPr>
                      <a:r>
                        <a:rPr lang="en-US" sz="1600" b="0">
                          <a:effectLst/>
                        </a:rPr>
                        <a:t>In-Dist Acc</a:t>
                      </a:r>
                    </a:p>
                  </a:txBody>
                  <a:tcPr/>
                </a:tc>
                <a:tc>
                  <a:txBody>
                    <a:bodyPr/>
                    <a:lstStyle/>
                    <a:p>
                      <a:pPr algn="l" fontAlgn="t" latinLnBrk="0">
                        <a:buNone/>
                      </a:pPr>
                      <a:r>
                        <a:rPr lang="en-US" sz="1600" b="0">
                          <a:effectLst/>
                        </a:rPr>
                        <a:t>With Outliers Acc</a:t>
                      </a:r>
                    </a:p>
                  </a:txBody>
                  <a:tcPr/>
                </a:tc>
                <a:tc>
                  <a:txBody>
                    <a:bodyPr/>
                    <a:lstStyle/>
                    <a:p>
                      <a:pPr algn="l" fontAlgn="t" latinLnBrk="0">
                        <a:buNone/>
                      </a:pPr>
                      <a:r>
                        <a:rPr lang="en-US" sz="1600" b="0">
                          <a:effectLst/>
                        </a:rPr>
                        <a:t>After Removal Acc</a:t>
                      </a:r>
                    </a:p>
                  </a:txBody>
                  <a:tcPr/>
                </a:tc>
                <a:tc>
                  <a:txBody>
                    <a:bodyPr/>
                    <a:lstStyle/>
                    <a:p>
                      <a:pPr algn="l" fontAlgn="t" latinLnBrk="0">
                        <a:buNone/>
                      </a:pPr>
                      <a:r>
                        <a:rPr lang="en-US" sz="1600" b="0">
                          <a:effectLst/>
                        </a:rPr>
                        <a:t>Recommendation</a:t>
                      </a:r>
                    </a:p>
                  </a:txBody>
                  <a:tcPr/>
                </a:tc>
                <a:extLst>
                  <a:ext uri="{0D108BD9-81ED-4DB2-BD59-A6C34878D82A}">
                    <a16:rowId xmlns:a16="http://schemas.microsoft.com/office/drawing/2014/main" val="2448320090"/>
                  </a:ext>
                </a:extLst>
              </a:tr>
              <a:tr h="647113">
                <a:tc>
                  <a:txBody>
                    <a:bodyPr/>
                    <a:lstStyle/>
                    <a:p>
                      <a:pPr fontAlgn="base" latinLnBrk="0">
                        <a:buNone/>
                      </a:pPr>
                      <a:r>
                        <a:rPr lang="en-US" sz="1600">
                          <a:effectLst/>
                        </a:rPr>
                        <a:t>Logistic Regression</a:t>
                      </a:r>
                    </a:p>
                  </a:txBody>
                  <a:tcPr anchor="ctr"/>
                </a:tc>
                <a:tc>
                  <a:txBody>
                    <a:bodyPr/>
                    <a:lstStyle/>
                    <a:p>
                      <a:pPr fontAlgn="base" latinLnBrk="0">
                        <a:buNone/>
                      </a:pPr>
                      <a:r>
                        <a:rPr lang="en-US" sz="1600">
                          <a:effectLst/>
                        </a:rPr>
                        <a:t>1.0000</a:t>
                      </a:r>
                    </a:p>
                  </a:txBody>
                  <a:tcPr anchor="ctr"/>
                </a:tc>
                <a:tc>
                  <a:txBody>
                    <a:bodyPr/>
                    <a:lstStyle/>
                    <a:p>
                      <a:pPr fontAlgn="base" latinLnBrk="0">
                        <a:buNone/>
                      </a:pPr>
                      <a:r>
                        <a:rPr lang="en-US" sz="1600">
                          <a:effectLst/>
                        </a:rPr>
                        <a:t>0.9921</a:t>
                      </a:r>
                    </a:p>
                  </a:txBody>
                  <a:tcPr anchor="ctr"/>
                </a:tc>
                <a:tc>
                  <a:txBody>
                    <a:bodyPr/>
                    <a:lstStyle/>
                    <a:p>
                      <a:pPr fontAlgn="base" latinLnBrk="0">
                        <a:buNone/>
                      </a:pPr>
                      <a:r>
                        <a:rPr lang="en-US" sz="1600">
                          <a:effectLst/>
                        </a:rPr>
                        <a:t>1.0000</a:t>
                      </a:r>
                    </a:p>
                  </a:txBody>
                  <a:tcPr anchor="ctr"/>
                </a:tc>
                <a:tc>
                  <a:txBody>
                    <a:bodyPr/>
                    <a:lstStyle/>
                    <a:p>
                      <a:pPr fontAlgn="base" latinLnBrk="0">
                        <a:buNone/>
                      </a:pPr>
                      <a:r>
                        <a:rPr lang="en-US" sz="1600">
                          <a:effectLst/>
                        </a:rPr>
                        <a:t>Perfect on clean/removed; slightly weaker with outliers</a:t>
                      </a:r>
                    </a:p>
                  </a:txBody>
                  <a:tcPr anchor="ctr"/>
                </a:tc>
                <a:extLst>
                  <a:ext uri="{0D108BD9-81ED-4DB2-BD59-A6C34878D82A}">
                    <a16:rowId xmlns:a16="http://schemas.microsoft.com/office/drawing/2014/main" val="1689803966"/>
                  </a:ext>
                </a:extLst>
              </a:tr>
              <a:tr h="497779">
                <a:tc>
                  <a:txBody>
                    <a:bodyPr/>
                    <a:lstStyle/>
                    <a:p>
                      <a:pPr fontAlgn="base" latinLnBrk="0">
                        <a:buNone/>
                      </a:pPr>
                      <a:r>
                        <a:rPr lang="en-US" sz="1600">
                          <a:effectLst/>
                        </a:rPr>
                        <a:t>LR + SMOTE</a:t>
                      </a:r>
                    </a:p>
                  </a:txBody>
                  <a:tcPr anchor="ctr"/>
                </a:tc>
                <a:tc>
                  <a:txBody>
                    <a:bodyPr/>
                    <a:lstStyle/>
                    <a:p>
                      <a:pPr fontAlgn="base" latinLnBrk="0">
                        <a:buNone/>
                      </a:pPr>
                      <a:r>
                        <a:rPr lang="en-US" sz="1600">
                          <a:effectLst/>
                        </a:rPr>
                        <a:t>1.0000</a:t>
                      </a:r>
                    </a:p>
                  </a:txBody>
                  <a:tcPr anchor="ctr"/>
                </a:tc>
                <a:tc>
                  <a:txBody>
                    <a:bodyPr/>
                    <a:lstStyle/>
                    <a:p>
                      <a:pPr fontAlgn="base" latinLnBrk="0">
                        <a:buNone/>
                      </a:pPr>
                      <a:r>
                        <a:rPr lang="en-US" sz="1600">
                          <a:effectLst/>
                        </a:rPr>
                        <a:t>0.9921</a:t>
                      </a:r>
                    </a:p>
                  </a:txBody>
                  <a:tcPr anchor="ctr"/>
                </a:tc>
                <a:tc>
                  <a:txBody>
                    <a:bodyPr/>
                    <a:lstStyle/>
                    <a:p>
                      <a:pPr fontAlgn="base" latinLnBrk="0">
                        <a:buNone/>
                      </a:pPr>
                      <a:r>
                        <a:rPr lang="en-US" sz="1600">
                          <a:effectLst/>
                        </a:rPr>
                        <a:t>1.0000</a:t>
                      </a:r>
                    </a:p>
                  </a:txBody>
                  <a:tcPr anchor="ctr"/>
                </a:tc>
                <a:tc>
                  <a:txBody>
                    <a:bodyPr/>
                    <a:lstStyle/>
                    <a:p>
                      <a:pPr fontAlgn="base" latinLnBrk="0">
                        <a:buNone/>
                      </a:pPr>
                      <a:r>
                        <a:rPr lang="en-US" sz="1600">
                          <a:effectLst/>
                        </a:rPr>
                        <a:t>Identical to LR; SMOTE adds no benefit</a:t>
                      </a:r>
                    </a:p>
                  </a:txBody>
                  <a:tcPr anchor="ctr"/>
                </a:tc>
                <a:extLst>
                  <a:ext uri="{0D108BD9-81ED-4DB2-BD59-A6C34878D82A}">
                    <a16:rowId xmlns:a16="http://schemas.microsoft.com/office/drawing/2014/main" val="3167773813"/>
                  </a:ext>
                </a:extLst>
              </a:tr>
              <a:tr h="497779">
                <a:tc>
                  <a:txBody>
                    <a:bodyPr/>
                    <a:lstStyle/>
                    <a:p>
                      <a:pPr fontAlgn="base" latinLnBrk="0">
                        <a:buNone/>
                      </a:pPr>
                      <a:r>
                        <a:rPr lang="en-US" sz="1600" b="1">
                          <a:effectLst/>
                        </a:rPr>
                        <a:t>SVM</a:t>
                      </a:r>
                      <a:endParaRPr lang="en-US" sz="1600">
                        <a:effectLst/>
                      </a:endParaRPr>
                    </a:p>
                  </a:txBody>
                  <a:tcPr anchor="ctr"/>
                </a:tc>
                <a:tc>
                  <a:txBody>
                    <a:bodyPr/>
                    <a:lstStyle/>
                    <a:p>
                      <a:pPr fontAlgn="base" latinLnBrk="0">
                        <a:buNone/>
                      </a:pPr>
                      <a:r>
                        <a:rPr lang="en-US" sz="1600" b="1">
                          <a:effectLst/>
                        </a:rPr>
                        <a:t>0.9958</a:t>
                      </a:r>
                      <a:endParaRPr lang="en-US" sz="1600">
                        <a:effectLst/>
                      </a:endParaRPr>
                    </a:p>
                  </a:txBody>
                  <a:tcPr anchor="ctr"/>
                </a:tc>
                <a:tc>
                  <a:txBody>
                    <a:bodyPr/>
                    <a:lstStyle/>
                    <a:p>
                      <a:pPr fontAlgn="base" latinLnBrk="0">
                        <a:buNone/>
                      </a:pPr>
                      <a:r>
                        <a:rPr lang="en-US" sz="1600" b="1">
                          <a:effectLst/>
                        </a:rPr>
                        <a:t>0.9819</a:t>
                      </a:r>
                      <a:endParaRPr lang="en-US" sz="1600">
                        <a:effectLst/>
                      </a:endParaRPr>
                    </a:p>
                  </a:txBody>
                  <a:tcPr anchor="ctr"/>
                </a:tc>
                <a:tc>
                  <a:txBody>
                    <a:bodyPr/>
                    <a:lstStyle/>
                    <a:p>
                      <a:pPr fontAlgn="base" latinLnBrk="0">
                        <a:buNone/>
                      </a:pPr>
                      <a:r>
                        <a:rPr lang="en-US" sz="1600" b="1">
                          <a:effectLst/>
                        </a:rPr>
                        <a:t>0.9971</a:t>
                      </a:r>
                      <a:endParaRPr lang="en-US" sz="1600">
                        <a:effectLst/>
                      </a:endParaRPr>
                    </a:p>
                  </a:txBody>
                  <a:tcPr anchor="ctr"/>
                </a:tc>
                <a:tc>
                  <a:txBody>
                    <a:bodyPr/>
                    <a:lstStyle/>
                    <a:p>
                      <a:pPr fontAlgn="base" latinLnBrk="0">
                        <a:buNone/>
                      </a:pPr>
                      <a:r>
                        <a:rPr lang="en-US" sz="1600" b="1">
                          <a:effectLst/>
                        </a:rPr>
                        <a:t>Selected final model: Non-linear, robust, stable</a:t>
                      </a:r>
                      <a:endParaRPr lang="en-US" sz="1600">
                        <a:effectLst/>
                      </a:endParaRPr>
                    </a:p>
                  </a:txBody>
                  <a:tcPr anchor="ctr"/>
                </a:tc>
                <a:extLst>
                  <a:ext uri="{0D108BD9-81ED-4DB2-BD59-A6C34878D82A}">
                    <a16:rowId xmlns:a16="http://schemas.microsoft.com/office/drawing/2014/main" val="3458943467"/>
                  </a:ext>
                </a:extLst>
              </a:tr>
              <a:tr h="850523">
                <a:tc>
                  <a:txBody>
                    <a:bodyPr/>
                    <a:lstStyle/>
                    <a:p>
                      <a:pPr fontAlgn="base" latinLnBrk="0">
                        <a:buNone/>
                      </a:pPr>
                      <a:r>
                        <a:rPr lang="en-US" sz="1600">
                          <a:effectLst/>
                        </a:rPr>
                        <a:t>Random Forest</a:t>
                      </a:r>
                    </a:p>
                  </a:txBody>
                  <a:tcPr anchor="ctr"/>
                </a:tc>
                <a:tc>
                  <a:txBody>
                    <a:bodyPr/>
                    <a:lstStyle/>
                    <a:p>
                      <a:pPr fontAlgn="base" latinLnBrk="0">
                        <a:buNone/>
                      </a:pPr>
                      <a:r>
                        <a:rPr lang="en-US" sz="1600">
                          <a:effectLst/>
                        </a:rPr>
                        <a:t>1.0000</a:t>
                      </a:r>
                    </a:p>
                  </a:txBody>
                  <a:tcPr anchor="ctr"/>
                </a:tc>
                <a:tc>
                  <a:txBody>
                    <a:bodyPr/>
                    <a:lstStyle/>
                    <a:p>
                      <a:pPr fontAlgn="base" latinLnBrk="0">
                        <a:buNone/>
                      </a:pPr>
                      <a:r>
                        <a:rPr lang="en-US" sz="1600">
                          <a:effectLst/>
                        </a:rPr>
                        <a:t>0.9889</a:t>
                      </a:r>
                    </a:p>
                  </a:txBody>
                  <a:tcPr anchor="ctr"/>
                </a:tc>
                <a:tc>
                  <a:txBody>
                    <a:bodyPr/>
                    <a:lstStyle/>
                    <a:p>
                      <a:pPr fontAlgn="base" latinLnBrk="0">
                        <a:buNone/>
                      </a:pPr>
                      <a:r>
                        <a:rPr lang="en-US" sz="1600">
                          <a:effectLst/>
                        </a:rPr>
                        <a:t>1.0000</a:t>
                      </a:r>
                    </a:p>
                  </a:txBody>
                  <a:tcPr anchor="ctr"/>
                </a:tc>
                <a:tc>
                  <a:txBody>
                    <a:bodyPr/>
                    <a:lstStyle/>
                    <a:p>
                      <a:pPr fontAlgn="base" latinLnBrk="0">
                        <a:buNone/>
                      </a:pPr>
                      <a:r>
                        <a:rPr lang="en-US" sz="1600">
                          <a:effectLst/>
                        </a:rPr>
                        <a:t>Tied with LR for highest accuracy but less interpretable</a:t>
                      </a:r>
                    </a:p>
                  </a:txBody>
                  <a:tcPr anchor="ctr"/>
                </a:tc>
                <a:extLst>
                  <a:ext uri="{0D108BD9-81ED-4DB2-BD59-A6C34878D82A}">
                    <a16:rowId xmlns:a16="http://schemas.microsoft.com/office/drawing/2014/main" val="2019726602"/>
                  </a:ext>
                </a:extLst>
              </a:tr>
            </a:tbl>
          </a:graphicData>
        </a:graphic>
      </p:graphicFrame>
    </p:spTree>
    <p:extLst>
      <p:ext uri="{BB962C8B-B14F-4D97-AF65-F5344CB8AC3E}">
        <p14:creationId xmlns:p14="http://schemas.microsoft.com/office/powerpoint/2010/main" val="3717500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E8B4F-F972-9D9E-71A8-738EC181BE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EDFE1C-BE08-731B-DC70-3A3C9FFB6749}"/>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A5A705EF-F4CC-1C14-B77F-1C3D34CDB69D}"/>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a:t>Results</a:t>
            </a:r>
          </a:p>
        </p:txBody>
      </p:sp>
      <p:graphicFrame>
        <p:nvGraphicFramePr>
          <p:cNvPr id="4" name="Table 3">
            <a:extLst>
              <a:ext uri="{FF2B5EF4-FFF2-40B4-BE49-F238E27FC236}">
                <a16:creationId xmlns:a16="http://schemas.microsoft.com/office/drawing/2014/main" id="{2D70FDDF-8134-AAD9-89EA-09BEF7AA4F93}"/>
              </a:ext>
            </a:extLst>
          </p:cNvPr>
          <p:cNvGraphicFramePr>
            <a:graphicFrameLocks noGrp="1"/>
          </p:cNvGraphicFramePr>
          <p:nvPr>
            <p:extLst>
              <p:ext uri="{D42A27DB-BD31-4B8C-83A1-F6EECF244321}">
                <p14:modId xmlns:p14="http://schemas.microsoft.com/office/powerpoint/2010/main" val="1785912301"/>
              </p:ext>
            </p:extLst>
          </p:nvPr>
        </p:nvGraphicFramePr>
        <p:xfrm>
          <a:off x="851407" y="756745"/>
          <a:ext cx="11185695" cy="3327400"/>
        </p:xfrm>
        <a:graphic>
          <a:graphicData uri="http://schemas.openxmlformats.org/drawingml/2006/table">
            <a:tbl>
              <a:tblPr firstRow="1" bandRow="1">
                <a:tableStyleId>{5C22544A-7EE6-4342-B048-85BDC9FD1C3A}</a:tableStyleId>
              </a:tblPr>
              <a:tblGrid>
                <a:gridCol w="1763915">
                  <a:extLst>
                    <a:ext uri="{9D8B030D-6E8A-4147-A177-3AD203B41FA5}">
                      <a16:colId xmlns:a16="http://schemas.microsoft.com/office/drawing/2014/main" val="2255855596"/>
                    </a:ext>
                  </a:extLst>
                </a:gridCol>
                <a:gridCol w="1266535">
                  <a:extLst>
                    <a:ext uri="{9D8B030D-6E8A-4147-A177-3AD203B41FA5}">
                      <a16:colId xmlns:a16="http://schemas.microsoft.com/office/drawing/2014/main" val="2075386083"/>
                    </a:ext>
                  </a:extLst>
                </a:gridCol>
                <a:gridCol w="1297426">
                  <a:extLst>
                    <a:ext uri="{9D8B030D-6E8A-4147-A177-3AD203B41FA5}">
                      <a16:colId xmlns:a16="http://schemas.microsoft.com/office/drawing/2014/main" val="1494541657"/>
                    </a:ext>
                  </a:extLst>
                </a:gridCol>
                <a:gridCol w="2347721">
                  <a:extLst>
                    <a:ext uri="{9D8B030D-6E8A-4147-A177-3AD203B41FA5}">
                      <a16:colId xmlns:a16="http://schemas.microsoft.com/office/drawing/2014/main" val="2716814667"/>
                    </a:ext>
                  </a:extLst>
                </a:gridCol>
                <a:gridCol w="4510098">
                  <a:extLst>
                    <a:ext uri="{9D8B030D-6E8A-4147-A177-3AD203B41FA5}">
                      <a16:colId xmlns:a16="http://schemas.microsoft.com/office/drawing/2014/main" val="1689195777"/>
                    </a:ext>
                  </a:extLst>
                </a:gridCol>
              </a:tblGrid>
              <a:tr h="370840">
                <a:tc>
                  <a:txBody>
                    <a:bodyPr/>
                    <a:lstStyle/>
                    <a:p>
                      <a:pPr algn="l"/>
                      <a:r>
                        <a:rPr lang="en-US" sz="1600"/>
                        <a:t>Scenario </a:t>
                      </a:r>
                    </a:p>
                  </a:txBody>
                  <a:tcPr anchor="ctr"/>
                </a:tc>
                <a:tc>
                  <a:txBody>
                    <a:bodyPr/>
                    <a:lstStyle/>
                    <a:p>
                      <a:pPr algn="l"/>
                      <a:r>
                        <a:rPr lang="en-US" sz="1600"/>
                        <a:t>Accuracy</a:t>
                      </a:r>
                    </a:p>
                  </a:txBody>
                  <a:tcPr anchor="ctr"/>
                </a:tc>
                <a:tc>
                  <a:txBody>
                    <a:bodyPr/>
                    <a:lstStyle/>
                    <a:p>
                      <a:pPr algn="l"/>
                      <a:r>
                        <a:rPr lang="en-US" sz="1600"/>
                        <a:t>F1 Score </a:t>
                      </a:r>
                    </a:p>
                  </a:txBody>
                  <a:tcPr anchor="ctr"/>
                </a:tc>
                <a:tc>
                  <a:txBody>
                    <a:bodyPr/>
                    <a:lstStyle/>
                    <a:p>
                      <a:pPr algn="l"/>
                      <a:r>
                        <a:rPr lang="en-US" sz="1600"/>
                        <a:t>Confusion Matrix</a:t>
                      </a:r>
                    </a:p>
                  </a:txBody>
                  <a:tcPr anchor="ctr"/>
                </a:tc>
                <a:tc>
                  <a:txBody>
                    <a:bodyPr/>
                    <a:lstStyle/>
                    <a:p>
                      <a:pPr algn="l"/>
                      <a:r>
                        <a:rPr lang="en-US" sz="1600"/>
                        <a:t>Interpretation </a:t>
                      </a:r>
                    </a:p>
                  </a:txBody>
                  <a:tcPr anchor="ctr"/>
                </a:tc>
                <a:extLst>
                  <a:ext uri="{0D108BD9-81ED-4DB2-BD59-A6C34878D82A}">
                    <a16:rowId xmlns:a16="http://schemas.microsoft.com/office/drawing/2014/main" val="1630111530"/>
                  </a:ext>
                </a:extLst>
              </a:tr>
              <a:tr h="370840">
                <a:tc>
                  <a:txBody>
                    <a:bodyPr/>
                    <a:lstStyle/>
                    <a:p>
                      <a:pPr algn="l"/>
                      <a:r>
                        <a:rPr lang="en-US" sz="1600"/>
                        <a:t>In Distribution</a:t>
                      </a:r>
                    </a:p>
                  </a:txBody>
                  <a:tcPr anchor="ctr"/>
                </a:tc>
                <a:tc>
                  <a:txBody>
                    <a:bodyPr/>
                    <a:lstStyle/>
                    <a:p>
                      <a:pPr algn="l"/>
                      <a:r>
                        <a:rPr lang="en-US" sz="1600"/>
                        <a:t>0.9958</a:t>
                      </a:r>
                    </a:p>
                  </a:txBody>
                  <a:tcPr anchor="ctr"/>
                </a:tc>
                <a:tc>
                  <a:txBody>
                    <a:bodyPr/>
                    <a:lstStyle/>
                    <a:p>
                      <a:pPr algn="l"/>
                      <a:r>
                        <a:rPr lang="en-US" sz="1600"/>
                        <a:t>0.9965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effectLst/>
                        </a:rPr>
                        <a:t>(1715, 2, 16, 2588)</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effectLst/>
                        </a:rPr>
                        <a:t>Baseline performance on clean, representative data; near-perfect classification with only 2 false positives and 16 false negatives.</a:t>
                      </a:r>
                    </a:p>
                  </a:txBody>
                  <a:tcPr anchor="ctr"/>
                </a:tc>
                <a:extLst>
                  <a:ext uri="{0D108BD9-81ED-4DB2-BD59-A6C34878D82A}">
                    <a16:rowId xmlns:a16="http://schemas.microsoft.com/office/drawing/2014/main" val="694999419"/>
                  </a:ext>
                </a:extLst>
              </a:tr>
              <a:tr h="370840">
                <a:tc>
                  <a:txBody>
                    <a:bodyPr/>
                    <a:lstStyle/>
                    <a:p>
                      <a:pPr algn="l"/>
                      <a:r>
                        <a:rPr lang="en-US" sz="1600"/>
                        <a:t>With Infused Outliers</a:t>
                      </a:r>
                    </a:p>
                  </a:txBody>
                  <a:tcPr anchor="ctr"/>
                </a:tc>
                <a:tc>
                  <a:txBody>
                    <a:bodyPr/>
                    <a:lstStyle/>
                    <a:p>
                      <a:pPr algn="l"/>
                      <a:r>
                        <a:rPr lang="en-US" sz="1600"/>
                        <a:t>0.9819</a:t>
                      </a:r>
                    </a:p>
                  </a:txBody>
                  <a:tcPr anchor="ctr"/>
                </a:tc>
                <a:tc>
                  <a:txBody>
                    <a:bodyPr/>
                    <a:lstStyle/>
                    <a:p>
                      <a:pPr algn="l"/>
                      <a:r>
                        <a:rPr lang="en-US" sz="1600"/>
                        <a:t>0.9848</a:t>
                      </a:r>
                    </a:p>
                  </a:txBody>
                  <a:tcPr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600">
                          <a:effectLst/>
                        </a:rPr>
                        <a:t>(1715, 2, 76, 2588)</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effectLst/>
                        </a:rPr>
                        <a:t>Synthetic noise into 100 test samples; accuracy drops 1.39 percentage points, false negatives increase from 16 to 76, showing model sensitivity to OOD data.</a:t>
                      </a:r>
                    </a:p>
                  </a:txBody>
                  <a:tcPr anchor="ctr"/>
                </a:tc>
                <a:extLst>
                  <a:ext uri="{0D108BD9-81ED-4DB2-BD59-A6C34878D82A}">
                    <a16:rowId xmlns:a16="http://schemas.microsoft.com/office/drawing/2014/main" val="4130364554"/>
                  </a:ext>
                </a:extLst>
              </a:tr>
              <a:tr h="370840">
                <a:tc>
                  <a:txBody>
                    <a:bodyPr/>
                    <a:lstStyle/>
                    <a:p>
                      <a:pPr algn="l"/>
                      <a:r>
                        <a:rPr lang="en-US" sz="1600"/>
                        <a:t>After OOD Removal</a:t>
                      </a:r>
                    </a:p>
                  </a:txBody>
                  <a:tcPr anchor="ctr"/>
                </a:tc>
                <a:tc>
                  <a:txBody>
                    <a:bodyPr/>
                    <a:lstStyle/>
                    <a:p>
                      <a:pPr algn="l"/>
                      <a:r>
                        <a:rPr lang="en-US" sz="1600"/>
                        <a:t>0.9971</a:t>
                      </a:r>
                    </a:p>
                  </a:txBody>
                  <a:tcPr anchor="ctr"/>
                </a:tc>
                <a:tc>
                  <a:txBody>
                    <a:bodyPr/>
                    <a:lstStyle/>
                    <a:p>
                      <a:pPr algn="l"/>
                      <a:r>
                        <a:rPr lang="en-US" sz="1600"/>
                        <a:t>0.9976</a:t>
                      </a:r>
                    </a:p>
                  </a:txBody>
                  <a:tcPr anchor="ctr"/>
                </a:tc>
                <a:tc>
                  <a:txBody>
                    <a:bodyPr/>
                    <a:lstStyle/>
                    <a:p>
                      <a:pPr algn="l"/>
                      <a:r>
                        <a:rPr lang="en-US" sz="1600" b="0" i="0" u="none" strike="noStrike" kern="1200">
                          <a:solidFill>
                            <a:schemeClr val="dk1"/>
                          </a:solidFill>
                          <a:effectLst/>
                          <a:latin typeface="+mn-lt"/>
                          <a:ea typeface="+mn-ea"/>
                          <a:cs typeface="+mn-cs"/>
                        </a:rPr>
                        <a:t>(1669, 2, 10, 2528)</a:t>
                      </a:r>
                      <a:endParaRPr lang="en-US" sz="1600"/>
                    </a:p>
                  </a:txBody>
                  <a:tcPr anchor="ctr"/>
                </a:tc>
                <a:tc>
                  <a:txBody>
                    <a:bodyPr/>
                    <a:lstStyle/>
                    <a:p>
                      <a:pPr algn="l"/>
                      <a:r>
                        <a:rPr lang="en-US" sz="1600" b="0" i="0" u="none" strike="noStrike" kern="1200">
                          <a:solidFill>
                            <a:schemeClr val="dk1"/>
                          </a:solidFill>
                          <a:effectLst/>
                          <a:latin typeface="+mn-lt"/>
                          <a:ea typeface="+mn-ea"/>
                          <a:cs typeface="+mn-cs"/>
                        </a:rPr>
                        <a:t>After KNN-based outlier detection and removal (112 points removed), accuracy recovers to 99.71%, F1 rises to 99.76%, false negatives drop to 10, demonstrating </a:t>
                      </a:r>
                      <a:r>
                        <a:rPr lang="en-US" sz="1600" b="1" i="0" u="none" strike="noStrike" kern="1200">
                          <a:solidFill>
                            <a:schemeClr val="dk1"/>
                          </a:solidFill>
                          <a:effectLst/>
                          <a:latin typeface="+mn-lt"/>
                          <a:ea typeface="+mn-ea"/>
                          <a:cs typeface="+mn-cs"/>
                        </a:rPr>
                        <a:t>effective OOD handling.</a:t>
                      </a:r>
                      <a:endParaRPr lang="en-US" sz="1600"/>
                    </a:p>
                  </a:txBody>
                  <a:tcPr anchor="ctr"/>
                </a:tc>
                <a:extLst>
                  <a:ext uri="{0D108BD9-81ED-4DB2-BD59-A6C34878D82A}">
                    <a16:rowId xmlns:a16="http://schemas.microsoft.com/office/drawing/2014/main" val="183304533"/>
                  </a:ext>
                </a:extLst>
              </a:tr>
            </a:tbl>
          </a:graphicData>
        </a:graphic>
      </p:graphicFrame>
      <p:sp>
        <p:nvSpPr>
          <p:cNvPr id="6" name="Rectangle 1">
            <a:extLst>
              <a:ext uri="{FF2B5EF4-FFF2-40B4-BE49-F238E27FC236}">
                <a16:creationId xmlns:a16="http://schemas.microsoft.com/office/drawing/2014/main" id="{FE892826-943E-A79D-03B2-3A041DA5319B}"/>
              </a:ext>
            </a:extLst>
          </p:cNvPr>
          <p:cNvSpPr>
            <a:spLocks noChangeArrowheads="1"/>
          </p:cNvSpPr>
          <p:nvPr/>
        </p:nvSpPr>
        <p:spPr bwMode="auto">
          <a:xfrm>
            <a:off x="851407" y="4179906"/>
            <a:ext cx="1073599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fkGroteskNeue"/>
              </a:rPr>
              <a:t>Generalization metrics (validated on training data):</a:t>
            </a:r>
            <a:endParaRPr kumimoji="0" lang="en-US" altLang="en-US"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a:ln>
                  <a:noFill/>
                </a:ln>
                <a:solidFill>
                  <a:schemeClr val="tx1"/>
                </a:solidFill>
                <a:effectLst/>
                <a:latin typeface="fkGroteskNeue"/>
              </a:rPr>
              <a:t>3-Fold Cross-Validation:</a:t>
            </a:r>
            <a:r>
              <a:rPr kumimoji="0" lang="en-US" altLang="en-US" sz="1400" b="0" i="0" u="none" strike="noStrike" cap="none" normalizeH="0" baseline="0">
                <a:ln>
                  <a:noFill/>
                </a:ln>
                <a:solidFill>
                  <a:schemeClr val="tx1"/>
                </a:solidFill>
                <a:effectLst/>
                <a:latin typeface="fkGroteskNeue"/>
              </a:rPr>
              <a:t> Mean accuracy = </a:t>
            </a:r>
            <a:r>
              <a:rPr kumimoji="0" lang="en-US" altLang="en-US" sz="1400" b="1" i="0" u="none" strike="noStrike" cap="none" normalizeH="0" baseline="0">
                <a:ln>
                  <a:noFill/>
                </a:ln>
                <a:solidFill>
                  <a:schemeClr val="tx1"/>
                </a:solidFill>
                <a:effectLst/>
                <a:latin typeface="fkGroteskNeue"/>
              </a:rPr>
              <a:t>0.9974</a:t>
            </a:r>
            <a:r>
              <a:rPr kumimoji="0" lang="en-US" altLang="en-US" sz="1400" b="0" i="0" u="none" strike="noStrike" cap="none" normalizeH="0" baseline="0">
                <a:ln>
                  <a:noFill/>
                </a:ln>
                <a:solidFill>
                  <a:schemeClr val="tx1"/>
                </a:solidFill>
                <a:effectLst/>
                <a:latin typeface="fkGroteskNeue"/>
              </a:rPr>
              <a:t> (std = 0.00075)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a:ln>
                  <a:noFill/>
                </a:ln>
                <a:solidFill>
                  <a:schemeClr val="tx1"/>
                </a:solidFill>
                <a:effectLst/>
                <a:latin typeface="fkGroteskNeue"/>
              </a:rPr>
              <a:t>5-Fold Cross-Validation:</a:t>
            </a:r>
            <a:r>
              <a:rPr kumimoji="0" lang="en-US" altLang="en-US" sz="1400" b="0" i="0" u="none" strike="noStrike" cap="none" normalizeH="0" baseline="0">
                <a:ln>
                  <a:noFill/>
                </a:ln>
                <a:solidFill>
                  <a:schemeClr val="tx1"/>
                </a:solidFill>
                <a:effectLst/>
                <a:latin typeface="fkGroteskNeue"/>
              </a:rPr>
              <a:t> Mean accuracy = </a:t>
            </a:r>
            <a:r>
              <a:rPr kumimoji="0" lang="en-US" altLang="en-US" sz="1400" b="1" i="0" u="none" strike="noStrike" cap="none" normalizeH="0" baseline="0">
                <a:ln>
                  <a:noFill/>
                </a:ln>
                <a:solidFill>
                  <a:schemeClr val="tx1"/>
                </a:solidFill>
                <a:effectLst/>
                <a:latin typeface="fkGroteskNeue"/>
              </a:rPr>
              <a:t>0.9979</a:t>
            </a:r>
            <a:r>
              <a:rPr kumimoji="0" lang="en-US" altLang="en-US" sz="1400" b="0" i="0" u="none" strike="noStrike" cap="none" normalizeH="0" baseline="0">
                <a:ln>
                  <a:noFill/>
                </a:ln>
                <a:solidFill>
                  <a:schemeClr val="tx1"/>
                </a:solidFill>
                <a:effectLst/>
                <a:latin typeface="fkGroteskNeue"/>
              </a:rPr>
              <a:t> (std = 0.00083)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fkGroteskNeue"/>
              </a:rPr>
              <a:t> </a:t>
            </a:r>
            <a:r>
              <a:rPr kumimoji="0" lang="en-US" altLang="en-US" sz="1400" b="1" i="0" u="none" strike="noStrike" cap="none" normalizeH="0" baseline="0">
                <a:ln>
                  <a:noFill/>
                </a:ln>
                <a:solidFill>
                  <a:schemeClr val="tx1"/>
                </a:solidFill>
                <a:effectLst/>
                <a:latin typeface="fkGroteskNeue"/>
              </a:rPr>
              <a:t>Interpretation:</a:t>
            </a:r>
            <a:r>
              <a:rPr kumimoji="0" lang="en-US" altLang="en-US" sz="1400" b="0" i="0" u="none" strike="noStrike" cap="none" normalizeH="0" baseline="0">
                <a:ln>
                  <a:noFill/>
                </a:ln>
                <a:solidFill>
                  <a:schemeClr val="tx1"/>
                </a:solidFill>
                <a:effectLst/>
                <a:latin typeface="fkGroteskNeue"/>
              </a:rPr>
              <a:t> Extremely low standard deviations (&lt;0.001) indicate that the model </a:t>
            </a:r>
            <a:r>
              <a:rPr kumimoji="0" lang="en-US" altLang="en-US" sz="1400" b="1" i="0" u="none" strike="noStrike" cap="none" normalizeH="0" baseline="0">
                <a:ln>
                  <a:noFill/>
                </a:ln>
                <a:solidFill>
                  <a:schemeClr val="tx1"/>
                </a:solidFill>
                <a:effectLst/>
                <a:latin typeface="fkGroteskNeue"/>
              </a:rPr>
              <a:t>generalizes consistently</a:t>
            </a:r>
            <a:r>
              <a:rPr kumimoji="0" lang="en-US" altLang="en-US" sz="1400" b="0" i="0" u="none" strike="noStrike" cap="none" normalizeH="0" baseline="0">
                <a:ln>
                  <a:noFill/>
                </a:ln>
                <a:solidFill>
                  <a:schemeClr val="tx1"/>
                </a:solidFill>
                <a:effectLst/>
                <a:latin typeface="fkGroteskNeue"/>
              </a:rPr>
              <a:t> across different train-test folds. No signs of overfitting or instability.</a:t>
            </a:r>
            <a:endParaRPr kumimoji="0" lang="en-US" altLang="en-US" sz="14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A598A7E9-7AAD-756C-2E57-912583FD21FE}"/>
              </a:ext>
            </a:extLst>
          </p:cNvPr>
          <p:cNvSpPr txBox="1"/>
          <p:nvPr/>
        </p:nvSpPr>
        <p:spPr>
          <a:xfrm>
            <a:off x="851407" y="5352885"/>
            <a:ext cx="10529608" cy="1477328"/>
          </a:xfrm>
          <a:prstGeom prst="rect">
            <a:avLst/>
          </a:prstGeom>
          <a:noFill/>
        </p:spPr>
        <p:txBody>
          <a:bodyPr wrap="square" rtlCol="0">
            <a:spAutoFit/>
          </a:bodyPr>
          <a:lstStyle/>
          <a:p>
            <a:pPr lvl="0" defTabSz="914400" eaLnBrk="0" fontAlgn="base" hangingPunct="0">
              <a:spcBef>
                <a:spcPct val="0"/>
              </a:spcBef>
              <a:spcAft>
                <a:spcPct val="0"/>
              </a:spcAft>
            </a:pPr>
            <a:r>
              <a:rPr lang="en-US" altLang="en-US">
                <a:latin typeface="var(--font-fk-grotesk-neue)"/>
              </a:rPr>
              <a:t>The paired 5‑fold cross‑validation accuracies for the clean and with‑outliers settings were identical in every fold (both means = 0.9972). As a result, the t‑test returned </a:t>
            </a:r>
            <a:r>
              <a:rPr lang="en-US" altLang="en-US" err="1">
                <a:latin typeface="var(--font-fk-grotesk-neue)"/>
              </a:rPr>
              <a:t>NaN</a:t>
            </a:r>
            <a:r>
              <a:rPr lang="en-US" altLang="en-US">
                <a:latin typeface="var(--font-fk-grotesk-neue)"/>
              </a:rPr>
              <a:t> for both the t‑statistic and p‑value because the variance of the fold‑wise differences is zero. Practically, this means there is </a:t>
            </a:r>
            <a:r>
              <a:rPr lang="en-US" altLang="en-US" i="1">
                <a:latin typeface="var(--font-fk-grotesk-neue)"/>
              </a:rPr>
              <a:t>no measurable difference</a:t>
            </a:r>
            <a:r>
              <a:rPr lang="en-US" altLang="en-US">
                <a:latin typeface="var(--font-fk-grotesk-neue)"/>
              </a:rPr>
              <a:t> between the two conditions; the model’s performance is statistically indistinguishable with and without infused outliers at this scale.</a:t>
            </a:r>
            <a:endParaRPr lang="en-US" altLang="en-US">
              <a:latin typeface="Arial" panose="020B0604020202020204" pitchFamily="34" charset="0"/>
            </a:endParaRPr>
          </a:p>
        </p:txBody>
      </p:sp>
    </p:spTree>
    <p:extLst>
      <p:ext uri="{BB962C8B-B14F-4D97-AF65-F5344CB8AC3E}">
        <p14:creationId xmlns:p14="http://schemas.microsoft.com/office/powerpoint/2010/main" val="1875552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6E81-C4CE-C091-E92C-C7A2B401A8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071938-7252-3023-E19D-C5914D5FA4ED}"/>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389B65F5-E273-0183-7B43-8EB343590417}"/>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Insights</a:t>
            </a:r>
          </a:p>
          <a:p>
            <a:endParaRPr lang="en-US"/>
          </a:p>
        </p:txBody>
      </p:sp>
      <p:sp>
        <p:nvSpPr>
          <p:cNvPr id="5" name="TextBox 4">
            <a:extLst>
              <a:ext uri="{FF2B5EF4-FFF2-40B4-BE49-F238E27FC236}">
                <a16:creationId xmlns:a16="http://schemas.microsoft.com/office/drawing/2014/main" id="{60D34147-0983-A5A5-2B11-01FDF25B50C2}"/>
              </a:ext>
            </a:extLst>
          </p:cNvPr>
          <p:cNvSpPr txBox="1"/>
          <p:nvPr/>
        </p:nvSpPr>
        <p:spPr>
          <a:xfrm>
            <a:off x="869431" y="941411"/>
            <a:ext cx="10762936" cy="5078313"/>
          </a:xfrm>
          <a:prstGeom prst="rect">
            <a:avLst/>
          </a:prstGeom>
          <a:noFill/>
        </p:spPr>
        <p:txBody>
          <a:bodyPr wrap="square">
            <a:spAutoFit/>
          </a:bodyPr>
          <a:lstStyle/>
          <a:p>
            <a:pPr marL="285750" indent="-285750">
              <a:buFont typeface="Wingdings" pitchFamily="2" charset="2"/>
              <a:buChar char="v"/>
            </a:pPr>
            <a:r>
              <a:rPr lang="en-US" b="0" i="0" u="none" strike="noStrike">
                <a:effectLst/>
                <a:latin typeface="fkGroteskNeue"/>
              </a:rPr>
              <a:t>Customers with </a:t>
            </a:r>
            <a:r>
              <a:rPr lang="en-US" b="1" i="0" u="none" strike="noStrike">
                <a:effectLst/>
                <a:latin typeface="fkGroteskNeue"/>
              </a:rPr>
              <a:t>high recency (long time since last purchase)</a:t>
            </a:r>
            <a:r>
              <a:rPr lang="en-US" b="0" i="0" u="none" strike="noStrike">
                <a:effectLst/>
                <a:latin typeface="fkGroteskNeue"/>
              </a:rPr>
              <a:t> and </a:t>
            </a:r>
            <a:r>
              <a:rPr lang="en-US" b="1" i="0" u="none" strike="noStrike">
                <a:effectLst/>
                <a:latin typeface="fkGroteskNeue"/>
              </a:rPr>
              <a:t>low purchase </a:t>
            </a:r>
            <a:r>
              <a:rPr lang="en-US" b="1">
                <a:latin typeface="fkGroteskNeue"/>
              </a:rPr>
              <a:t>frequency are</a:t>
            </a:r>
            <a:r>
              <a:rPr lang="en-US" b="0" i="0" u="none" strike="noStrike">
                <a:effectLst/>
                <a:latin typeface="fkGroteskNeue"/>
              </a:rPr>
              <a:t> much more likely to churn, while those buying frequently with low recency are the most stable</a:t>
            </a:r>
          </a:p>
          <a:p>
            <a:pPr marL="285750" indent="-285750">
              <a:buFont typeface="Wingdings" pitchFamily="2" charset="2"/>
              <a:buChar char="v"/>
            </a:pPr>
            <a:r>
              <a:rPr lang="en-US"/>
              <a:t>Revenue is </a:t>
            </a:r>
            <a:r>
              <a:rPr lang="en-US" b="1"/>
              <a:t>strongly right‑skewed</a:t>
            </a:r>
            <a:r>
              <a:rPr lang="en-US"/>
              <a:t>: a small minority of high‑spend customers contributes a large share of revenue, meaning churn among this group is especially costly.</a:t>
            </a:r>
          </a:p>
          <a:p>
            <a:pPr marL="285750" indent="-285750">
              <a:buFont typeface="Wingdings" pitchFamily="2" charset="2"/>
              <a:buChar char="v"/>
            </a:pPr>
            <a:r>
              <a:rPr lang="en-US"/>
              <a:t>The SVM model on clean data </a:t>
            </a:r>
            <a:r>
              <a:rPr lang="en-US" b="1"/>
              <a:t>rarely misses churners</a:t>
            </a:r>
            <a:r>
              <a:rPr lang="en-US"/>
              <a:t> (16 false negatives out of over 2,600 churners), so it is suitable for </a:t>
            </a:r>
            <a:r>
              <a:rPr lang="en-US" b="1"/>
              <a:t>targeted retention campaigns</a:t>
            </a:r>
            <a:r>
              <a:rPr lang="en-US"/>
              <a:t> where false negatives are expensive.</a:t>
            </a:r>
          </a:p>
          <a:p>
            <a:pPr marL="285750" indent="-285750">
              <a:buFont typeface="Wingdings" pitchFamily="2" charset="2"/>
              <a:buChar char="v"/>
            </a:pPr>
            <a:r>
              <a:rPr lang="en-US"/>
              <a:t>When data are noisy or contain anomalous </a:t>
            </a:r>
            <a:r>
              <a:rPr lang="en-US" err="1"/>
              <a:t>behaviour</a:t>
            </a:r>
            <a:r>
              <a:rPr lang="en-US"/>
              <a:t>, the model starts missing far more churners (76 false negatives), implying that </a:t>
            </a:r>
            <a:r>
              <a:rPr lang="en-US" b="1"/>
              <a:t>data quality and anomaly control directly affect how many at‑risk customers you can correctly flag</a:t>
            </a:r>
            <a:r>
              <a:rPr lang="en-US"/>
              <a:t>.</a:t>
            </a:r>
          </a:p>
          <a:p>
            <a:pPr marL="285750" indent="-285750">
              <a:buFont typeface="Wingdings" pitchFamily="2" charset="2"/>
              <a:buChar char="v"/>
            </a:pPr>
            <a:r>
              <a:rPr lang="en-US"/>
              <a:t>Applying KNN‑based outlier detection recovers and slightly improves performance (false negatives drop to 10), suggesting that </a:t>
            </a:r>
            <a:r>
              <a:rPr lang="en-US" b="1"/>
              <a:t>an automated outlier‑filtering step before scoring customers can materially improve retention targeting</a:t>
            </a:r>
            <a:r>
              <a:rPr lang="en-US"/>
              <a:t>.</a:t>
            </a:r>
          </a:p>
          <a:p>
            <a:pPr marL="285750" indent="-285750">
              <a:buFont typeface="Wingdings" pitchFamily="2" charset="2"/>
              <a:buChar char="v"/>
            </a:pPr>
            <a:endParaRPr lang="en-US"/>
          </a:p>
          <a:p>
            <a:pPr marL="285750" indent="-285750">
              <a:buFont typeface="Wingdings" pitchFamily="2" charset="2"/>
              <a:buChar char="v"/>
            </a:pPr>
            <a:r>
              <a:rPr lang="en-US"/>
              <a:t>RFM metrics enable segmentation into groups such as Champions (high value, high frequency), At-Risk (high value, dropping frequency or rising recency), Loyal (medium value, stable behavior),</a:t>
            </a:r>
            <a:r>
              <a:rPr lang="en-US" b="1"/>
              <a:t> and Lost (low value, high recency)</a:t>
            </a:r>
            <a:r>
              <a:rPr lang="en-US"/>
              <a:t>.</a:t>
            </a:r>
          </a:p>
          <a:p>
            <a:pPr marL="285750" indent="-285750">
              <a:buFont typeface="Wingdings" pitchFamily="2" charset="2"/>
              <a:buChar char="v"/>
            </a:pPr>
            <a:r>
              <a:rPr lang="en-US"/>
              <a:t>Champions and At‑Risk segments should receive </a:t>
            </a:r>
            <a:r>
              <a:rPr lang="en-US" b="1"/>
              <a:t>proactive retention offers</a:t>
            </a:r>
            <a:r>
              <a:rPr lang="en-US"/>
              <a:t>, while Lost customers might be targeted with low‑cost, broad campaigns.</a:t>
            </a:r>
          </a:p>
        </p:txBody>
      </p:sp>
    </p:spTree>
    <p:extLst>
      <p:ext uri="{BB962C8B-B14F-4D97-AF65-F5344CB8AC3E}">
        <p14:creationId xmlns:p14="http://schemas.microsoft.com/office/powerpoint/2010/main" val="4215770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6C5EE-E1BB-E29E-9F4F-30EB4FF0E4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1CDA6F-C465-6EFF-82C9-A6052677FACF}"/>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D6D1F6D3-0D7E-D88B-4568-C13AC26E0C99}"/>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Conclusion &amp; Contributions </a:t>
            </a:r>
          </a:p>
        </p:txBody>
      </p:sp>
      <p:sp>
        <p:nvSpPr>
          <p:cNvPr id="6" name="TextBox 5">
            <a:extLst>
              <a:ext uri="{FF2B5EF4-FFF2-40B4-BE49-F238E27FC236}">
                <a16:creationId xmlns:a16="http://schemas.microsoft.com/office/drawing/2014/main" id="{51BA8DEB-3B26-C754-BD65-2145D6C8E5C0}"/>
              </a:ext>
            </a:extLst>
          </p:cNvPr>
          <p:cNvSpPr txBox="1"/>
          <p:nvPr/>
        </p:nvSpPr>
        <p:spPr>
          <a:xfrm>
            <a:off x="684324" y="621834"/>
            <a:ext cx="11382758" cy="3416320"/>
          </a:xfrm>
          <a:prstGeom prst="rect">
            <a:avLst/>
          </a:prstGeom>
          <a:noFill/>
        </p:spPr>
        <p:txBody>
          <a:bodyPr wrap="square">
            <a:spAutoFit/>
          </a:bodyPr>
          <a:lstStyle/>
          <a:p>
            <a:pPr marL="342900" indent="-342900">
              <a:buFont typeface="+mj-lt"/>
              <a:buAutoNum type="arabicPeriod"/>
            </a:pPr>
            <a:r>
              <a:rPr lang="en-US" sz="2400" i="0" u="none" strike="noStrike">
                <a:effectLst/>
                <a:latin typeface="fkGroteskNeue"/>
              </a:rPr>
              <a:t>RFM metrics alone are insufficient.</a:t>
            </a:r>
          </a:p>
          <a:p>
            <a:pPr marL="342900" indent="-342900">
              <a:buFont typeface="+mj-lt"/>
              <a:buAutoNum type="arabicPeriod"/>
            </a:pPr>
            <a:r>
              <a:rPr lang="en-US" sz="2400"/>
              <a:t>Wrapper-based feature selection on the full feature space dramatically improves performance.</a:t>
            </a:r>
          </a:p>
          <a:p>
            <a:pPr marL="342900" indent="-342900">
              <a:buFont typeface="+mj-lt"/>
              <a:buAutoNum type="arabicPeriod"/>
            </a:pPr>
            <a:r>
              <a:rPr lang="en-US" sz="2400"/>
              <a:t>Wrapper-based feature selection on the full feature space dramatically improves performance.</a:t>
            </a:r>
          </a:p>
          <a:p>
            <a:pPr marL="342900" indent="-342900">
              <a:buFont typeface="+mj-lt"/>
              <a:buAutoNum type="arabicPeriod"/>
            </a:pPr>
            <a:r>
              <a:rPr lang="en-US" sz="2400"/>
              <a:t>SVM with class-weighted training and KNN-based OOD detection achieved 99.71% accuracy and F1 on cleaned test data.</a:t>
            </a:r>
          </a:p>
          <a:p>
            <a:pPr marL="342900" indent="-342900">
              <a:buFont typeface="+mj-lt"/>
              <a:buAutoNum type="arabicPeriod"/>
            </a:pPr>
            <a:r>
              <a:rPr lang="en-US" sz="2400"/>
              <a:t>Statistical validation confirms high generalization and stability. </a:t>
            </a:r>
          </a:p>
          <a:p>
            <a:pPr marL="342900" indent="-342900">
              <a:buFont typeface="+mj-lt"/>
              <a:buAutoNum type="arabicPeriod"/>
            </a:pPr>
            <a:r>
              <a:rPr lang="en-US" sz="2400"/>
              <a:t>Production readiness achieved.</a:t>
            </a:r>
          </a:p>
        </p:txBody>
      </p:sp>
      <p:sp>
        <p:nvSpPr>
          <p:cNvPr id="8" name="TextBox 7">
            <a:extLst>
              <a:ext uri="{FF2B5EF4-FFF2-40B4-BE49-F238E27FC236}">
                <a16:creationId xmlns:a16="http://schemas.microsoft.com/office/drawing/2014/main" id="{78CC296B-F700-614E-1646-8299A0D4D12D}"/>
              </a:ext>
            </a:extLst>
          </p:cNvPr>
          <p:cNvSpPr txBox="1"/>
          <p:nvPr/>
        </p:nvSpPr>
        <p:spPr>
          <a:xfrm>
            <a:off x="684324" y="3974008"/>
            <a:ext cx="11382758" cy="2862322"/>
          </a:xfrm>
          <a:prstGeom prst="rect">
            <a:avLst/>
          </a:prstGeom>
          <a:noFill/>
        </p:spPr>
        <p:txBody>
          <a:bodyPr wrap="square">
            <a:spAutoFit/>
          </a:bodyPr>
          <a:lstStyle/>
          <a:p>
            <a:pPr lvl="0" defTabSz="914400" eaLnBrk="0" fontAlgn="base" hangingPunct="0">
              <a:spcBef>
                <a:spcPct val="0"/>
              </a:spcBef>
              <a:spcAft>
                <a:spcPct val="0"/>
              </a:spcAft>
            </a:pPr>
            <a:r>
              <a:rPr lang="en-US" altLang="en-US">
                <a:latin typeface="fkGroteskNeue"/>
              </a:rPr>
              <a:t>This project contributes:</a:t>
            </a:r>
            <a:endParaRPr lang="en-US" altLang="en-US"/>
          </a:p>
          <a:p>
            <a:pPr lvl="0" defTabSz="914400" eaLnBrk="0" fontAlgn="base" hangingPunct="0">
              <a:spcBef>
                <a:spcPct val="0"/>
              </a:spcBef>
              <a:spcAft>
                <a:spcPct val="0"/>
              </a:spcAft>
              <a:buFontTx/>
              <a:buChar char="•"/>
            </a:pPr>
            <a:r>
              <a:rPr lang="en-US" altLang="en-US" b="1">
                <a:latin typeface="fkGroteskNeue"/>
              </a:rPr>
              <a:t>Empirical validation</a:t>
            </a:r>
            <a:r>
              <a:rPr lang="en-US" altLang="en-US">
                <a:latin typeface="fkGroteskNeue"/>
              </a:rPr>
              <a:t> that moving beyond RFM to a wrapper-selected, multi-dimensional feature space yields dramatic accuracy gains (60–75% → 99.7%).</a:t>
            </a:r>
          </a:p>
          <a:p>
            <a:pPr lvl="0" defTabSz="914400" eaLnBrk="0" fontAlgn="base" hangingPunct="0">
              <a:spcBef>
                <a:spcPct val="0"/>
              </a:spcBef>
              <a:spcAft>
                <a:spcPct val="0"/>
              </a:spcAft>
              <a:buFontTx/>
              <a:buChar char="•"/>
            </a:pPr>
            <a:r>
              <a:rPr lang="en-US" altLang="en-US" b="1">
                <a:latin typeface="fkGroteskNeue"/>
              </a:rPr>
              <a:t>A robust, production-ready pipeline</a:t>
            </a:r>
            <a:r>
              <a:rPr lang="en-US" altLang="en-US">
                <a:latin typeface="fkGroteskNeue"/>
              </a:rPr>
              <a:t> integrating feature selection, class balancing, model training, OOD detection, and statistical validation.</a:t>
            </a:r>
          </a:p>
          <a:p>
            <a:pPr lvl="0" defTabSz="914400" eaLnBrk="0" fontAlgn="base" hangingPunct="0">
              <a:spcBef>
                <a:spcPct val="0"/>
              </a:spcBef>
              <a:spcAft>
                <a:spcPct val="0"/>
              </a:spcAft>
              <a:buFontTx/>
              <a:buChar char="•"/>
            </a:pPr>
            <a:r>
              <a:rPr lang="en-US" altLang="en-US" b="1">
                <a:latin typeface="fkGroteskNeue"/>
              </a:rPr>
              <a:t>Clear methodology and code</a:t>
            </a:r>
            <a:r>
              <a:rPr lang="en-US" altLang="en-US">
                <a:latin typeface="fkGroteskNeue"/>
              </a:rPr>
              <a:t> for practitioners to replicate and extend the approach on their own datasets.</a:t>
            </a:r>
          </a:p>
          <a:p>
            <a:pPr lvl="0" defTabSz="914400" eaLnBrk="0" fontAlgn="base" hangingPunct="0">
              <a:spcBef>
                <a:spcPct val="0"/>
              </a:spcBef>
              <a:spcAft>
                <a:spcPct val="0"/>
              </a:spcAft>
              <a:buFontTx/>
              <a:buChar char="•"/>
            </a:pPr>
            <a:r>
              <a:rPr lang="en-US" altLang="en-US" b="1">
                <a:latin typeface="fkGroteskNeue"/>
              </a:rPr>
              <a:t>Groundwork for future research</a:t>
            </a:r>
            <a:r>
              <a:rPr lang="en-US" altLang="en-US">
                <a:latin typeface="fkGroteskNeue"/>
              </a:rPr>
              <a:t> into temporal dynamics, interpretability, and real-world deployment challenges in churn prediction systems.</a:t>
            </a:r>
          </a:p>
          <a:p>
            <a:pPr lvl="0" defTabSz="914400" eaLnBrk="0" fontAlgn="base" hangingPunct="0">
              <a:spcBef>
                <a:spcPct val="0"/>
              </a:spcBef>
              <a:spcAft>
                <a:spcPct val="0"/>
              </a:spcAft>
            </a:pPr>
            <a:r>
              <a:rPr lang="en-US" altLang="en-US">
                <a:latin typeface="fkGroteskNeue"/>
              </a:rPr>
              <a:t>The SVM model with KNN-based OOD detection represents a strong baseline for enterprise-grade churn prediction and serves as a platform for the enhancements outlined above.</a:t>
            </a:r>
            <a:endParaRPr lang="en-US" altLang="en-US">
              <a:latin typeface="Arial" panose="020B0604020202020204" pitchFamily="34" charset="0"/>
            </a:endParaRPr>
          </a:p>
        </p:txBody>
      </p:sp>
    </p:spTree>
    <p:extLst>
      <p:ext uri="{BB962C8B-B14F-4D97-AF65-F5344CB8AC3E}">
        <p14:creationId xmlns:p14="http://schemas.microsoft.com/office/powerpoint/2010/main" val="33154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439BE-B714-D930-3129-B17600C971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2DD151-3427-45D0-6C0E-E491D61BD057}"/>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830F25BB-8900-01A3-441E-DA3DEA6A9371}"/>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Future Scope</a:t>
            </a:r>
          </a:p>
          <a:p>
            <a:endParaRPr lang="en-US"/>
          </a:p>
        </p:txBody>
      </p:sp>
      <p:sp>
        <p:nvSpPr>
          <p:cNvPr id="5" name="TextBox 4">
            <a:extLst>
              <a:ext uri="{FF2B5EF4-FFF2-40B4-BE49-F238E27FC236}">
                <a16:creationId xmlns:a16="http://schemas.microsoft.com/office/drawing/2014/main" id="{8155BA57-456C-5257-DB04-2D680A2F6C10}"/>
              </a:ext>
            </a:extLst>
          </p:cNvPr>
          <p:cNvSpPr txBox="1"/>
          <p:nvPr/>
        </p:nvSpPr>
        <p:spPr>
          <a:xfrm>
            <a:off x="774722" y="812958"/>
            <a:ext cx="10762936" cy="3108543"/>
          </a:xfrm>
          <a:prstGeom prst="rect">
            <a:avLst/>
          </a:prstGeom>
          <a:noFill/>
        </p:spPr>
        <p:txBody>
          <a:bodyPr wrap="square">
            <a:spAutoFit/>
          </a:bodyPr>
          <a:lstStyle/>
          <a:p>
            <a:pPr marL="285750" indent="-285750">
              <a:buFont typeface="Arial" panose="020B0604020202020204" pitchFamily="34" charset="0"/>
              <a:buChar char="•"/>
            </a:pPr>
            <a:r>
              <a:rPr lang="en-US" sz="2800"/>
              <a:t>Advanced OOD Detection Methods</a:t>
            </a:r>
          </a:p>
          <a:p>
            <a:pPr marL="285750" indent="-285750">
              <a:buFont typeface="Arial" panose="020B0604020202020204" pitchFamily="34" charset="0"/>
              <a:buChar char="•"/>
            </a:pPr>
            <a:r>
              <a:rPr lang="en-US" sz="2800"/>
              <a:t>Model Interpretability and Explainability </a:t>
            </a:r>
          </a:p>
          <a:p>
            <a:pPr marL="285750" indent="-285750">
              <a:buFont typeface="Arial" panose="020B0604020202020204" pitchFamily="34" charset="0"/>
              <a:buChar char="•"/>
            </a:pPr>
            <a:r>
              <a:rPr lang="en-US" sz="2800"/>
              <a:t>Temporal Dynamics and Concept Drift </a:t>
            </a:r>
          </a:p>
          <a:p>
            <a:pPr marL="285750" indent="-285750">
              <a:buFont typeface="Arial" panose="020B0604020202020204" pitchFamily="34" charset="0"/>
              <a:buChar char="•"/>
            </a:pPr>
            <a:r>
              <a:rPr lang="en-US" sz="2800"/>
              <a:t>Cost-Sensitive and Business-Aligned Modeling</a:t>
            </a:r>
          </a:p>
          <a:p>
            <a:pPr marL="285750" indent="-285750">
              <a:buFont typeface="Arial" panose="020B0604020202020204" pitchFamily="34" charset="0"/>
              <a:buChar char="•"/>
            </a:pPr>
            <a:r>
              <a:rPr lang="en-US" sz="2800"/>
              <a:t>Ensemble and Deep Learning Approaches</a:t>
            </a:r>
          </a:p>
          <a:p>
            <a:pPr marL="285750" indent="-285750">
              <a:buFont typeface="Arial" panose="020B0604020202020204" pitchFamily="34" charset="0"/>
              <a:buChar char="•"/>
            </a:pPr>
            <a:r>
              <a:rPr lang="en-US" sz="2800"/>
              <a:t>Real Time Scoring and Operational Integrations</a:t>
            </a:r>
          </a:p>
          <a:p>
            <a:pPr marL="285750" indent="-285750">
              <a:buFont typeface="Arial" panose="020B0604020202020204" pitchFamily="34" charset="0"/>
              <a:buChar char="•"/>
            </a:pPr>
            <a:r>
              <a:rPr lang="en-US" sz="2800"/>
              <a:t>Domain Specific Enhancements </a:t>
            </a:r>
          </a:p>
        </p:txBody>
      </p:sp>
      <p:sp>
        <p:nvSpPr>
          <p:cNvPr id="9" name="TextBox 8">
            <a:extLst>
              <a:ext uri="{FF2B5EF4-FFF2-40B4-BE49-F238E27FC236}">
                <a16:creationId xmlns:a16="http://schemas.microsoft.com/office/drawing/2014/main" id="{FF0F38D8-6DC8-D83A-5131-C6E6E42ADC13}"/>
              </a:ext>
            </a:extLst>
          </p:cNvPr>
          <p:cNvSpPr txBox="1"/>
          <p:nvPr/>
        </p:nvSpPr>
        <p:spPr>
          <a:xfrm>
            <a:off x="951875" y="4193405"/>
            <a:ext cx="4909279" cy="523220"/>
          </a:xfrm>
          <a:prstGeom prst="rect">
            <a:avLst/>
          </a:prstGeom>
          <a:noFill/>
        </p:spPr>
        <p:txBody>
          <a:bodyPr wrap="square">
            <a:spAutoFit/>
          </a:bodyPr>
          <a:lstStyle/>
          <a:p>
            <a:r>
              <a:rPr lang="en-US" sz="2800" b="1" i="0" u="none" strike="noStrike">
                <a:effectLst/>
                <a:latin typeface="fkGroteskNeue"/>
              </a:rPr>
              <a:t>Next Steps / Business Adoption</a:t>
            </a:r>
            <a:endParaRPr lang="en-US" sz="2800"/>
          </a:p>
        </p:txBody>
      </p:sp>
      <p:sp>
        <p:nvSpPr>
          <p:cNvPr id="11" name="TextBox 10">
            <a:extLst>
              <a:ext uri="{FF2B5EF4-FFF2-40B4-BE49-F238E27FC236}">
                <a16:creationId xmlns:a16="http://schemas.microsoft.com/office/drawing/2014/main" id="{E5D388F5-37D8-D1D3-287E-86110DA462E2}"/>
              </a:ext>
            </a:extLst>
          </p:cNvPr>
          <p:cNvSpPr txBox="1"/>
          <p:nvPr/>
        </p:nvSpPr>
        <p:spPr>
          <a:xfrm>
            <a:off x="774722" y="4988529"/>
            <a:ext cx="10762936" cy="707886"/>
          </a:xfrm>
          <a:prstGeom prst="rect">
            <a:avLst/>
          </a:prstGeom>
          <a:noFill/>
        </p:spPr>
        <p:txBody>
          <a:bodyPr wrap="square">
            <a:spAutoFit/>
          </a:bodyPr>
          <a:lstStyle/>
          <a:p>
            <a:pPr marL="285750" indent="-285750">
              <a:buFont typeface="Arial" panose="020B0604020202020204" pitchFamily="34" charset="0"/>
              <a:buChar char="•"/>
            </a:pPr>
            <a:r>
              <a:rPr lang="en-US" sz="2000"/>
              <a:t>Interactive Churn Monitoring Dashboard </a:t>
            </a:r>
          </a:p>
          <a:p>
            <a:pPr marL="285750" indent="-285750">
              <a:buFont typeface="Arial" panose="020B0604020202020204" pitchFamily="34" charset="0"/>
              <a:buChar char="•"/>
            </a:pPr>
            <a:r>
              <a:rPr lang="en-US" sz="2000"/>
              <a:t>Actionable retention recommendations </a:t>
            </a:r>
          </a:p>
        </p:txBody>
      </p:sp>
    </p:spTree>
    <p:extLst>
      <p:ext uri="{BB962C8B-B14F-4D97-AF65-F5344CB8AC3E}">
        <p14:creationId xmlns:p14="http://schemas.microsoft.com/office/powerpoint/2010/main" val="2911403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97ECD-0018-C4E2-AE3E-DA32A98A5F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99B6A2-D8A4-EE0D-3B7C-58D8675D81CB}"/>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428105BA-2BCA-390F-F5C2-89548F4B17BD}"/>
              </a:ext>
            </a:extLst>
          </p:cNvPr>
          <p:cNvSpPr txBox="1">
            <a:spLocks/>
          </p:cNvSpPr>
          <p:nvPr/>
        </p:nvSpPr>
        <p:spPr>
          <a:xfrm>
            <a:off x="684324" y="76842"/>
            <a:ext cx="9603275"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References</a:t>
            </a:r>
          </a:p>
          <a:p>
            <a:endParaRPr lang="en-US"/>
          </a:p>
        </p:txBody>
      </p:sp>
      <p:sp>
        <p:nvSpPr>
          <p:cNvPr id="5" name="TextBox 4">
            <a:extLst>
              <a:ext uri="{FF2B5EF4-FFF2-40B4-BE49-F238E27FC236}">
                <a16:creationId xmlns:a16="http://schemas.microsoft.com/office/drawing/2014/main" id="{5C484540-FB7E-3B2C-F4BE-96969B7C42B0}"/>
              </a:ext>
            </a:extLst>
          </p:cNvPr>
          <p:cNvSpPr txBox="1"/>
          <p:nvPr/>
        </p:nvSpPr>
        <p:spPr>
          <a:xfrm>
            <a:off x="774722" y="812958"/>
            <a:ext cx="10762936" cy="5909310"/>
          </a:xfrm>
          <a:prstGeom prst="rect">
            <a:avLst/>
          </a:prstGeom>
          <a:noFill/>
        </p:spPr>
        <p:txBody>
          <a:bodyPr wrap="square">
            <a:spAutoFit/>
          </a:bodyPr>
          <a:lstStyle/>
          <a:p>
            <a:pPr lvl="0" defTabSz="914400" eaLnBrk="0" fontAlgn="base" hangingPunct="0">
              <a:spcBef>
                <a:spcPct val="0"/>
              </a:spcBef>
              <a:spcAft>
                <a:spcPct val="0"/>
              </a:spcAft>
            </a:pPr>
            <a:endParaRPr lang="en-US" altLang="en-US" sz="1400" i="1">
              <a:latin typeface="Arial" panose="020B0604020202020204" pitchFamily="34" charset="0"/>
            </a:endParaRPr>
          </a:p>
          <a:p>
            <a:pPr lvl="0" defTabSz="914400" eaLnBrk="0" fontAlgn="base" hangingPunct="0">
              <a:spcBef>
                <a:spcPct val="0"/>
              </a:spcBef>
              <a:spcAft>
                <a:spcPct val="0"/>
              </a:spcAft>
              <a:buFontTx/>
              <a:buAutoNum type="arabicPeriod"/>
            </a:pPr>
            <a:r>
              <a:rPr lang="en-US" altLang="en-US" sz="1400" i="1">
                <a:latin typeface="fkGroteskNeue"/>
              </a:rPr>
              <a:t>RFM and churn prediction basics</a:t>
            </a:r>
          </a:p>
          <a:p>
            <a:pPr lvl="1" defTabSz="914400" eaLnBrk="0" fontAlgn="base" hangingPunct="0">
              <a:spcBef>
                <a:spcPct val="0"/>
              </a:spcBef>
              <a:spcAft>
                <a:spcPct val="0"/>
              </a:spcAft>
              <a:buFontTx/>
              <a:buChar char="•"/>
            </a:pPr>
            <a:r>
              <a:rPr lang="en-US" altLang="en-US" sz="1400" i="1">
                <a:latin typeface="fkGroteskNeue"/>
              </a:rPr>
              <a:t>S. B. Vafeiadis et al., “A comparison of machine learning techniques for customer churn prediction,” Simulation Modelling Practice and Theory, vol. 55, pp. 1–9, 2015.​</a:t>
            </a:r>
          </a:p>
          <a:p>
            <a:pPr lvl="1" defTabSz="914400" eaLnBrk="0" fontAlgn="base" hangingPunct="0">
              <a:spcBef>
                <a:spcPct val="0"/>
              </a:spcBef>
              <a:spcAft>
                <a:spcPct val="0"/>
              </a:spcAft>
              <a:buFontTx/>
              <a:buChar char="•"/>
            </a:pPr>
            <a:r>
              <a:rPr lang="en-US" altLang="en-US" sz="1400" i="1">
                <a:latin typeface="fkGroteskNeue"/>
              </a:rPr>
              <a:t>Kaggle Notebook, “RFM Analysis-Segmentation &amp; Churn Prediction,” Kaggle, 2023. Available online.​</a:t>
            </a:r>
          </a:p>
          <a:p>
            <a:pPr lvl="0" defTabSz="914400" eaLnBrk="0" fontAlgn="base" hangingPunct="0">
              <a:spcBef>
                <a:spcPct val="0"/>
              </a:spcBef>
              <a:spcAft>
                <a:spcPct val="0"/>
              </a:spcAft>
              <a:buFontTx/>
              <a:buAutoNum type="arabicPeriod" startAt="2"/>
            </a:pPr>
            <a:r>
              <a:rPr lang="en-US" altLang="en-US" sz="1400" i="1">
                <a:latin typeface="fkGroteskNeue"/>
              </a:rPr>
              <a:t>Churn prediction workflows and business usage</a:t>
            </a:r>
          </a:p>
          <a:p>
            <a:pPr lvl="1" defTabSz="914400" eaLnBrk="0" fontAlgn="base" hangingPunct="0">
              <a:spcBef>
                <a:spcPct val="0"/>
              </a:spcBef>
              <a:spcAft>
                <a:spcPct val="0"/>
              </a:spcAft>
              <a:buFontTx/>
              <a:buChar char="•"/>
            </a:pPr>
            <a:r>
              <a:rPr lang="en-US" altLang="en-US" sz="1400" i="1" err="1">
                <a:latin typeface="fkGroteskNeue"/>
              </a:rPr>
              <a:t>Neptune.ai</a:t>
            </a:r>
            <a:r>
              <a:rPr lang="en-US" altLang="en-US" sz="1400" i="1">
                <a:latin typeface="fkGroteskNeue"/>
              </a:rPr>
              <a:t>, “How to Implement Customer Churn Prediction,” Blog post, 2023.​</a:t>
            </a:r>
          </a:p>
          <a:p>
            <a:pPr lvl="1" defTabSz="914400" eaLnBrk="0" fontAlgn="base" hangingPunct="0">
              <a:spcBef>
                <a:spcPct val="0"/>
              </a:spcBef>
              <a:spcAft>
                <a:spcPct val="0"/>
              </a:spcAft>
              <a:buFontTx/>
              <a:buChar char="•"/>
            </a:pPr>
            <a:r>
              <a:rPr lang="en-US" altLang="en-US" sz="1400" i="1" err="1">
                <a:latin typeface="fkGroteskNeue"/>
              </a:rPr>
              <a:t>Userpilot</a:t>
            </a:r>
            <a:r>
              <a:rPr lang="en-US" altLang="en-US" sz="1400" i="1">
                <a:latin typeface="fkGroteskNeue"/>
              </a:rPr>
              <a:t>, “Mastering Churn Prediction: Strategies for Improved Customer Retention,” 2025.​</a:t>
            </a:r>
          </a:p>
          <a:p>
            <a:pPr lvl="0" defTabSz="914400" eaLnBrk="0" fontAlgn="base" hangingPunct="0">
              <a:spcBef>
                <a:spcPct val="0"/>
              </a:spcBef>
              <a:spcAft>
                <a:spcPct val="0"/>
              </a:spcAft>
              <a:buFontTx/>
              <a:buAutoNum type="arabicPeriod" startAt="3"/>
            </a:pPr>
            <a:r>
              <a:rPr lang="en-US" altLang="en-US" sz="1400" i="1">
                <a:latin typeface="fkGroteskNeue"/>
              </a:rPr>
              <a:t>SVM and kernel methods for churn</a:t>
            </a:r>
          </a:p>
          <a:p>
            <a:pPr lvl="1" defTabSz="914400" eaLnBrk="0" fontAlgn="base" hangingPunct="0">
              <a:spcBef>
                <a:spcPct val="0"/>
              </a:spcBef>
              <a:spcAft>
                <a:spcPct val="0"/>
              </a:spcAft>
              <a:buFontTx/>
              <a:buChar char="•"/>
            </a:pPr>
            <a:r>
              <a:rPr lang="en-US" altLang="en-US" sz="1400" i="1">
                <a:latin typeface="fkGroteskNeue"/>
              </a:rPr>
              <a:t>S. Idris, A. Khan, and Y. Lee, “Churn prediction in telecommunication industry using kernel-based support vector machines,” Applied Sciences, 2022.​</a:t>
            </a:r>
          </a:p>
          <a:p>
            <a:pPr lvl="1" defTabSz="914400" eaLnBrk="0" fontAlgn="base" hangingPunct="0">
              <a:spcBef>
                <a:spcPct val="0"/>
              </a:spcBef>
              <a:spcAft>
                <a:spcPct val="0"/>
              </a:spcAft>
              <a:buFontTx/>
              <a:buChar char="•"/>
            </a:pPr>
            <a:r>
              <a:rPr lang="en-US" altLang="en-US" sz="1400" i="1" err="1">
                <a:latin typeface="fkGroteskNeue"/>
              </a:rPr>
              <a:t>ThirdEye</a:t>
            </a:r>
            <a:r>
              <a:rPr lang="en-US" altLang="en-US" sz="1400" i="1">
                <a:latin typeface="fkGroteskNeue"/>
              </a:rPr>
              <a:t> Data, “Customer Churn Prediction with SVM using Scikit-Learn,” 2023.​</a:t>
            </a:r>
          </a:p>
          <a:p>
            <a:pPr lvl="0" defTabSz="914400" eaLnBrk="0" fontAlgn="base" hangingPunct="0">
              <a:spcBef>
                <a:spcPct val="0"/>
              </a:spcBef>
              <a:spcAft>
                <a:spcPct val="0"/>
              </a:spcAft>
              <a:buFontTx/>
              <a:buAutoNum type="arabicPeriod" startAt="4"/>
            </a:pPr>
            <a:r>
              <a:rPr lang="en-US" altLang="en-US" sz="1400" i="1">
                <a:latin typeface="fkGroteskNeue"/>
              </a:rPr>
              <a:t>Class imbalance &amp; SMOTE / class weights</a:t>
            </a:r>
          </a:p>
          <a:p>
            <a:pPr lvl="1" defTabSz="914400" eaLnBrk="0" fontAlgn="base" hangingPunct="0">
              <a:spcBef>
                <a:spcPct val="0"/>
              </a:spcBef>
              <a:spcAft>
                <a:spcPct val="0"/>
              </a:spcAft>
              <a:buFontTx/>
              <a:buChar char="•"/>
            </a:pPr>
            <a:r>
              <a:rPr lang="en-US" altLang="en-US" sz="1400" i="1">
                <a:latin typeface="fkGroteskNeue"/>
              </a:rPr>
              <a:t>N. V. Chawla et al., “SMOTE: Synthetic Minority Over-sampling Technique,” Journal of Artificial Intelligence Research, vol. 16, pp. 321–357, 2002.​</a:t>
            </a:r>
          </a:p>
          <a:p>
            <a:pPr lvl="1" defTabSz="914400" eaLnBrk="0" fontAlgn="base" hangingPunct="0">
              <a:spcBef>
                <a:spcPct val="0"/>
              </a:spcBef>
              <a:spcAft>
                <a:spcPct val="0"/>
              </a:spcAft>
              <a:buFontTx/>
              <a:buChar char="•"/>
            </a:pPr>
            <a:r>
              <a:rPr lang="en-US" altLang="en-US" sz="1400" i="1">
                <a:latin typeface="fkGroteskNeue"/>
              </a:rPr>
              <a:t>scikit-learn Developers, “Class Weight and Imbalanced Datasets,” scikit-learn User Guide, v1.4.</a:t>
            </a:r>
          </a:p>
          <a:p>
            <a:pPr lvl="0" defTabSz="914400" eaLnBrk="0" fontAlgn="base" hangingPunct="0">
              <a:spcBef>
                <a:spcPct val="0"/>
              </a:spcBef>
              <a:spcAft>
                <a:spcPct val="0"/>
              </a:spcAft>
              <a:buFontTx/>
              <a:buAutoNum type="arabicPeriod" startAt="5"/>
            </a:pPr>
            <a:r>
              <a:rPr lang="en-US" altLang="en-US" sz="1400" i="1">
                <a:latin typeface="fkGroteskNeue"/>
              </a:rPr>
              <a:t>Cross-validation and model evaluation</a:t>
            </a:r>
          </a:p>
          <a:p>
            <a:pPr lvl="1" defTabSz="914400" eaLnBrk="0" fontAlgn="base" hangingPunct="0">
              <a:spcBef>
                <a:spcPct val="0"/>
              </a:spcBef>
              <a:spcAft>
                <a:spcPct val="0"/>
              </a:spcAft>
              <a:buFontTx/>
              <a:buChar char="•"/>
            </a:pPr>
            <a:r>
              <a:rPr lang="en-US" altLang="en-US" sz="1400" i="1">
                <a:latin typeface="fkGroteskNeue"/>
              </a:rPr>
              <a:t>scikit-learn Developers, “Cross-validation: evaluating estimator performance,” scikit-learn User Guide, v1.4.</a:t>
            </a:r>
          </a:p>
          <a:p>
            <a:pPr lvl="1" defTabSz="914400" eaLnBrk="0" fontAlgn="base" hangingPunct="0">
              <a:spcBef>
                <a:spcPct val="0"/>
              </a:spcBef>
              <a:spcAft>
                <a:spcPct val="0"/>
              </a:spcAft>
              <a:buFontTx/>
              <a:buChar char="•"/>
            </a:pPr>
            <a:r>
              <a:rPr lang="en-US" altLang="en-US" sz="1400" i="1">
                <a:latin typeface="fkGroteskNeue"/>
              </a:rPr>
              <a:t>J. Demšar, “Statistical comparisons of classifiers over multiple data sets,” Journal of Machine Learning Research, vol. 7, pp. 1–30, 2006 (paired tests and CV).</a:t>
            </a:r>
          </a:p>
          <a:p>
            <a:pPr lvl="0" defTabSz="914400" eaLnBrk="0" fontAlgn="base" hangingPunct="0">
              <a:spcBef>
                <a:spcPct val="0"/>
              </a:spcBef>
              <a:spcAft>
                <a:spcPct val="0"/>
              </a:spcAft>
              <a:buFontTx/>
              <a:buAutoNum type="arabicPeriod" startAt="6"/>
            </a:pPr>
            <a:r>
              <a:rPr lang="en-US" altLang="en-US" sz="1400" i="1">
                <a:latin typeface="fkGroteskNeue"/>
              </a:rPr>
              <a:t>Outlier / OOD detection (KNN and related)</a:t>
            </a:r>
          </a:p>
          <a:p>
            <a:pPr lvl="1" defTabSz="914400" eaLnBrk="0" fontAlgn="base" hangingPunct="0">
              <a:spcBef>
                <a:spcPct val="0"/>
              </a:spcBef>
              <a:spcAft>
                <a:spcPct val="0"/>
              </a:spcAft>
              <a:buFontTx/>
              <a:buChar char="•"/>
            </a:pPr>
            <a:r>
              <a:rPr lang="en-US" altLang="en-US" sz="1400" i="1">
                <a:latin typeface="fkGroteskNeue"/>
              </a:rPr>
              <a:t>M. Breunig et al., “LOF: Identifying Density-Based Local Outliers,” ACM SIGMOD Record, 2000 (general outlier theory).​</a:t>
            </a:r>
          </a:p>
          <a:p>
            <a:pPr lvl="1" defTabSz="914400" eaLnBrk="0" fontAlgn="base" hangingPunct="0">
              <a:spcBef>
                <a:spcPct val="0"/>
              </a:spcBef>
              <a:spcAft>
                <a:spcPct val="0"/>
              </a:spcAft>
              <a:buFontTx/>
              <a:buChar char="•"/>
            </a:pPr>
            <a:r>
              <a:rPr lang="en-US" altLang="en-US" sz="1400" i="1">
                <a:latin typeface="fkGroteskNeue"/>
              </a:rPr>
              <a:t>scikit-learn Developers, “Novelty and Outlier Detection,” scikit-learn User Guide, v1.4 (KNN/LOF/</a:t>
            </a:r>
            <a:r>
              <a:rPr lang="en-US" altLang="en-US" sz="1400" i="1" err="1">
                <a:latin typeface="fkGroteskNeue"/>
              </a:rPr>
              <a:t>IsolationForest</a:t>
            </a:r>
            <a:r>
              <a:rPr lang="en-US" altLang="en-US" sz="1400" i="1">
                <a:latin typeface="fkGroteskNeue"/>
              </a:rPr>
              <a:t>).</a:t>
            </a:r>
          </a:p>
          <a:p>
            <a:pPr lvl="0" defTabSz="914400" eaLnBrk="0" fontAlgn="base" hangingPunct="0">
              <a:spcBef>
                <a:spcPct val="0"/>
              </a:spcBef>
              <a:spcAft>
                <a:spcPct val="0"/>
              </a:spcAft>
              <a:buFontTx/>
              <a:buAutoNum type="arabicPeriod" startAt="7"/>
            </a:pPr>
            <a:r>
              <a:rPr lang="en-US" altLang="en-US" sz="1400" i="1">
                <a:latin typeface="fkGroteskNeue"/>
              </a:rPr>
              <a:t>Dashboards and churn analytics in practice</a:t>
            </a:r>
          </a:p>
          <a:p>
            <a:pPr lvl="1" defTabSz="914400" eaLnBrk="0" fontAlgn="base" hangingPunct="0">
              <a:spcBef>
                <a:spcPct val="0"/>
              </a:spcBef>
              <a:spcAft>
                <a:spcPct val="0"/>
              </a:spcAft>
              <a:buFontTx/>
              <a:buChar char="•"/>
            </a:pPr>
            <a:r>
              <a:rPr lang="en-US" altLang="en-US" sz="1400" i="1" err="1">
                <a:latin typeface="fkGroteskNeue"/>
              </a:rPr>
              <a:t>Hevo</a:t>
            </a:r>
            <a:r>
              <a:rPr lang="en-US" altLang="en-US" sz="1400" i="1">
                <a:latin typeface="fkGroteskNeue"/>
              </a:rPr>
              <a:t> Data, “How to Build a Churn Prediction Model: Easy Steps Explained,” 2024.​</a:t>
            </a:r>
          </a:p>
          <a:p>
            <a:pPr lvl="1" defTabSz="914400" eaLnBrk="0" fontAlgn="base" hangingPunct="0">
              <a:spcBef>
                <a:spcPct val="0"/>
              </a:spcBef>
              <a:spcAft>
                <a:spcPct val="0"/>
              </a:spcAft>
              <a:buFontTx/>
              <a:buChar char="•"/>
            </a:pPr>
            <a:r>
              <a:rPr lang="en-US" altLang="en-US" sz="1400" i="1" err="1">
                <a:latin typeface="fkGroteskNeue"/>
              </a:rPr>
              <a:t>Userpilot</a:t>
            </a:r>
            <a:r>
              <a:rPr lang="en-US" altLang="en-US" sz="1400" i="1">
                <a:latin typeface="fkGroteskNeue"/>
              </a:rPr>
              <a:t>, “Mastering Churn Prediction: Strategies for Improved Customer Retention,” 2025 (dashboards and interventions).​</a:t>
            </a:r>
          </a:p>
        </p:txBody>
      </p:sp>
    </p:spTree>
    <p:extLst>
      <p:ext uri="{BB962C8B-B14F-4D97-AF65-F5344CB8AC3E}">
        <p14:creationId xmlns:p14="http://schemas.microsoft.com/office/powerpoint/2010/main" val="197849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C25E-3524-6D8E-26FE-20A0AE4A6B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0D8FD9-52F8-6C1E-03C0-00D558091E77}"/>
              </a:ext>
            </a:extLst>
          </p:cNvPr>
          <p:cNvSpPr txBox="1"/>
          <p:nvPr/>
        </p:nvSpPr>
        <p:spPr>
          <a:xfrm>
            <a:off x="1576552" y="756745"/>
            <a:ext cx="184731" cy="369332"/>
          </a:xfrm>
          <a:prstGeom prst="rect">
            <a:avLst/>
          </a:prstGeom>
          <a:noFill/>
        </p:spPr>
        <p:txBody>
          <a:bodyPr wrap="none" rtlCol="0">
            <a:spAutoFit/>
          </a:bodyPr>
          <a:lstStyle/>
          <a:p>
            <a:endParaRPr lang="en-US"/>
          </a:p>
        </p:txBody>
      </p:sp>
      <p:sp>
        <p:nvSpPr>
          <p:cNvPr id="3" name="Title 1">
            <a:extLst>
              <a:ext uri="{FF2B5EF4-FFF2-40B4-BE49-F238E27FC236}">
                <a16:creationId xmlns:a16="http://schemas.microsoft.com/office/drawing/2014/main" id="{60CDFFE1-5589-B6A5-AAFE-A0EC17EB2687}"/>
              </a:ext>
            </a:extLst>
          </p:cNvPr>
          <p:cNvSpPr txBox="1">
            <a:spLocks/>
          </p:cNvSpPr>
          <p:nvPr/>
        </p:nvSpPr>
        <p:spPr>
          <a:xfrm>
            <a:off x="5271315" y="2904382"/>
            <a:ext cx="3527912" cy="1049235"/>
          </a:xfrm>
          <a:prstGeom prst="rect">
            <a:avLst/>
          </a:prstGeom>
        </p:spPr>
        <p:txBody>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3500">
                <a:latin typeface="Times New Roman" panose="02020603050405020304" pitchFamily="18" charset="0"/>
                <a:cs typeface="Times New Roman" panose="02020603050405020304" pitchFamily="18" charset="0"/>
              </a:rPr>
              <a:t>Thank You!</a:t>
            </a:r>
          </a:p>
          <a:p>
            <a:endParaRPr lang="en-US"/>
          </a:p>
        </p:txBody>
      </p:sp>
    </p:spTree>
    <p:extLst>
      <p:ext uri="{BB962C8B-B14F-4D97-AF65-F5344CB8AC3E}">
        <p14:creationId xmlns:p14="http://schemas.microsoft.com/office/powerpoint/2010/main" val="160520060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Crop</Template>
  <TotalTime>0</TotalTime>
  <Words>7282</Words>
  <Application>Microsoft Macintosh PowerPoint</Application>
  <PresentationFormat>Widescreen</PresentationFormat>
  <Paragraphs>618</Paragraphs>
  <Slides>17</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 Unicode MS</vt:lpstr>
      <vt:lpstr>Aptos</vt:lpstr>
      <vt:lpstr>Arial</vt:lpstr>
      <vt:lpstr>berkeleyMono</vt:lpstr>
      <vt:lpstr>fkGroteskNeue</vt:lpstr>
      <vt:lpstr>Franklin Gothic Book</vt:lpstr>
      <vt:lpstr>Helvetica Neue</vt:lpstr>
      <vt:lpstr>Times New Roman</vt:lpstr>
      <vt:lpstr>var(--font-fk-grotesk-neue)</vt:lpstr>
      <vt:lpstr>Wingdings</vt:lpstr>
      <vt:lpstr>Crop</vt:lpstr>
      <vt:lpstr>Exploring and Predicting E-commerce Customer Churn and Baseline Classifiers </vt:lpstr>
      <vt:lpstr>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Janaki Samba Moorthy (jsmbmrth)</dc:creator>
  <cp:lastModifiedBy>Janaki Samba Moorthy (jsmbmrth)</cp:lastModifiedBy>
  <cp:revision>2</cp:revision>
  <dcterms:created xsi:type="dcterms:W3CDTF">2025-12-04T15:29:20Z</dcterms:created>
  <dcterms:modified xsi:type="dcterms:W3CDTF">2026-06-05T18:32:15Z</dcterms:modified>
</cp:coreProperties>
</file>